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4378ABB2-8DD7-422D-B221-B66B287BE11D}" type="slidenum"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2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723E2AC-DB55-411E-A800-7C35EF7A3B4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2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7F905F7-8AED-4EED-BD26-A478CB22A74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2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A972B7C-FCE3-4A08-BB36-6F32BFAB55F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2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C1998C2-669D-4C83-9765-726E98EFE6C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2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7332FC0-2734-4F2C-B6D6-A230A5AB6AE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B0673CB-6344-4181-85CF-F3D23BECECE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2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1D7174C-BBF9-4C69-A50D-20794833E6F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2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C62DDA4-4FB0-4224-8652-BF205AB9C7A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3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B606581-4298-4208-95D9-13C6AC5DF3D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3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A398B64-3D8C-42E6-A0D8-537E9E18D80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3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0ABDAC7-9EDB-49AE-B4EC-4F5A3D89F96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li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k 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o 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d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it 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h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ti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tl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x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t 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f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t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164520" y="0"/>
            <a:ext cx="34560" cy="6855840"/>
          </a:xfrm>
          <a:prstGeom prst="rect">
            <a:avLst/>
          </a:prstGeom>
          <a:solidFill>
            <a:srgbClr val="009a9a"/>
          </a:solidFill>
          <a:ln w="12700">
            <a:solidFill>
              <a:srgbClr val="009a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164520" y="4983480"/>
            <a:ext cx="34560" cy="1872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" name="Image 0" descr="/mnt/data/logousachsinBG(1).png"/>
          <p:cNvPicPr/>
          <p:nvPr/>
        </p:nvPicPr>
        <p:blipFill>
          <a:blip r:embed="rId1">
            <a:alphaModFix amt="95000"/>
          </a:blip>
          <a:stretch/>
        </p:blipFill>
        <p:spPr>
          <a:xfrm>
            <a:off x="567000" y="311040"/>
            <a:ext cx="512280" cy="512280"/>
          </a:xfrm>
          <a:prstGeom prst="rect">
            <a:avLst/>
          </a:prstGeom>
          <a:ln w="0">
            <a:noFill/>
          </a:ln>
        </p:spPr>
      </p:pic>
      <p:sp>
        <p:nvSpPr>
          <p:cNvPr id="13" name="Text 2"/>
          <p:cNvSpPr/>
          <p:nvPr/>
        </p:nvSpPr>
        <p:spPr>
          <a:xfrm>
            <a:off x="11411640" y="6346080"/>
            <a:ext cx="308880" cy="10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580" spc="-1" strike="noStrike">
                <a:solidFill>
                  <a:srgbClr val="64748b"/>
                </a:solidFill>
                <a:latin typeface="Aptos"/>
                <a:ea typeface="Aptos"/>
              </a:rPr>
              <a:t>01</a:t>
            </a:r>
            <a:endParaRPr b="0" lang="es-ES" sz="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Text 3"/>
          <p:cNvSpPr/>
          <p:nvPr/>
        </p:nvSpPr>
        <p:spPr>
          <a:xfrm>
            <a:off x="548640" y="6382440"/>
            <a:ext cx="4935600" cy="10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540" spc="-1" strike="noStrike">
                <a:solidFill>
                  <a:srgbClr val="64748b"/>
                </a:solidFill>
                <a:latin typeface="Aptos"/>
                <a:ea typeface="Aptos"/>
              </a:rPr>
              <a:t>Diplomado Ejecutivo en Confianza Digital, IA y Automatización Empresarial 1 - 2026 · Módulo 1</a:t>
            </a:r>
            <a:endParaRPr b="0" lang="es-ES" sz="5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Text 4"/>
          <p:cNvSpPr/>
          <p:nvPr/>
        </p:nvSpPr>
        <p:spPr>
          <a:xfrm>
            <a:off x="567000" y="951120"/>
            <a:ext cx="292392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20" spc="-1" strike="noStrike">
                <a:solidFill>
                  <a:srgbClr val="009a9a"/>
                </a:solidFill>
                <a:latin typeface="Aptos"/>
                <a:ea typeface="Aptos"/>
              </a:rPr>
              <a:t>Presentación del módulo</a:t>
            </a:r>
            <a:endParaRPr b="0" lang="es-ES" sz="7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Text 5"/>
          <p:cNvSpPr/>
          <p:nvPr/>
        </p:nvSpPr>
        <p:spPr>
          <a:xfrm>
            <a:off x="567000" y="1243440"/>
            <a:ext cx="475272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111827"/>
                </a:solidFill>
                <a:latin typeface="Aptos Display"/>
                <a:ea typeface="Aptos Display"/>
              </a:rPr>
              <a:t>Módulo 1: APIs de IA,</a:t>
            </a:r>
            <a:endParaRPr b="0" lang="es-ES" sz="2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111827"/>
                </a:solidFill>
                <a:latin typeface="Aptos Display"/>
                <a:ea typeface="Aptos Display"/>
              </a:rPr>
              <a:t>LangChain y RAG</a:t>
            </a:r>
            <a:endParaRPr b="0" lang="es-E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Text 6"/>
          <p:cNvSpPr/>
          <p:nvPr/>
        </p:nvSpPr>
        <p:spPr>
          <a:xfrm>
            <a:off x="567000" y="2249280"/>
            <a:ext cx="5301360" cy="32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20" spc="-1" strike="noStrike">
                <a:solidFill>
                  <a:srgbClr val="64748b"/>
                </a:solidFill>
                <a:latin typeface="Aptos"/>
                <a:ea typeface="Aptos"/>
              </a:rPr>
              <a:t>Diplomado Ejecutivo en Confianza Digital, IA y Automatización Empresarial 1 -</a:t>
            </a:r>
            <a:endParaRPr b="0" lang="es-ES" sz="72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20" spc="-1" strike="noStrike">
                <a:solidFill>
                  <a:srgbClr val="64748b"/>
                </a:solidFill>
                <a:latin typeface="Aptos"/>
                <a:ea typeface="Aptos"/>
              </a:rPr>
              <a:t>2026</a:t>
            </a:r>
            <a:endParaRPr b="0" lang="es-ES" sz="7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Shape 7"/>
          <p:cNvSpPr/>
          <p:nvPr/>
        </p:nvSpPr>
        <p:spPr>
          <a:xfrm>
            <a:off x="566640" y="2761200"/>
            <a:ext cx="4526280" cy="360"/>
          </a:xfrm>
          <a:prstGeom prst="line">
            <a:avLst/>
          </a:prstGeom>
          <a:ln w="762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Text 8"/>
          <p:cNvSpPr/>
          <p:nvPr/>
        </p:nvSpPr>
        <p:spPr>
          <a:xfrm>
            <a:off x="567000" y="3017520"/>
            <a:ext cx="447840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60" spc="-1" strike="noStrike">
                <a:solidFill>
                  <a:srgbClr val="334155"/>
                </a:solidFill>
                <a:latin typeface="Aptos"/>
                <a:ea typeface="Aptos"/>
              </a:rPr>
              <a:t>5 clases · 15 horas · modalidad virtual · USACH</a:t>
            </a:r>
            <a:endParaRPr b="0" lang="es-ES" sz="6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Text 9"/>
          <p:cNvSpPr/>
          <p:nvPr/>
        </p:nvSpPr>
        <p:spPr>
          <a:xfrm>
            <a:off x="567000" y="5943600"/>
            <a:ext cx="2009520" cy="8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540" spc="-1" strike="noStrike">
                <a:solidFill>
                  <a:srgbClr val="64748b"/>
                </a:solidFill>
                <a:latin typeface="Aptos"/>
                <a:ea typeface="Aptos"/>
              </a:rPr>
              <a:t>Bastián Campusano</a:t>
            </a:r>
            <a:endParaRPr b="0" lang="es-ES" sz="5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Rectangle 12"/>
          <p:cNvSpPr/>
          <p:nvPr/>
        </p:nvSpPr>
        <p:spPr>
          <a:xfrm>
            <a:off x="5779080" y="960120"/>
            <a:ext cx="52560" cy="4066920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22" name="Rounded Rectangle 13"/>
          <p:cNvSpPr/>
          <p:nvPr/>
        </p:nvSpPr>
        <p:spPr>
          <a:xfrm>
            <a:off x="5989320" y="1005840"/>
            <a:ext cx="4341240" cy="3929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23" name="Rounded Rectangle 14"/>
          <p:cNvSpPr/>
          <p:nvPr/>
        </p:nvSpPr>
        <p:spPr>
          <a:xfrm>
            <a:off x="6199560" y="1298520"/>
            <a:ext cx="3884040" cy="747720"/>
          </a:xfrm>
          <a:prstGeom prst="roundRect">
            <a:avLst>
              <a:gd name="adj" fmla="val 4000"/>
            </a:avLst>
          </a:prstGeom>
          <a:solidFill>
            <a:srgbClr val="e8f6f4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24" name="Rectangle 15"/>
          <p:cNvSpPr/>
          <p:nvPr/>
        </p:nvSpPr>
        <p:spPr>
          <a:xfrm>
            <a:off x="6199560" y="1298520"/>
            <a:ext cx="61920" cy="747720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25" name="TextBox 16"/>
          <p:cNvSpPr/>
          <p:nvPr/>
        </p:nvSpPr>
        <p:spPr>
          <a:xfrm>
            <a:off x="6600600" y="1444680"/>
            <a:ext cx="3137400" cy="41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1500" spc="-1" strike="noStrike">
                <a:solidFill>
                  <a:srgbClr val="0a1630"/>
                </a:solidFill>
                <a:latin typeface="Aptos"/>
              </a:rPr>
              <a:t>APIs de IA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00"/>
              </a:spcBef>
            </a:pPr>
            <a:r>
              <a:rPr b="0" lang="es-ES" sz="880" spc="-1" strike="noStrike">
                <a:solidFill>
                  <a:srgbClr val="506889"/>
                </a:solidFill>
                <a:latin typeface="Aptos"/>
              </a:rPr>
              <a:t>Cómo una aplicación se comunica con modelos de lenguaje.</a:t>
            </a:r>
            <a:endParaRPr b="0" lang="es-E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Rounded Rectangle 17"/>
          <p:cNvSpPr/>
          <p:nvPr/>
        </p:nvSpPr>
        <p:spPr>
          <a:xfrm>
            <a:off x="6199560" y="2310480"/>
            <a:ext cx="3884040" cy="747720"/>
          </a:xfrm>
          <a:prstGeom prst="roundRect">
            <a:avLst>
              <a:gd name="adj" fmla="val 4000"/>
            </a:avLst>
          </a:prstGeom>
          <a:solidFill>
            <a:srgbClr val="eaf2fb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27" name="Rectangle 18"/>
          <p:cNvSpPr/>
          <p:nvPr/>
        </p:nvSpPr>
        <p:spPr>
          <a:xfrm>
            <a:off x="6199560" y="2304360"/>
            <a:ext cx="61920" cy="747720"/>
          </a:xfrm>
          <a:prstGeom prst="rect">
            <a:avLst/>
          </a:prstGeom>
          <a:solidFill>
            <a:srgbClr val="1f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28" name="TextBox 19"/>
          <p:cNvSpPr/>
          <p:nvPr/>
        </p:nvSpPr>
        <p:spPr>
          <a:xfrm>
            <a:off x="6662880" y="2450520"/>
            <a:ext cx="2620800" cy="41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1500" spc="-1" strike="noStrike">
                <a:solidFill>
                  <a:srgbClr val="0a1630"/>
                </a:solidFill>
                <a:latin typeface="Aptos"/>
              </a:rPr>
              <a:t>LangChain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00"/>
              </a:spcBef>
            </a:pPr>
            <a:r>
              <a:rPr b="0" lang="es-ES" sz="880" spc="-1" strike="noStrike">
                <a:solidFill>
                  <a:srgbClr val="506889"/>
                </a:solidFill>
                <a:latin typeface="Aptos"/>
              </a:rPr>
              <a:t>Cómo ordenar prompts, modelos, parsers y flujos.</a:t>
            </a:r>
            <a:endParaRPr b="0" lang="es-E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Rounded Rectangle 20"/>
          <p:cNvSpPr/>
          <p:nvPr/>
        </p:nvSpPr>
        <p:spPr>
          <a:xfrm>
            <a:off x="6199560" y="3310200"/>
            <a:ext cx="3884040" cy="747720"/>
          </a:xfrm>
          <a:prstGeom prst="roundRect">
            <a:avLst>
              <a:gd name="adj" fmla="val 4000"/>
            </a:avLst>
          </a:prstGeom>
          <a:solidFill>
            <a:srgbClr val="e8f6f4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30" name="Rectangle 21"/>
          <p:cNvSpPr/>
          <p:nvPr/>
        </p:nvSpPr>
        <p:spPr>
          <a:xfrm>
            <a:off x="6199560" y="3310200"/>
            <a:ext cx="61920" cy="747720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31" name="TextBox 22"/>
          <p:cNvSpPr/>
          <p:nvPr/>
        </p:nvSpPr>
        <p:spPr>
          <a:xfrm>
            <a:off x="6707160" y="3456360"/>
            <a:ext cx="2924280" cy="41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1500" spc="-1" strike="noStrike">
                <a:solidFill>
                  <a:srgbClr val="0a1630"/>
                </a:solidFill>
                <a:latin typeface="Aptos"/>
              </a:rPr>
              <a:t>RAG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00"/>
              </a:spcBef>
            </a:pPr>
            <a:r>
              <a:rPr b="0" lang="es-ES" sz="880" spc="-1" strike="noStrike">
                <a:solidFill>
                  <a:srgbClr val="506889"/>
                </a:solidFill>
                <a:latin typeface="Aptos"/>
              </a:rPr>
              <a:t>Cómo conectar respuestas con documentos y evidencia.</a:t>
            </a:r>
            <a:endParaRPr b="0" lang="es-ES" sz="88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0"/>
          <p:cNvSpPr/>
          <p:nvPr/>
        </p:nvSpPr>
        <p:spPr>
          <a:xfrm>
            <a:off x="164520" y="0"/>
            <a:ext cx="34560" cy="6855840"/>
          </a:xfrm>
          <a:prstGeom prst="rect">
            <a:avLst/>
          </a:prstGeom>
          <a:solidFill>
            <a:srgbClr val="009a9a"/>
          </a:solidFill>
          <a:ln w="12700">
            <a:solidFill>
              <a:srgbClr val="009a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Shape 1"/>
          <p:cNvSpPr/>
          <p:nvPr/>
        </p:nvSpPr>
        <p:spPr>
          <a:xfrm>
            <a:off x="164520" y="4983480"/>
            <a:ext cx="34560" cy="1872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4" name="Image 0" descr="/mnt/data/logousachsinBG(1).png"/>
          <p:cNvPicPr/>
          <p:nvPr/>
        </p:nvPicPr>
        <p:blipFill>
          <a:blip r:embed="rId1">
            <a:alphaModFix amt="95000"/>
          </a:blip>
          <a:stretch/>
        </p:blipFill>
        <p:spPr>
          <a:xfrm>
            <a:off x="567000" y="311040"/>
            <a:ext cx="290520" cy="290520"/>
          </a:xfrm>
          <a:prstGeom prst="rect">
            <a:avLst/>
          </a:prstGeom>
          <a:ln w="0">
            <a:noFill/>
          </a:ln>
        </p:spPr>
      </p:pic>
      <p:sp>
        <p:nvSpPr>
          <p:cNvPr id="35" name="Text 2"/>
          <p:cNvSpPr/>
          <p:nvPr/>
        </p:nvSpPr>
        <p:spPr>
          <a:xfrm>
            <a:off x="11411640" y="6346080"/>
            <a:ext cx="308880" cy="10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580" spc="-1" strike="noStrike">
                <a:solidFill>
                  <a:srgbClr val="64748b"/>
                </a:solidFill>
                <a:latin typeface="Aptos"/>
                <a:ea typeface="Aptos"/>
              </a:rPr>
              <a:t>02</a:t>
            </a:r>
            <a:endParaRPr b="0" lang="es-ES" sz="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Text 3"/>
          <p:cNvSpPr/>
          <p:nvPr/>
        </p:nvSpPr>
        <p:spPr>
          <a:xfrm>
            <a:off x="548640" y="6382440"/>
            <a:ext cx="4935600" cy="10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540" spc="-1" strike="noStrike">
                <a:solidFill>
                  <a:srgbClr val="64748b"/>
                </a:solidFill>
                <a:latin typeface="Aptos"/>
                <a:ea typeface="Aptos"/>
              </a:rPr>
              <a:t>Diplomado Ejecutivo en Confianza Digital, IA y Automatización Empresarial 1 - 2026 · Módulo 1</a:t>
            </a:r>
            <a:endParaRPr b="0" lang="es-ES" sz="5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Text 4"/>
          <p:cNvSpPr/>
          <p:nvPr/>
        </p:nvSpPr>
        <p:spPr>
          <a:xfrm>
            <a:off x="951120" y="274320"/>
            <a:ext cx="932472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50" spc="-1" strike="noStrike">
                <a:solidFill>
                  <a:srgbClr val="111827"/>
                </a:solidFill>
                <a:latin typeface="Aptos Display"/>
                <a:ea typeface="Aptos Display"/>
              </a:rPr>
              <a:t>Sentido del módulo</a:t>
            </a:r>
            <a:endParaRPr b="0" lang="es-E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Text 5"/>
          <p:cNvSpPr/>
          <p:nvPr/>
        </p:nvSpPr>
        <p:spPr>
          <a:xfrm>
            <a:off x="951120" y="649080"/>
            <a:ext cx="914184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60" spc="-1" strike="noStrike">
                <a:solidFill>
                  <a:srgbClr val="64748b"/>
                </a:solidFill>
                <a:latin typeface="Aptos"/>
                <a:ea typeface="Aptos"/>
              </a:rPr>
              <a:t>Primero entendemos la mecánica, luego diseñamos soluciones aplicables y defendibles.</a:t>
            </a:r>
            <a:endParaRPr b="0" lang="es-ES" sz="6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Shape 6"/>
          <p:cNvSpPr/>
          <p:nvPr/>
        </p:nvSpPr>
        <p:spPr>
          <a:xfrm>
            <a:off x="566640" y="877680"/>
            <a:ext cx="10058400" cy="360"/>
          </a:xfrm>
          <a:prstGeom prst="line">
            <a:avLst/>
          </a:prstGeom>
          <a:ln w="6985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Shape 7"/>
          <p:cNvSpPr/>
          <p:nvPr/>
        </p:nvSpPr>
        <p:spPr>
          <a:xfrm>
            <a:off x="1097280" y="1417320"/>
            <a:ext cx="2832480" cy="2329560"/>
          </a:xfrm>
          <a:prstGeom prst="roundRect">
            <a:avLst>
              <a:gd name="adj" fmla="val 1569"/>
            </a:avLst>
          </a:prstGeom>
          <a:solidFill>
            <a:srgbClr val="e8f6f4"/>
          </a:solidFill>
          <a:ln w="7620">
            <a:solidFill>
              <a:srgbClr val="d7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Shape 8"/>
          <p:cNvSpPr/>
          <p:nvPr/>
        </p:nvSpPr>
        <p:spPr>
          <a:xfrm>
            <a:off x="1115640" y="1435680"/>
            <a:ext cx="38880" cy="2292840"/>
          </a:xfrm>
          <a:prstGeom prst="rect">
            <a:avLst/>
          </a:prstGeom>
          <a:solidFill>
            <a:srgbClr val="009a9a"/>
          </a:solidFill>
          <a:ln w="12700">
            <a:solidFill>
              <a:srgbClr val="009a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Text 9"/>
          <p:cNvSpPr/>
          <p:nvPr/>
        </p:nvSpPr>
        <p:spPr>
          <a:xfrm>
            <a:off x="1261800" y="1581840"/>
            <a:ext cx="25124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20" spc="-1" strike="noStrike">
                <a:solidFill>
                  <a:srgbClr val="111827"/>
                </a:solidFill>
                <a:latin typeface="Aptos"/>
                <a:ea typeface="Aptos"/>
              </a:rPr>
              <a:t>Qué buscamos lograr</a:t>
            </a:r>
            <a:endParaRPr b="0" lang="es-ES" sz="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10"/>
          <p:cNvSpPr/>
          <p:nvPr/>
        </p:nvSpPr>
        <p:spPr>
          <a:xfrm>
            <a:off x="1261800" y="1993320"/>
            <a:ext cx="2512440" cy="161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70" spc="-1" strike="noStrike">
                <a:solidFill>
                  <a:srgbClr val="111827"/>
                </a:solidFill>
                <a:latin typeface="Aptos"/>
                <a:ea typeface="Aptos"/>
              </a:rPr>
              <a:t>Que cada estudiante pueda explicar cómo se integra un modelo de lenguaje en una aplicación o proceso, identificando entradas, salidas, riesgos, costos y controles mínimos.</a:t>
            </a:r>
            <a:endParaRPr b="0" lang="es-ES" sz="6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Shape 11"/>
          <p:cNvSpPr/>
          <p:nvPr/>
        </p:nvSpPr>
        <p:spPr>
          <a:xfrm>
            <a:off x="4572000" y="1417320"/>
            <a:ext cx="2832480" cy="2329560"/>
          </a:xfrm>
          <a:prstGeom prst="roundRect">
            <a:avLst>
              <a:gd name="adj" fmla="val 1569"/>
            </a:avLst>
          </a:prstGeom>
          <a:solidFill>
            <a:srgbClr val="eaf2fb"/>
          </a:solidFill>
          <a:ln w="7620">
            <a:solidFill>
              <a:srgbClr val="d7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Shape 12"/>
          <p:cNvSpPr/>
          <p:nvPr/>
        </p:nvSpPr>
        <p:spPr>
          <a:xfrm>
            <a:off x="4590360" y="1435680"/>
            <a:ext cx="38880" cy="2292840"/>
          </a:xfrm>
          <a:prstGeom prst="rect">
            <a:avLst/>
          </a:prstGeom>
          <a:solidFill>
            <a:srgbClr val="1f5e8c"/>
          </a:solidFill>
          <a:ln w="12700">
            <a:solidFill>
              <a:srgbClr val="1f5e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Text 13"/>
          <p:cNvSpPr/>
          <p:nvPr/>
        </p:nvSpPr>
        <p:spPr>
          <a:xfrm>
            <a:off x="4736520" y="1581840"/>
            <a:ext cx="25124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20" spc="-1" strike="noStrike">
                <a:solidFill>
                  <a:srgbClr val="111827"/>
                </a:solidFill>
                <a:latin typeface="Aptos"/>
                <a:ea typeface="Aptos"/>
              </a:rPr>
              <a:t>Enfoque del módulo</a:t>
            </a:r>
            <a:endParaRPr b="0" lang="es-ES" sz="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 14"/>
          <p:cNvSpPr/>
          <p:nvPr/>
        </p:nvSpPr>
        <p:spPr>
          <a:xfrm>
            <a:off x="4736520" y="1993320"/>
            <a:ext cx="2512440" cy="161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70" spc="-1" strike="noStrike">
                <a:solidFill>
                  <a:srgbClr val="111827"/>
                </a:solidFill>
                <a:latin typeface="Aptos"/>
                <a:ea typeface="Aptos"/>
              </a:rPr>
              <a:t>No será una clase para memorizar herramientas. Será una ruta para entender cuándo usar APIs, cuándo usar LangChain y cuándo agregar RAG o revisión humana.</a:t>
            </a:r>
            <a:endParaRPr b="0" lang="es-ES" sz="6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Shape 15"/>
          <p:cNvSpPr/>
          <p:nvPr/>
        </p:nvSpPr>
        <p:spPr>
          <a:xfrm>
            <a:off x="8046720" y="1417320"/>
            <a:ext cx="2832480" cy="2329560"/>
          </a:xfrm>
          <a:prstGeom prst="roundRect">
            <a:avLst>
              <a:gd name="adj" fmla="val 1569"/>
            </a:avLst>
          </a:prstGeom>
          <a:solidFill>
            <a:srgbClr val="e8f6f4"/>
          </a:solidFill>
          <a:ln w="7620">
            <a:solidFill>
              <a:srgbClr val="d7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Shape 16"/>
          <p:cNvSpPr/>
          <p:nvPr/>
        </p:nvSpPr>
        <p:spPr>
          <a:xfrm>
            <a:off x="8065080" y="1435680"/>
            <a:ext cx="38880" cy="2292840"/>
          </a:xfrm>
          <a:prstGeom prst="rect">
            <a:avLst/>
          </a:prstGeom>
          <a:solidFill>
            <a:srgbClr val="009a9a"/>
          </a:solidFill>
          <a:ln w="12700">
            <a:solidFill>
              <a:srgbClr val="009a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Text 17"/>
          <p:cNvSpPr/>
          <p:nvPr/>
        </p:nvSpPr>
        <p:spPr>
          <a:xfrm>
            <a:off x="8211240" y="1581840"/>
            <a:ext cx="25124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20" spc="-1" strike="noStrike">
                <a:solidFill>
                  <a:srgbClr val="111827"/>
                </a:solidFill>
                <a:latin typeface="Aptos"/>
                <a:ea typeface="Aptos"/>
              </a:rPr>
              <a:t>Resultado esperado</a:t>
            </a:r>
            <a:endParaRPr b="0" lang="es-ES" sz="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 18"/>
          <p:cNvSpPr/>
          <p:nvPr/>
        </p:nvSpPr>
        <p:spPr>
          <a:xfrm>
            <a:off x="8211240" y="1993320"/>
            <a:ext cx="2512440" cy="161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70" spc="-1" strike="noStrike">
                <a:solidFill>
                  <a:srgbClr val="111827"/>
                </a:solidFill>
                <a:latin typeface="Aptos"/>
                <a:ea typeface="Aptos"/>
              </a:rPr>
              <a:t>Diseñar una mini solución IA aplicada a un proceso real, con arquitectura simple, prompt, datos, riesgos, métricas y criterio de negocio.</a:t>
            </a:r>
            <a:endParaRPr b="0" lang="es-ES" sz="6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19"/>
          <p:cNvSpPr/>
          <p:nvPr/>
        </p:nvSpPr>
        <p:spPr>
          <a:xfrm>
            <a:off x="3840480" y="4434840"/>
            <a:ext cx="502704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20" spc="-1" strike="noStrike">
                <a:solidFill>
                  <a:srgbClr val="111827"/>
                </a:solidFill>
                <a:latin typeface="Aptos"/>
                <a:ea typeface="Aptos"/>
              </a:rPr>
              <a:t>La diferencia profesional no está en “usar IA”, sino en diseñar sistemas</a:t>
            </a:r>
            <a:endParaRPr b="0" lang="es-ES" sz="102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20" spc="-1" strike="noStrike">
                <a:solidFill>
                  <a:srgbClr val="111827"/>
                </a:solidFill>
                <a:latin typeface="Aptos"/>
                <a:ea typeface="Aptos"/>
              </a:rPr>
              <a:t>simples, medibles y seguros.</a:t>
            </a:r>
            <a:endParaRPr b="0" lang="es-ES" sz="10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0"/>
          <p:cNvSpPr/>
          <p:nvPr/>
        </p:nvSpPr>
        <p:spPr>
          <a:xfrm>
            <a:off x="164520" y="0"/>
            <a:ext cx="34560" cy="6855840"/>
          </a:xfrm>
          <a:prstGeom prst="rect">
            <a:avLst/>
          </a:prstGeom>
          <a:solidFill>
            <a:srgbClr val="009a9a"/>
          </a:solidFill>
          <a:ln w="12700">
            <a:solidFill>
              <a:srgbClr val="009a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Shape 1"/>
          <p:cNvSpPr/>
          <p:nvPr/>
        </p:nvSpPr>
        <p:spPr>
          <a:xfrm>
            <a:off x="164520" y="4983480"/>
            <a:ext cx="34560" cy="1872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5" name="Image 0" descr="/mnt/data/logousachsinBG(1).png"/>
          <p:cNvPicPr/>
          <p:nvPr/>
        </p:nvPicPr>
        <p:blipFill>
          <a:blip r:embed="rId1">
            <a:alphaModFix amt="95000"/>
          </a:blip>
          <a:stretch/>
        </p:blipFill>
        <p:spPr>
          <a:xfrm>
            <a:off x="567000" y="311040"/>
            <a:ext cx="290520" cy="290520"/>
          </a:xfrm>
          <a:prstGeom prst="rect">
            <a:avLst/>
          </a:prstGeom>
          <a:ln w="0">
            <a:noFill/>
          </a:ln>
        </p:spPr>
      </p:pic>
      <p:sp>
        <p:nvSpPr>
          <p:cNvPr id="56" name="Text 2"/>
          <p:cNvSpPr/>
          <p:nvPr/>
        </p:nvSpPr>
        <p:spPr>
          <a:xfrm>
            <a:off x="11411640" y="6346080"/>
            <a:ext cx="308880" cy="10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580" spc="-1" strike="noStrike">
                <a:solidFill>
                  <a:srgbClr val="64748b"/>
                </a:solidFill>
                <a:latin typeface="Aptos"/>
                <a:ea typeface="Aptos"/>
              </a:rPr>
              <a:t>03</a:t>
            </a:r>
            <a:endParaRPr b="0" lang="es-ES" sz="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 3"/>
          <p:cNvSpPr/>
          <p:nvPr/>
        </p:nvSpPr>
        <p:spPr>
          <a:xfrm>
            <a:off x="548640" y="6382440"/>
            <a:ext cx="4935600" cy="10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540" spc="-1" strike="noStrike">
                <a:solidFill>
                  <a:srgbClr val="64748b"/>
                </a:solidFill>
                <a:latin typeface="Aptos"/>
                <a:ea typeface="Aptos"/>
              </a:rPr>
              <a:t>Diplomado Ejecutivo en Confianza Digital, IA y Automatización Empresarial 1 - 2026 · Módulo 1</a:t>
            </a:r>
            <a:endParaRPr b="0" lang="es-ES" sz="5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 4"/>
          <p:cNvSpPr/>
          <p:nvPr/>
        </p:nvSpPr>
        <p:spPr>
          <a:xfrm>
            <a:off x="951120" y="274320"/>
            <a:ext cx="932472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50" spc="-1" strike="noStrike">
                <a:solidFill>
                  <a:srgbClr val="111827"/>
                </a:solidFill>
                <a:latin typeface="Aptos Display"/>
                <a:ea typeface="Aptos Display"/>
              </a:rPr>
              <a:t>Ruta del módulo</a:t>
            </a:r>
            <a:endParaRPr b="0" lang="es-E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 5"/>
          <p:cNvSpPr/>
          <p:nvPr/>
        </p:nvSpPr>
        <p:spPr>
          <a:xfrm>
            <a:off x="951120" y="649080"/>
            <a:ext cx="914184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60" spc="-1" strike="noStrike">
                <a:solidFill>
                  <a:srgbClr val="64748b"/>
                </a:solidFill>
                <a:latin typeface="Aptos"/>
                <a:ea typeface="Aptos"/>
              </a:rPr>
              <a:t>Cinco sesiones para pasar de conceptos base a una actividad aplicada.</a:t>
            </a:r>
            <a:endParaRPr b="0" lang="es-ES" sz="6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Shape 6"/>
          <p:cNvSpPr/>
          <p:nvPr/>
        </p:nvSpPr>
        <p:spPr>
          <a:xfrm>
            <a:off x="566640" y="877680"/>
            <a:ext cx="10058400" cy="360"/>
          </a:xfrm>
          <a:prstGeom prst="line">
            <a:avLst/>
          </a:prstGeom>
          <a:ln w="6985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Shape 7"/>
          <p:cNvSpPr/>
          <p:nvPr/>
        </p:nvSpPr>
        <p:spPr>
          <a:xfrm>
            <a:off x="749880" y="1325880"/>
            <a:ext cx="1780920" cy="2741040"/>
          </a:xfrm>
          <a:prstGeom prst="roundRect">
            <a:avLst>
              <a:gd name="adj" fmla="val 1538"/>
            </a:avLst>
          </a:prstGeom>
          <a:solidFill>
            <a:srgbClr val="e8f6f4"/>
          </a:solidFill>
          <a:ln w="8890">
            <a:solidFill>
              <a:srgbClr val="d7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Shape 8"/>
          <p:cNvSpPr/>
          <p:nvPr/>
        </p:nvSpPr>
        <p:spPr>
          <a:xfrm>
            <a:off x="768240" y="1344240"/>
            <a:ext cx="48240" cy="2704320"/>
          </a:xfrm>
          <a:prstGeom prst="rect">
            <a:avLst/>
          </a:prstGeom>
          <a:solidFill>
            <a:srgbClr val="009a9a"/>
          </a:solidFill>
          <a:ln w="12700">
            <a:solidFill>
              <a:srgbClr val="009a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Shape 9"/>
          <p:cNvSpPr/>
          <p:nvPr/>
        </p:nvSpPr>
        <p:spPr>
          <a:xfrm>
            <a:off x="1252800" y="1527120"/>
            <a:ext cx="747720" cy="180720"/>
          </a:xfrm>
          <a:prstGeom prst="roundRect">
            <a:avLst>
              <a:gd name="adj" fmla="val 40000"/>
            </a:avLst>
          </a:prstGeom>
          <a:solidFill>
            <a:srgbClr val="009a9a"/>
          </a:solidFill>
          <a:ln w="12700">
            <a:solidFill>
              <a:srgbClr val="009a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Text 10"/>
          <p:cNvSpPr/>
          <p:nvPr/>
        </p:nvSpPr>
        <p:spPr>
          <a:xfrm>
            <a:off x="1252800" y="1563480"/>
            <a:ext cx="747720" cy="7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40" spc="-1" strike="noStrike">
                <a:solidFill>
                  <a:srgbClr val="ffffff"/>
                </a:solidFill>
                <a:latin typeface="Aptos"/>
                <a:ea typeface="Aptos"/>
              </a:rPr>
              <a:t>18 mayo</a:t>
            </a:r>
            <a:endParaRPr b="0" lang="es-ES" sz="5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 11"/>
          <p:cNvSpPr/>
          <p:nvPr/>
        </p:nvSpPr>
        <p:spPr>
          <a:xfrm>
            <a:off x="978480" y="1993320"/>
            <a:ext cx="118656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111827"/>
                </a:solidFill>
                <a:latin typeface="Aptos"/>
                <a:ea typeface="Aptos"/>
              </a:rPr>
              <a:t>Clase 1</a:t>
            </a:r>
            <a:endParaRPr b="0" lang="es-E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 12"/>
          <p:cNvSpPr/>
          <p:nvPr/>
        </p:nvSpPr>
        <p:spPr>
          <a:xfrm>
            <a:off x="978480" y="2688480"/>
            <a:ext cx="114084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20" spc="-1" strike="noStrike">
                <a:solidFill>
                  <a:srgbClr val="111827"/>
                </a:solidFill>
                <a:latin typeface="Aptos"/>
                <a:ea typeface="Aptos"/>
              </a:rPr>
              <a:t>APIs de modelos de</a:t>
            </a:r>
            <a:endParaRPr b="0" lang="es-ES" sz="62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20" spc="-1" strike="noStrike">
                <a:solidFill>
                  <a:srgbClr val="111827"/>
                </a:solidFill>
                <a:latin typeface="Aptos"/>
                <a:ea typeface="Aptos"/>
              </a:rPr>
              <a:t>lenguaje</a:t>
            </a:r>
            <a:endParaRPr b="0" lang="es-ES" sz="6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 13"/>
          <p:cNvSpPr/>
          <p:nvPr/>
        </p:nvSpPr>
        <p:spPr>
          <a:xfrm>
            <a:off x="978480" y="3730680"/>
            <a:ext cx="1186560" cy="14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30" spc="-1" strike="noStrike">
                <a:solidFill>
                  <a:srgbClr val="009a9a"/>
                </a:solidFill>
                <a:latin typeface="Aptos"/>
                <a:ea typeface="Aptos"/>
              </a:rPr>
              <a:t>Clase de desarrollo</a:t>
            </a:r>
            <a:endParaRPr b="0" lang="es-ES" sz="5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14"/>
          <p:cNvSpPr/>
          <p:nvPr/>
        </p:nvSpPr>
        <p:spPr>
          <a:xfrm>
            <a:off x="2743200" y="1325880"/>
            <a:ext cx="1780920" cy="2741040"/>
          </a:xfrm>
          <a:prstGeom prst="roundRect">
            <a:avLst>
              <a:gd name="adj" fmla="val 1538"/>
            </a:avLst>
          </a:prstGeom>
          <a:solidFill>
            <a:srgbClr val="eaf2fb"/>
          </a:solidFill>
          <a:ln w="8890">
            <a:solidFill>
              <a:srgbClr val="d7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Shape 15"/>
          <p:cNvSpPr/>
          <p:nvPr/>
        </p:nvSpPr>
        <p:spPr>
          <a:xfrm>
            <a:off x="2761560" y="1344240"/>
            <a:ext cx="48240" cy="2704320"/>
          </a:xfrm>
          <a:prstGeom prst="rect">
            <a:avLst/>
          </a:prstGeom>
          <a:solidFill>
            <a:srgbClr val="1f5e8c"/>
          </a:solidFill>
          <a:ln w="12700">
            <a:solidFill>
              <a:srgbClr val="1f5e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Shape 16"/>
          <p:cNvSpPr/>
          <p:nvPr/>
        </p:nvSpPr>
        <p:spPr>
          <a:xfrm>
            <a:off x="3246120" y="1527120"/>
            <a:ext cx="747720" cy="180720"/>
          </a:xfrm>
          <a:prstGeom prst="roundRect">
            <a:avLst>
              <a:gd name="adj" fmla="val 40000"/>
            </a:avLst>
          </a:prstGeom>
          <a:solidFill>
            <a:srgbClr val="1f5e8c"/>
          </a:solidFill>
          <a:ln w="12700">
            <a:solidFill>
              <a:srgbClr val="1f5e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Text 17"/>
          <p:cNvSpPr/>
          <p:nvPr/>
        </p:nvSpPr>
        <p:spPr>
          <a:xfrm>
            <a:off x="3246120" y="1563480"/>
            <a:ext cx="747720" cy="7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40" spc="-1" strike="noStrike">
                <a:solidFill>
                  <a:srgbClr val="ffffff"/>
                </a:solidFill>
                <a:latin typeface="Aptos"/>
                <a:ea typeface="Aptos"/>
              </a:rPr>
              <a:t>20 mayo</a:t>
            </a:r>
            <a:endParaRPr b="0" lang="es-ES" sz="5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18"/>
          <p:cNvSpPr/>
          <p:nvPr/>
        </p:nvSpPr>
        <p:spPr>
          <a:xfrm>
            <a:off x="2971800" y="1993320"/>
            <a:ext cx="118656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111827"/>
                </a:solidFill>
                <a:latin typeface="Aptos"/>
                <a:ea typeface="Aptos"/>
              </a:rPr>
              <a:t>Clase 2</a:t>
            </a:r>
            <a:endParaRPr b="0" lang="es-E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 19"/>
          <p:cNvSpPr/>
          <p:nvPr/>
        </p:nvSpPr>
        <p:spPr>
          <a:xfrm>
            <a:off x="2971800" y="2688480"/>
            <a:ext cx="114084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20" spc="-1" strike="noStrike">
                <a:solidFill>
                  <a:srgbClr val="111827"/>
                </a:solidFill>
                <a:latin typeface="Aptos"/>
                <a:ea typeface="Aptos"/>
              </a:rPr>
              <a:t>OpenAI y Claude</a:t>
            </a:r>
            <a:endParaRPr b="0" lang="es-ES" sz="6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 20"/>
          <p:cNvSpPr/>
          <p:nvPr/>
        </p:nvSpPr>
        <p:spPr>
          <a:xfrm>
            <a:off x="2971800" y="3730680"/>
            <a:ext cx="1186560" cy="14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30" spc="-1" strike="noStrike">
                <a:solidFill>
                  <a:srgbClr val="1f5e8c"/>
                </a:solidFill>
                <a:latin typeface="Aptos"/>
                <a:ea typeface="Aptos"/>
              </a:rPr>
              <a:t>Clase de desarrollo</a:t>
            </a:r>
            <a:endParaRPr b="0" lang="es-ES" sz="5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Shape 21"/>
          <p:cNvSpPr/>
          <p:nvPr/>
        </p:nvSpPr>
        <p:spPr>
          <a:xfrm>
            <a:off x="4736520" y="1325880"/>
            <a:ext cx="1780920" cy="2741040"/>
          </a:xfrm>
          <a:prstGeom prst="roundRect">
            <a:avLst>
              <a:gd name="adj" fmla="val 1538"/>
            </a:avLst>
          </a:prstGeom>
          <a:solidFill>
            <a:srgbClr val="e8f6f4"/>
          </a:solidFill>
          <a:ln w="8890">
            <a:solidFill>
              <a:srgbClr val="d7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Shape 22"/>
          <p:cNvSpPr/>
          <p:nvPr/>
        </p:nvSpPr>
        <p:spPr>
          <a:xfrm>
            <a:off x="4754880" y="1344240"/>
            <a:ext cx="48240" cy="2704320"/>
          </a:xfrm>
          <a:prstGeom prst="rect">
            <a:avLst/>
          </a:prstGeom>
          <a:solidFill>
            <a:srgbClr val="009a9a"/>
          </a:solidFill>
          <a:ln w="12700">
            <a:solidFill>
              <a:srgbClr val="009a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Shape 23"/>
          <p:cNvSpPr/>
          <p:nvPr/>
        </p:nvSpPr>
        <p:spPr>
          <a:xfrm>
            <a:off x="5239440" y="1527120"/>
            <a:ext cx="747720" cy="180720"/>
          </a:xfrm>
          <a:prstGeom prst="roundRect">
            <a:avLst>
              <a:gd name="adj" fmla="val 40000"/>
            </a:avLst>
          </a:prstGeom>
          <a:solidFill>
            <a:srgbClr val="009a9a"/>
          </a:solidFill>
          <a:ln w="12700">
            <a:solidFill>
              <a:srgbClr val="009a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Text 24"/>
          <p:cNvSpPr/>
          <p:nvPr/>
        </p:nvSpPr>
        <p:spPr>
          <a:xfrm>
            <a:off x="5239440" y="1563480"/>
            <a:ext cx="747720" cy="7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40" spc="-1" strike="noStrike">
                <a:solidFill>
                  <a:srgbClr val="ffffff"/>
                </a:solidFill>
                <a:latin typeface="Aptos"/>
                <a:ea typeface="Aptos"/>
              </a:rPr>
              <a:t>25 mayo</a:t>
            </a:r>
            <a:endParaRPr b="0" lang="es-ES" sz="5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 25"/>
          <p:cNvSpPr/>
          <p:nvPr/>
        </p:nvSpPr>
        <p:spPr>
          <a:xfrm>
            <a:off x="4965120" y="1993320"/>
            <a:ext cx="118656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111827"/>
                </a:solidFill>
                <a:latin typeface="Aptos"/>
                <a:ea typeface="Aptos"/>
              </a:rPr>
              <a:t>Clase 3</a:t>
            </a:r>
            <a:endParaRPr b="0" lang="es-E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 26"/>
          <p:cNvSpPr/>
          <p:nvPr/>
        </p:nvSpPr>
        <p:spPr>
          <a:xfrm>
            <a:off x="4965120" y="2688480"/>
            <a:ext cx="114084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20" spc="-1" strike="noStrike">
                <a:solidFill>
                  <a:srgbClr val="111827"/>
                </a:solidFill>
                <a:latin typeface="Aptos"/>
                <a:ea typeface="Aptos"/>
              </a:rPr>
              <a:t>Introducción a</a:t>
            </a:r>
            <a:endParaRPr b="0" lang="es-ES" sz="62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20" spc="-1" strike="noStrike">
                <a:solidFill>
                  <a:srgbClr val="111827"/>
                </a:solidFill>
                <a:latin typeface="Aptos"/>
                <a:ea typeface="Aptos"/>
              </a:rPr>
              <a:t>LangChain</a:t>
            </a:r>
            <a:endParaRPr b="0" lang="es-ES" sz="6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 27"/>
          <p:cNvSpPr/>
          <p:nvPr/>
        </p:nvSpPr>
        <p:spPr>
          <a:xfrm>
            <a:off x="4965120" y="3730680"/>
            <a:ext cx="1186560" cy="14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30" spc="-1" strike="noStrike">
                <a:solidFill>
                  <a:srgbClr val="009a9a"/>
                </a:solidFill>
                <a:latin typeface="Aptos"/>
                <a:ea typeface="Aptos"/>
              </a:rPr>
              <a:t>Clase de desarrollo</a:t>
            </a:r>
            <a:endParaRPr b="0" lang="es-ES" sz="5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Shape 28"/>
          <p:cNvSpPr/>
          <p:nvPr/>
        </p:nvSpPr>
        <p:spPr>
          <a:xfrm>
            <a:off x="6729840" y="1325880"/>
            <a:ext cx="1780920" cy="2741040"/>
          </a:xfrm>
          <a:prstGeom prst="roundRect">
            <a:avLst>
              <a:gd name="adj" fmla="val 1538"/>
            </a:avLst>
          </a:prstGeom>
          <a:solidFill>
            <a:srgbClr val="eaf2fb"/>
          </a:solidFill>
          <a:ln w="8890">
            <a:solidFill>
              <a:srgbClr val="d7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Shape 29"/>
          <p:cNvSpPr/>
          <p:nvPr/>
        </p:nvSpPr>
        <p:spPr>
          <a:xfrm>
            <a:off x="6748200" y="1344240"/>
            <a:ext cx="48240" cy="2704320"/>
          </a:xfrm>
          <a:prstGeom prst="rect">
            <a:avLst/>
          </a:prstGeom>
          <a:solidFill>
            <a:srgbClr val="1f5e8c"/>
          </a:solidFill>
          <a:ln w="12700">
            <a:solidFill>
              <a:srgbClr val="1f5e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Shape 30"/>
          <p:cNvSpPr/>
          <p:nvPr/>
        </p:nvSpPr>
        <p:spPr>
          <a:xfrm>
            <a:off x="7232760" y="1527120"/>
            <a:ext cx="747720" cy="180720"/>
          </a:xfrm>
          <a:prstGeom prst="roundRect">
            <a:avLst>
              <a:gd name="adj" fmla="val 40000"/>
            </a:avLst>
          </a:prstGeom>
          <a:solidFill>
            <a:srgbClr val="1f5e8c"/>
          </a:solidFill>
          <a:ln w="12700">
            <a:solidFill>
              <a:srgbClr val="1f5e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Text 31"/>
          <p:cNvSpPr/>
          <p:nvPr/>
        </p:nvSpPr>
        <p:spPr>
          <a:xfrm>
            <a:off x="7232760" y="1563480"/>
            <a:ext cx="747720" cy="7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40" spc="-1" strike="noStrike">
                <a:solidFill>
                  <a:srgbClr val="ffffff"/>
                </a:solidFill>
                <a:latin typeface="Aptos"/>
                <a:ea typeface="Aptos"/>
              </a:rPr>
              <a:t>27 mayo</a:t>
            </a:r>
            <a:endParaRPr b="0" lang="es-ES" sz="5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 32"/>
          <p:cNvSpPr/>
          <p:nvPr/>
        </p:nvSpPr>
        <p:spPr>
          <a:xfrm>
            <a:off x="6958440" y="1993320"/>
            <a:ext cx="118656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111827"/>
                </a:solidFill>
                <a:latin typeface="Aptos"/>
                <a:ea typeface="Aptos"/>
              </a:rPr>
              <a:t>Clase 4</a:t>
            </a:r>
            <a:endParaRPr b="0" lang="es-E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 33"/>
          <p:cNvSpPr/>
          <p:nvPr/>
        </p:nvSpPr>
        <p:spPr>
          <a:xfrm>
            <a:off x="6958440" y="2688480"/>
            <a:ext cx="114084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20" spc="-1" strike="noStrike">
                <a:solidFill>
                  <a:srgbClr val="111827"/>
                </a:solidFill>
                <a:latin typeface="Aptos"/>
                <a:ea typeface="Aptos"/>
              </a:rPr>
              <a:t>Aplicaciones prácticas</a:t>
            </a:r>
            <a:endParaRPr b="0" lang="es-ES" sz="62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20" spc="-1" strike="noStrike">
                <a:solidFill>
                  <a:srgbClr val="111827"/>
                </a:solidFill>
                <a:latin typeface="Aptos"/>
                <a:ea typeface="Aptos"/>
              </a:rPr>
              <a:t>con LangChain</a:t>
            </a:r>
            <a:endParaRPr b="0" lang="es-ES" sz="6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 34"/>
          <p:cNvSpPr/>
          <p:nvPr/>
        </p:nvSpPr>
        <p:spPr>
          <a:xfrm>
            <a:off x="6958440" y="3730680"/>
            <a:ext cx="1186560" cy="14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30" spc="-1" strike="noStrike">
                <a:solidFill>
                  <a:srgbClr val="1f5e8c"/>
                </a:solidFill>
                <a:latin typeface="Aptos"/>
                <a:ea typeface="Aptos"/>
              </a:rPr>
              <a:t>Clase de desarrollo</a:t>
            </a:r>
            <a:endParaRPr b="0" lang="es-ES" sz="5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Shape 35"/>
          <p:cNvSpPr/>
          <p:nvPr/>
        </p:nvSpPr>
        <p:spPr>
          <a:xfrm>
            <a:off x="8723520" y="1325880"/>
            <a:ext cx="1780920" cy="2741040"/>
          </a:xfrm>
          <a:prstGeom prst="roundRect">
            <a:avLst>
              <a:gd name="adj" fmla="val 1538"/>
            </a:avLst>
          </a:prstGeom>
          <a:solidFill>
            <a:srgbClr val="fff2de"/>
          </a:solidFill>
          <a:ln w="8890">
            <a:solidFill>
              <a:srgbClr val="d7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Shape 36"/>
          <p:cNvSpPr/>
          <p:nvPr/>
        </p:nvSpPr>
        <p:spPr>
          <a:xfrm>
            <a:off x="8741520" y="1344240"/>
            <a:ext cx="48240" cy="270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Shape 37"/>
          <p:cNvSpPr/>
          <p:nvPr/>
        </p:nvSpPr>
        <p:spPr>
          <a:xfrm>
            <a:off x="9226440" y="1527120"/>
            <a:ext cx="747720" cy="180720"/>
          </a:xfrm>
          <a:prstGeom prst="roundRect">
            <a:avLst>
              <a:gd name="adj" fmla="val 40000"/>
            </a:avLst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38"/>
          <p:cNvSpPr/>
          <p:nvPr/>
        </p:nvSpPr>
        <p:spPr>
          <a:xfrm>
            <a:off x="9226440" y="1563480"/>
            <a:ext cx="747720" cy="7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40" spc="-1" strike="noStrike">
                <a:solidFill>
                  <a:srgbClr val="ffffff"/>
                </a:solidFill>
                <a:latin typeface="Aptos"/>
                <a:ea typeface="Aptos"/>
              </a:rPr>
              <a:t>01 junio</a:t>
            </a:r>
            <a:endParaRPr b="0" lang="es-ES" sz="5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 39"/>
          <p:cNvSpPr/>
          <p:nvPr/>
        </p:nvSpPr>
        <p:spPr>
          <a:xfrm>
            <a:off x="8952120" y="1993320"/>
            <a:ext cx="118656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111827"/>
                </a:solidFill>
                <a:latin typeface="Aptos"/>
                <a:ea typeface="Aptos"/>
              </a:rPr>
              <a:t>Clase 5</a:t>
            </a:r>
            <a:endParaRPr b="0" lang="es-E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 40"/>
          <p:cNvSpPr/>
          <p:nvPr/>
        </p:nvSpPr>
        <p:spPr>
          <a:xfrm>
            <a:off x="8952120" y="2688480"/>
            <a:ext cx="114084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b="0" lang="es-ES" sz="620" spc="-1" strike="noStrike">
                <a:solidFill>
                  <a:srgbClr val="000000"/>
                </a:solidFill>
                <a:latin typeface="Aptos"/>
              </a:rPr>
              <a:t>Evaluación integradora</a:t>
            </a:r>
            <a:endParaRPr b="0" lang="es-ES" sz="62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620" spc="-1" strike="noStrike">
                <a:solidFill>
                  <a:srgbClr val="000000"/>
                </a:solidFill>
                <a:latin typeface="Aptos"/>
              </a:rPr>
              <a:t>caso nuevo</a:t>
            </a:r>
            <a:endParaRPr b="0" lang="es-ES" sz="6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 41"/>
          <p:cNvSpPr/>
          <p:nvPr/>
        </p:nvSpPr>
        <p:spPr>
          <a:xfrm>
            <a:off x="8952120" y="3730680"/>
            <a:ext cx="1186560" cy="14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30" spc="-1" strike="noStrike">
                <a:solidFill>
                  <a:srgbClr val="f59e0b"/>
                </a:solidFill>
                <a:latin typeface="Aptos"/>
                <a:ea typeface="Aptos"/>
              </a:rPr>
              <a:t>Evaluación del módulo</a:t>
            </a:r>
            <a:endParaRPr b="0" lang="es-ES" sz="5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 42"/>
          <p:cNvSpPr/>
          <p:nvPr/>
        </p:nvSpPr>
        <p:spPr>
          <a:xfrm>
            <a:off x="2240280" y="4782240"/>
            <a:ext cx="758736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ptos"/>
              </a:rPr>
              <a:t>La evaluación final integra lo trabajado en las clases 1 a 4, aplicado a un caso nuevo y defendible.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0"/>
          <p:cNvSpPr/>
          <p:nvPr/>
        </p:nvSpPr>
        <p:spPr>
          <a:xfrm>
            <a:off x="164520" y="0"/>
            <a:ext cx="34560" cy="6855840"/>
          </a:xfrm>
          <a:prstGeom prst="rect">
            <a:avLst/>
          </a:prstGeom>
          <a:solidFill>
            <a:srgbClr val="009a9a"/>
          </a:solidFill>
          <a:ln w="12700">
            <a:solidFill>
              <a:srgbClr val="009a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Shape 1"/>
          <p:cNvSpPr/>
          <p:nvPr/>
        </p:nvSpPr>
        <p:spPr>
          <a:xfrm>
            <a:off x="164520" y="4983480"/>
            <a:ext cx="34560" cy="1872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9" name="Image 0" descr="/mnt/data/logousachsinBG(1).png"/>
          <p:cNvPicPr/>
          <p:nvPr/>
        </p:nvPicPr>
        <p:blipFill>
          <a:blip r:embed="rId1">
            <a:alphaModFix amt="95000"/>
          </a:blip>
          <a:stretch/>
        </p:blipFill>
        <p:spPr>
          <a:xfrm>
            <a:off x="567000" y="311040"/>
            <a:ext cx="290520" cy="290520"/>
          </a:xfrm>
          <a:prstGeom prst="rect">
            <a:avLst/>
          </a:prstGeom>
          <a:ln w="0">
            <a:noFill/>
          </a:ln>
        </p:spPr>
      </p:pic>
      <p:sp>
        <p:nvSpPr>
          <p:cNvPr id="100" name="Text 2"/>
          <p:cNvSpPr/>
          <p:nvPr/>
        </p:nvSpPr>
        <p:spPr>
          <a:xfrm>
            <a:off x="11411640" y="6346080"/>
            <a:ext cx="308880" cy="10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580" spc="-1" strike="noStrike">
                <a:solidFill>
                  <a:srgbClr val="64748b"/>
                </a:solidFill>
                <a:latin typeface="Aptos"/>
                <a:ea typeface="Aptos"/>
              </a:rPr>
              <a:t>04</a:t>
            </a:r>
            <a:endParaRPr b="0" lang="es-ES" sz="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 3"/>
          <p:cNvSpPr/>
          <p:nvPr/>
        </p:nvSpPr>
        <p:spPr>
          <a:xfrm>
            <a:off x="548640" y="6382440"/>
            <a:ext cx="4935600" cy="10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540" spc="-1" strike="noStrike">
                <a:solidFill>
                  <a:srgbClr val="64748b"/>
                </a:solidFill>
                <a:latin typeface="Aptos"/>
                <a:ea typeface="Aptos"/>
              </a:rPr>
              <a:t>Diplomado Ejecutivo en Confianza Digital, IA y Automatización Empresarial 1 - 2026 · Módulo 1</a:t>
            </a:r>
            <a:endParaRPr b="0" lang="es-ES" sz="5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4"/>
          <p:cNvSpPr/>
          <p:nvPr/>
        </p:nvSpPr>
        <p:spPr>
          <a:xfrm>
            <a:off x="951120" y="274320"/>
            <a:ext cx="932472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50" spc="-1" strike="noStrike">
                <a:solidFill>
                  <a:srgbClr val="111827"/>
                </a:solidFill>
                <a:latin typeface="Aptos Display"/>
                <a:ea typeface="Aptos Display"/>
              </a:rPr>
              <a:t>Qué veremos en las clases 1 y 2</a:t>
            </a:r>
            <a:endParaRPr b="0" lang="es-E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5"/>
          <p:cNvSpPr/>
          <p:nvPr/>
        </p:nvSpPr>
        <p:spPr>
          <a:xfrm>
            <a:off x="951120" y="649080"/>
            <a:ext cx="914184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60" spc="-1" strike="noStrike">
                <a:solidFill>
                  <a:srgbClr val="64748b"/>
                </a:solidFill>
                <a:latin typeface="Aptos"/>
                <a:ea typeface="Aptos"/>
              </a:rPr>
              <a:t>De la mecánica de una API a una integración básica con modelos reales.</a:t>
            </a:r>
            <a:endParaRPr b="0" lang="es-ES" sz="6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Shape 6"/>
          <p:cNvSpPr/>
          <p:nvPr/>
        </p:nvSpPr>
        <p:spPr>
          <a:xfrm>
            <a:off x="566640" y="877680"/>
            <a:ext cx="10058400" cy="360"/>
          </a:xfrm>
          <a:prstGeom prst="line">
            <a:avLst/>
          </a:prstGeom>
          <a:ln w="6985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Shape 7"/>
          <p:cNvSpPr/>
          <p:nvPr/>
        </p:nvSpPr>
        <p:spPr>
          <a:xfrm>
            <a:off x="1080000" y="1316880"/>
            <a:ext cx="4341240" cy="3033720"/>
          </a:xfrm>
          <a:prstGeom prst="roundRect">
            <a:avLst>
              <a:gd name="adj" fmla="val 1205"/>
            </a:avLst>
          </a:prstGeom>
          <a:solidFill>
            <a:srgbClr val="e8f6f4"/>
          </a:solidFill>
          <a:ln w="7620">
            <a:solidFill>
              <a:srgbClr val="d7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Shape 8"/>
          <p:cNvSpPr/>
          <p:nvPr/>
        </p:nvSpPr>
        <p:spPr>
          <a:xfrm>
            <a:off x="1115640" y="1316880"/>
            <a:ext cx="38880" cy="2997000"/>
          </a:xfrm>
          <a:prstGeom prst="rect">
            <a:avLst/>
          </a:prstGeom>
          <a:solidFill>
            <a:srgbClr val="009a9a"/>
          </a:solidFill>
          <a:ln w="12700">
            <a:solidFill>
              <a:srgbClr val="009a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Text 9"/>
          <p:cNvSpPr/>
          <p:nvPr/>
        </p:nvSpPr>
        <p:spPr>
          <a:xfrm>
            <a:off x="1261800" y="1463040"/>
            <a:ext cx="4021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20" spc="-1" strike="noStrike">
                <a:solidFill>
                  <a:srgbClr val="111827"/>
                </a:solidFill>
                <a:latin typeface="Aptos"/>
                <a:ea typeface="Aptos"/>
              </a:rPr>
              <a:t>Clase 1 · Introducción a las APIs de Modelos de Lenguaje</a:t>
            </a:r>
            <a:endParaRPr b="0" lang="es-ES" sz="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 10"/>
          <p:cNvSpPr/>
          <p:nvPr/>
        </p:nvSpPr>
        <p:spPr>
          <a:xfrm>
            <a:off x="1261800" y="1874520"/>
            <a:ext cx="4021200" cy="232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70" spc="-1" strike="noStrike">
                <a:solidFill>
                  <a:srgbClr val="111827"/>
                </a:solidFill>
                <a:latin typeface="Aptos"/>
                <a:ea typeface="Aptos"/>
              </a:rPr>
              <a:t>• </a:t>
            </a:r>
            <a:r>
              <a:rPr b="0" lang="en-US" sz="670" spc="-1" strike="noStrike">
                <a:solidFill>
                  <a:srgbClr val="111827"/>
                </a:solidFill>
                <a:latin typeface="Aptos"/>
                <a:ea typeface="Aptos"/>
              </a:rPr>
              <a:t>Qué es una API y por qué hoy casi todo funciona con APIs.</a:t>
            </a:r>
            <a:endParaRPr b="0" lang="es-ES" sz="67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70" spc="-1" strike="noStrike">
                <a:solidFill>
                  <a:srgbClr val="111827"/>
                </a:solidFill>
                <a:latin typeface="Aptos"/>
                <a:ea typeface="Aptos"/>
              </a:rPr>
              <a:t>• </a:t>
            </a:r>
            <a:r>
              <a:rPr b="0" lang="en-US" sz="670" spc="-1" strike="noStrike">
                <a:solidFill>
                  <a:srgbClr val="111827"/>
                </a:solidFill>
                <a:latin typeface="Aptos"/>
                <a:ea typeface="Aptos"/>
              </a:rPr>
              <a:t>Endpoint, request, response, headers, body y API key.</a:t>
            </a:r>
            <a:endParaRPr b="0" lang="es-ES" sz="67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70" spc="-1" strike="noStrike">
                <a:solidFill>
                  <a:srgbClr val="111827"/>
                </a:solidFill>
                <a:latin typeface="Aptos"/>
                <a:ea typeface="Aptos"/>
              </a:rPr>
              <a:t>• </a:t>
            </a:r>
            <a:r>
              <a:rPr b="0" lang="en-US" sz="670" spc="-1" strike="noStrike">
                <a:solidFill>
                  <a:srgbClr val="111827"/>
                </a:solidFill>
                <a:latin typeface="Aptos"/>
                <a:ea typeface="Aptos"/>
              </a:rPr>
              <a:t>Tokens, contexto, temperatura, modelos, costos y límites.</a:t>
            </a:r>
            <a:endParaRPr b="0" lang="es-ES" sz="67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70" spc="-1" strike="noStrike">
                <a:solidFill>
                  <a:srgbClr val="111827"/>
                </a:solidFill>
                <a:latin typeface="Aptos"/>
                <a:ea typeface="Aptos"/>
              </a:rPr>
              <a:t>• </a:t>
            </a:r>
            <a:r>
              <a:rPr b="0" lang="en-US" sz="670" spc="-1" strike="noStrike">
                <a:solidFill>
                  <a:srgbClr val="111827"/>
                </a:solidFill>
                <a:latin typeface="Aptos"/>
                <a:ea typeface="Aptos"/>
              </a:rPr>
              <a:t>Seguridad básica: claves, datos sensibles, prompt injection y guardrails.</a:t>
            </a:r>
            <a:endParaRPr b="0" lang="es-ES" sz="67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70" spc="-1" strike="noStrike">
                <a:solidFill>
                  <a:srgbClr val="111827"/>
                </a:solidFill>
                <a:latin typeface="Aptos"/>
                <a:ea typeface="Aptos"/>
              </a:rPr>
              <a:t>• </a:t>
            </a:r>
            <a:r>
              <a:rPr b="0" lang="en-US" sz="670" spc="-1" strike="noStrike">
                <a:solidFill>
                  <a:srgbClr val="111827"/>
                </a:solidFill>
                <a:latin typeface="Aptos"/>
                <a:ea typeface="Aptos"/>
              </a:rPr>
              <a:t>Diseño de una llamada conceptual para un caso de negocio.</a:t>
            </a:r>
            <a:endParaRPr b="0" lang="es-ES" sz="6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Shape 11"/>
          <p:cNvSpPr/>
          <p:nvPr/>
        </p:nvSpPr>
        <p:spPr>
          <a:xfrm>
            <a:off x="6492240" y="1298520"/>
            <a:ext cx="4341240" cy="3033720"/>
          </a:xfrm>
          <a:prstGeom prst="roundRect">
            <a:avLst>
              <a:gd name="adj" fmla="val 1205"/>
            </a:avLst>
          </a:prstGeom>
          <a:solidFill>
            <a:srgbClr val="eaf2fb"/>
          </a:solidFill>
          <a:ln w="7620">
            <a:solidFill>
              <a:srgbClr val="d7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Shape 12"/>
          <p:cNvSpPr/>
          <p:nvPr/>
        </p:nvSpPr>
        <p:spPr>
          <a:xfrm>
            <a:off x="6510600" y="1316880"/>
            <a:ext cx="38880" cy="2997000"/>
          </a:xfrm>
          <a:prstGeom prst="rect">
            <a:avLst/>
          </a:prstGeom>
          <a:solidFill>
            <a:srgbClr val="1f5e8c"/>
          </a:solidFill>
          <a:ln w="12700">
            <a:solidFill>
              <a:srgbClr val="1f5e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Text 13"/>
          <p:cNvSpPr/>
          <p:nvPr/>
        </p:nvSpPr>
        <p:spPr>
          <a:xfrm>
            <a:off x="6656760" y="1463040"/>
            <a:ext cx="4021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20" spc="-1" strike="noStrike">
                <a:solidFill>
                  <a:srgbClr val="111827"/>
                </a:solidFill>
                <a:latin typeface="Aptos"/>
                <a:ea typeface="Aptos"/>
              </a:rPr>
              <a:t>Clase 2 · Aplicaciones Básicas con OpenAI y Claude</a:t>
            </a:r>
            <a:endParaRPr b="0" lang="es-ES" sz="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 14"/>
          <p:cNvSpPr/>
          <p:nvPr/>
        </p:nvSpPr>
        <p:spPr>
          <a:xfrm>
            <a:off x="6656760" y="1874520"/>
            <a:ext cx="4021200" cy="232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70" spc="-1" strike="noStrike">
                <a:solidFill>
                  <a:srgbClr val="111827"/>
                </a:solidFill>
                <a:latin typeface="Aptos"/>
                <a:ea typeface="Aptos"/>
              </a:rPr>
              <a:t>• </a:t>
            </a:r>
            <a:r>
              <a:rPr b="0" lang="en-US" sz="670" spc="-1" strike="noStrike">
                <a:solidFill>
                  <a:srgbClr val="111827"/>
                </a:solidFill>
                <a:latin typeface="Aptos"/>
                <a:ea typeface="Aptos"/>
              </a:rPr>
              <a:t>Diferencia entre usar ChatGPT/Claude y construir con APIs.</a:t>
            </a:r>
            <a:endParaRPr b="0" lang="es-ES" sz="67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70" spc="-1" strike="noStrike">
                <a:solidFill>
                  <a:srgbClr val="111827"/>
                </a:solidFill>
                <a:latin typeface="Aptos"/>
                <a:ea typeface="Aptos"/>
              </a:rPr>
              <a:t>• </a:t>
            </a:r>
            <a:r>
              <a:rPr b="0" lang="en-US" sz="670" spc="-1" strike="noStrike">
                <a:solidFill>
                  <a:srgbClr val="111827"/>
                </a:solidFill>
                <a:latin typeface="Aptos"/>
                <a:ea typeface="Aptos"/>
              </a:rPr>
              <a:t>OpenAI y Claude como proveedores: estructura de requests y responses.</a:t>
            </a:r>
            <a:endParaRPr b="0" lang="es-ES" sz="67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70" spc="-1" strike="noStrike">
                <a:solidFill>
                  <a:srgbClr val="111827"/>
                </a:solidFill>
                <a:latin typeface="Aptos"/>
                <a:ea typeface="Aptos"/>
              </a:rPr>
              <a:t>• </a:t>
            </a:r>
            <a:r>
              <a:rPr b="0" lang="en-US" sz="670" spc="-1" strike="noStrike">
                <a:solidFill>
                  <a:srgbClr val="111827"/>
                </a:solidFill>
                <a:latin typeface="Aptos"/>
                <a:ea typeface="Aptos"/>
              </a:rPr>
              <a:t>Prompts de sistema y usuario, salidas estructuradas y validación.</a:t>
            </a:r>
            <a:endParaRPr b="0" lang="es-ES" sz="67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70" spc="-1" strike="noStrike">
                <a:solidFill>
                  <a:srgbClr val="111827"/>
                </a:solidFill>
                <a:latin typeface="Aptos"/>
                <a:ea typeface="Aptos"/>
              </a:rPr>
              <a:t>• </a:t>
            </a:r>
            <a:r>
              <a:rPr b="0" lang="en-US" sz="670" spc="-1" strike="noStrike">
                <a:solidFill>
                  <a:srgbClr val="111827"/>
                </a:solidFill>
                <a:latin typeface="Aptos"/>
                <a:ea typeface="Aptos"/>
              </a:rPr>
              <a:t>Costos, latencia, rate limits, reintentos y fallback.</a:t>
            </a:r>
            <a:endParaRPr b="0" lang="es-ES" sz="67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70" spc="-1" strike="noStrike">
                <a:solidFill>
                  <a:srgbClr val="111827"/>
                </a:solidFill>
                <a:latin typeface="Aptos"/>
                <a:ea typeface="Aptos"/>
              </a:rPr>
              <a:t>• </a:t>
            </a:r>
            <a:r>
              <a:rPr b="0" lang="en-US" sz="670" spc="-1" strike="noStrike">
                <a:solidFill>
                  <a:srgbClr val="111827"/>
                </a:solidFill>
                <a:latin typeface="Aptos"/>
                <a:ea typeface="Aptos"/>
              </a:rPr>
              <a:t>Diseño de una app mínima con backend, logs y criterios de evaluación.</a:t>
            </a:r>
            <a:endParaRPr b="0" lang="es-ES" sz="6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 15"/>
          <p:cNvSpPr/>
          <p:nvPr/>
        </p:nvSpPr>
        <p:spPr>
          <a:xfrm>
            <a:off x="2971800" y="4983480"/>
            <a:ext cx="621576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50" spc="-1" strike="noStrike">
                <a:solidFill>
                  <a:srgbClr val="64748b"/>
                </a:solidFill>
                <a:latin typeface="Aptos"/>
                <a:ea typeface="Aptos"/>
              </a:rPr>
              <a:t>Meta de las primeras dos clases: entender el “contrato” entre una aplicación y un modelo de lenguaje.</a:t>
            </a:r>
            <a:endParaRPr b="0" lang="es-ES" sz="6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0"/>
          <p:cNvSpPr/>
          <p:nvPr/>
        </p:nvSpPr>
        <p:spPr>
          <a:xfrm>
            <a:off x="164520" y="0"/>
            <a:ext cx="34560" cy="6855840"/>
          </a:xfrm>
          <a:prstGeom prst="rect">
            <a:avLst/>
          </a:prstGeom>
          <a:solidFill>
            <a:srgbClr val="009a9a"/>
          </a:solidFill>
          <a:ln w="12700">
            <a:solidFill>
              <a:srgbClr val="009a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Shape 1"/>
          <p:cNvSpPr/>
          <p:nvPr/>
        </p:nvSpPr>
        <p:spPr>
          <a:xfrm>
            <a:off x="164520" y="4983480"/>
            <a:ext cx="34560" cy="1872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6" name="Image 0" descr="/mnt/data/logousachsinBG(1).png"/>
          <p:cNvPicPr/>
          <p:nvPr/>
        </p:nvPicPr>
        <p:blipFill>
          <a:blip r:embed="rId1">
            <a:alphaModFix amt="95000"/>
          </a:blip>
          <a:stretch/>
        </p:blipFill>
        <p:spPr>
          <a:xfrm>
            <a:off x="567000" y="311040"/>
            <a:ext cx="290520" cy="290520"/>
          </a:xfrm>
          <a:prstGeom prst="rect">
            <a:avLst/>
          </a:prstGeom>
          <a:ln w="0">
            <a:noFill/>
          </a:ln>
        </p:spPr>
      </p:pic>
      <p:sp>
        <p:nvSpPr>
          <p:cNvPr id="117" name="Text 2"/>
          <p:cNvSpPr/>
          <p:nvPr/>
        </p:nvSpPr>
        <p:spPr>
          <a:xfrm>
            <a:off x="11411640" y="6346080"/>
            <a:ext cx="308880" cy="10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580" spc="-1" strike="noStrike">
                <a:solidFill>
                  <a:srgbClr val="64748b"/>
                </a:solidFill>
                <a:latin typeface="Aptos"/>
                <a:ea typeface="Aptos"/>
              </a:rPr>
              <a:t>05</a:t>
            </a:r>
            <a:endParaRPr b="0" lang="es-ES" sz="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3"/>
          <p:cNvSpPr/>
          <p:nvPr/>
        </p:nvSpPr>
        <p:spPr>
          <a:xfrm>
            <a:off x="548640" y="6382440"/>
            <a:ext cx="4935600" cy="10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540" spc="-1" strike="noStrike">
                <a:solidFill>
                  <a:srgbClr val="64748b"/>
                </a:solidFill>
                <a:latin typeface="Aptos"/>
                <a:ea typeface="Aptos"/>
              </a:rPr>
              <a:t>Diplomado Ejecutivo en Confianza Digital, IA y Automatización Empresarial 1 - 2026 · Módulo 1</a:t>
            </a:r>
            <a:endParaRPr b="0" lang="es-ES" sz="5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4"/>
          <p:cNvSpPr/>
          <p:nvPr/>
        </p:nvSpPr>
        <p:spPr>
          <a:xfrm>
            <a:off x="951120" y="274320"/>
            <a:ext cx="932472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50" spc="-1" strike="noStrike">
                <a:solidFill>
                  <a:srgbClr val="111827"/>
                </a:solidFill>
                <a:latin typeface="Aptos Display"/>
                <a:ea typeface="Aptos Display"/>
              </a:rPr>
              <a:t>Qué veremos en las clases 3 y 4</a:t>
            </a:r>
            <a:endParaRPr b="0" lang="es-E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 5"/>
          <p:cNvSpPr/>
          <p:nvPr/>
        </p:nvSpPr>
        <p:spPr>
          <a:xfrm>
            <a:off x="951120" y="649080"/>
            <a:ext cx="914184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60" spc="-1" strike="noStrike">
                <a:solidFill>
                  <a:srgbClr val="64748b"/>
                </a:solidFill>
                <a:latin typeface="Aptos"/>
                <a:ea typeface="Aptos"/>
              </a:rPr>
              <a:t>De llamadas aisladas a aplicaciones LLM más ordenadas, reutilizables y evaluables.</a:t>
            </a:r>
            <a:endParaRPr b="0" lang="es-ES" sz="6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Shape 6"/>
          <p:cNvSpPr/>
          <p:nvPr/>
        </p:nvSpPr>
        <p:spPr>
          <a:xfrm>
            <a:off x="566640" y="877680"/>
            <a:ext cx="10058400" cy="360"/>
          </a:xfrm>
          <a:prstGeom prst="line">
            <a:avLst/>
          </a:prstGeom>
          <a:ln w="6985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Shape 7"/>
          <p:cNvSpPr/>
          <p:nvPr/>
        </p:nvSpPr>
        <p:spPr>
          <a:xfrm>
            <a:off x="1097280" y="1298520"/>
            <a:ext cx="4341240" cy="3033720"/>
          </a:xfrm>
          <a:prstGeom prst="roundRect">
            <a:avLst>
              <a:gd name="adj" fmla="val 1205"/>
            </a:avLst>
          </a:prstGeom>
          <a:solidFill>
            <a:srgbClr val="e8f6f4"/>
          </a:solidFill>
          <a:ln w="7620">
            <a:solidFill>
              <a:srgbClr val="d7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Shape 8"/>
          <p:cNvSpPr/>
          <p:nvPr/>
        </p:nvSpPr>
        <p:spPr>
          <a:xfrm>
            <a:off x="1115640" y="1316880"/>
            <a:ext cx="38880" cy="2997000"/>
          </a:xfrm>
          <a:prstGeom prst="rect">
            <a:avLst/>
          </a:prstGeom>
          <a:solidFill>
            <a:srgbClr val="009a9a"/>
          </a:solidFill>
          <a:ln w="12700">
            <a:solidFill>
              <a:srgbClr val="009a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Text 9"/>
          <p:cNvSpPr/>
          <p:nvPr/>
        </p:nvSpPr>
        <p:spPr>
          <a:xfrm>
            <a:off x="1261800" y="1463040"/>
            <a:ext cx="4021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20" spc="-1" strike="noStrike">
                <a:solidFill>
                  <a:srgbClr val="111827"/>
                </a:solidFill>
                <a:latin typeface="Aptos"/>
                <a:ea typeface="Aptos"/>
              </a:rPr>
              <a:t>Clase 3 · Introducción a LangChain</a:t>
            </a:r>
            <a:endParaRPr b="0" lang="es-ES" sz="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 10"/>
          <p:cNvSpPr/>
          <p:nvPr/>
        </p:nvSpPr>
        <p:spPr>
          <a:xfrm>
            <a:off x="1261800" y="1874520"/>
            <a:ext cx="4021200" cy="232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70" spc="-1" strike="noStrike">
                <a:solidFill>
                  <a:srgbClr val="111827"/>
                </a:solidFill>
                <a:latin typeface="Aptos"/>
                <a:ea typeface="Aptos"/>
              </a:rPr>
              <a:t>• </a:t>
            </a:r>
            <a:r>
              <a:rPr b="0" lang="en-US" sz="670" spc="-1" strike="noStrike">
                <a:solidFill>
                  <a:srgbClr val="111827"/>
                </a:solidFill>
                <a:latin typeface="Aptos"/>
                <a:ea typeface="Aptos"/>
              </a:rPr>
              <a:t>Qué problema resuelve LangChain y qué no es.</a:t>
            </a:r>
            <a:endParaRPr b="0" lang="es-ES" sz="67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70" spc="-1" strike="noStrike">
                <a:solidFill>
                  <a:srgbClr val="111827"/>
                </a:solidFill>
                <a:latin typeface="Aptos"/>
                <a:ea typeface="Aptos"/>
              </a:rPr>
              <a:t>• </a:t>
            </a:r>
            <a:r>
              <a:rPr b="0" lang="en-US" sz="670" spc="-1" strike="noStrike">
                <a:solidFill>
                  <a:srgbClr val="111827"/>
                </a:solidFill>
                <a:latin typeface="Aptos"/>
                <a:ea typeface="Aptos"/>
              </a:rPr>
              <a:t>Componentes principales: modelos, prompts, parsers y chains.</a:t>
            </a:r>
            <a:endParaRPr b="0" lang="es-ES" sz="67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70" spc="-1" strike="noStrike">
                <a:solidFill>
                  <a:srgbClr val="111827"/>
                </a:solidFill>
                <a:latin typeface="Aptos"/>
                <a:ea typeface="Aptos"/>
              </a:rPr>
              <a:t>• </a:t>
            </a:r>
            <a:r>
              <a:rPr b="0" lang="en-US" sz="670" spc="-1" strike="noStrike">
                <a:solidFill>
                  <a:srgbClr val="111827"/>
                </a:solidFill>
                <a:latin typeface="Aptos"/>
                <a:ea typeface="Aptos"/>
              </a:rPr>
              <a:t>Loaders, splitters, embeddings, vector stores y retrievers.</a:t>
            </a:r>
            <a:endParaRPr b="0" lang="es-ES" sz="67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70" spc="-1" strike="noStrike">
                <a:solidFill>
                  <a:srgbClr val="111827"/>
                </a:solidFill>
                <a:latin typeface="Aptos"/>
                <a:ea typeface="Aptos"/>
              </a:rPr>
              <a:t>• </a:t>
            </a:r>
            <a:r>
              <a:rPr b="0" lang="en-US" sz="670" spc="-1" strike="noStrike">
                <a:solidFill>
                  <a:srgbClr val="111827"/>
                </a:solidFill>
                <a:latin typeface="Aptos"/>
                <a:ea typeface="Aptos"/>
              </a:rPr>
              <a:t>Cuándo usar API directa, chain, RAG o agente.</a:t>
            </a:r>
            <a:endParaRPr b="0" lang="es-ES" sz="67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70" spc="-1" strike="noStrike">
                <a:solidFill>
                  <a:srgbClr val="111827"/>
                </a:solidFill>
                <a:latin typeface="Aptos"/>
                <a:ea typeface="Aptos"/>
              </a:rPr>
              <a:t>• </a:t>
            </a:r>
            <a:r>
              <a:rPr b="0" lang="en-US" sz="670" spc="-1" strike="noStrike">
                <a:solidFill>
                  <a:srgbClr val="111827"/>
                </a:solidFill>
                <a:latin typeface="Aptos"/>
                <a:ea typeface="Aptos"/>
              </a:rPr>
              <a:t>Diseño conceptual de una app con componentes LangChain.</a:t>
            </a:r>
            <a:endParaRPr b="0" lang="es-ES" sz="6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Shape 11"/>
          <p:cNvSpPr/>
          <p:nvPr/>
        </p:nvSpPr>
        <p:spPr>
          <a:xfrm>
            <a:off x="6492240" y="1298520"/>
            <a:ext cx="4341240" cy="3033720"/>
          </a:xfrm>
          <a:prstGeom prst="roundRect">
            <a:avLst>
              <a:gd name="adj" fmla="val 1205"/>
            </a:avLst>
          </a:prstGeom>
          <a:solidFill>
            <a:srgbClr val="eaf2fb"/>
          </a:solidFill>
          <a:ln w="7620">
            <a:solidFill>
              <a:srgbClr val="d7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Shape 12"/>
          <p:cNvSpPr/>
          <p:nvPr/>
        </p:nvSpPr>
        <p:spPr>
          <a:xfrm>
            <a:off x="6510600" y="1316880"/>
            <a:ext cx="38880" cy="2997000"/>
          </a:xfrm>
          <a:prstGeom prst="rect">
            <a:avLst/>
          </a:prstGeom>
          <a:solidFill>
            <a:srgbClr val="1f5e8c"/>
          </a:solidFill>
          <a:ln w="12700">
            <a:solidFill>
              <a:srgbClr val="1f5e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Text 13"/>
          <p:cNvSpPr/>
          <p:nvPr/>
        </p:nvSpPr>
        <p:spPr>
          <a:xfrm>
            <a:off x="6656760" y="1463040"/>
            <a:ext cx="4021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20" spc="-1" strike="noStrike">
                <a:solidFill>
                  <a:srgbClr val="111827"/>
                </a:solidFill>
                <a:latin typeface="Aptos"/>
                <a:ea typeface="Aptos"/>
              </a:rPr>
              <a:t>Clase 4 · Aplicaciones Prácticas con LangChain</a:t>
            </a:r>
            <a:endParaRPr b="0" lang="es-ES" sz="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 14"/>
          <p:cNvSpPr/>
          <p:nvPr/>
        </p:nvSpPr>
        <p:spPr>
          <a:xfrm>
            <a:off x="6656760" y="1874520"/>
            <a:ext cx="4021200" cy="232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70" spc="-1" strike="noStrike">
                <a:solidFill>
                  <a:srgbClr val="111827"/>
                </a:solidFill>
                <a:latin typeface="Aptos"/>
                <a:ea typeface="Aptos"/>
              </a:rPr>
              <a:t>• </a:t>
            </a:r>
            <a:r>
              <a:rPr b="0" lang="en-US" sz="670" spc="-1" strike="noStrike">
                <a:solidFill>
                  <a:srgbClr val="111827"/>
                </a:solidFill>
                <a:latin typeface="Aptos"/>
                <a:ea typeface="Aptos"/>
              </a:rPr>
              <a:t>Construcción de flujos con prompt → modelo → parser.</a:t>
            </a:r>
            <a:endParaRPr b="0" lang="es-ES" sz="67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70" spc="-1" strike="noStrike">
                <a:solidFill>
                  <a:srgbClr val="111827"/>
                </a:solidFill>
                <a:latin typeface="Aptos"/>
                <a:ea typeface="Aptos"/>
              </a:rPr>
              <a:t>• </a:t>
            </a:r>
            <a:r>
              <a:rPr b="0" lang="en-US" sz="670" spc="-1" strike="noStrike">
                <a:solidFill>
                  <a:srgbClr val="111827"/>
                </a:solidFill>
                <a:latin typeface="Aptos"/>
                <a:ea typeface="Aptos"/>
              </a:rPr>
              <a:t>RAG práctico: documentos, chunking, embeddings, retriever y respuesta con fuentes.</a:t>
            </a:r>
            <a:endParaRPr b="0" lang="es-ES" sz="67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70" spc="-1" strike="noStrike">
                <a:solidFill>
                  <a:srgbClr val="111827"/>
                </a:solidFill>
                <a:latin typeface="Aptos"/>
                <a:ea typeface="Aptos"/>
              </a:rPr>
              <a:t>• </a:t>
            </a:r>
            <a:r>
              <a:rPr b="0" lang="en-US" sz="670" spc="-1" strike="noStrike">
                <a:solidFill>
                  <a:srgbClr val="111827"/>
                </a:solidFill>
                <a:latin typeface="Aptos"/>
                <a:ea typeface="Aptos"/>
              </a:rPr>
              <a:t>Tools, memoria, backend mínimo y patrones de aplicación.</a:t>
            </a:r>
            <a:endParaRPr b="0" lang="es-ES" sz="67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70" spc="-1" strike="noStrike">
                <a:solidFill>
                  <a:srgbClr val="111827"/>
                </a:solidFill>
                <a:latin typeface="Aptos"/>
                <a:ea typeface="Aptos"/>
              </a:rPr>
              <a:t>• </a:t>
            </a:r>
            <a:r>
              <a:rPr b="0" lang="en-US" sz="670" spc="-1" strike="noStrike">
                <a:solidFill>
                  <a:srgbClr val="111827"/>
                </a:solidFill>
                <a:latin typeface="Aptos"/>
                <a:ea typeface="Aptos"/>
              </a:rPr>
              <a:t>Costos, latencia, observabilidad y evaluación con casos reales.</a:t>
            </a:r>
            <a:endParaRPr b="0" lang="es-ES" sz="67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70" spc="-1" strike="noStrike">
                <a:solidFill>
                  <a:srgbClr val="111827"/>
                </a:solidFill>
                <a:latin typeface="Aptos"/>
                <a:ea typeface="Aptos"/>
              </a:rPr>
              <a:t>• </a:t>
            </a:r>
            <a:r>
              <a:rPr b="0" lang="en-US" sz="670" spc="-1" strike="noStrike">
                <a:solidFill>
                  <a:srgbClr val="111827"/>
                </a:solidFill>
                <a:latin typeface="Aptos"/>
                <a:ea typeface="Aptos"/>
              </a:rPr>
              <a:t>Preparación directa para la actividad integradora.</a:t>
            </a:r>
            <a:endParaRPr b="0" lang="es-ES" sz="6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 15"/>
          <p:cNvSpPr/>
          <p:nvPr/>
        </p:nvSpPr>
        <p:spPr>
          <a:xfrm>
            <a:off x="2560320" y="4983480"/>
            <a:ext cx="703872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50" spc="-1" strike="noStrike">
                <a:solidFill>
                  <a:srgbClr val="64748b"/>
                </a:solidFill>
                <a:latin typeface="Aptos"/>
                <a:ea typeface="Aptos"/>
              </a:rPr>
              <a:t>Meta de las clases 3 y 4: pensar como diseñadores de aplicaciones IA, no solo como usuarios de herramientas.</a:t>
            </a:r>
            <a:endParaRPr b="0" lang="es-ES" sz="6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Image 1" descr="/mnt/data/LOGOUSACH.png"/>
          <p:cNvPicPr/>
          <p:nvPr/>
        </p:nvPicPr>
        <p:blipFill>
          <a:blip r:embed="rId1"/>
          <a:stretch/>
        </p:blipFill>
        <p:spPr>
          <a:xfrm>
            <a:off x="255960" y="164520"/>
            <a:ext cx="291240" cy="309600"/>
          </a:xfrm>
          <a:prstGeom prst="rect">
            <a:avLst/>
          </a:prstGeom>
          <a:ln w="0">
            <a:noFill/>
          </a:ln>
        </p:spPr>
      </p:pic>
      <p:sp>
        <p:nvSpPr>
          <p:cNvPr id="132" name="Text 23"/>
          <p:cNvSpPr/>
          <p:nvPr/>
        </p:nvSpPr>
        <p:spPr>
          <a:xfrm>
            <a:off x="548640" y="6382440"/>
            <a:ext cx="4936680" cy="10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s-ES" sz="520" spc="-1" strike="noStrike">
                <a:solidFill>
                  <a:srgbClr val="505f6e"/>
                </a:solidFill>
                <a:latin typeface="Aptos"/>
              </a:rPr>
              <a:t>Diplomado Ejecutivo en Confianza Digital, IA y Automatización Empresarial 1 - 2026 · Módulo 1</a:t>
            </a:r>
            <a:endParaRPr b="0" lang="es-ES" sz="5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Shape 3"/>
          <p:cNvSpPr/>
          <p:nvPr/>
        </p:nvSpPr>
        <p:spPr>
          <a:xfrm>
            <a:off x="255960" y="566640"/>
            <a:ext cx="11658960" cy="360"/>
          </a:xfrm>
          <a:prstGeom prst="line">
            <a:avLst/>
          </a:prstGeom>
          <a:ln w="1016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 28"/>
          <p:cNvSpPr/>
          <p:nvPr/>
        </p:nvSpPr>
        <p:spPr>
          <a:xfrm>
            <a:off x="11411640" y="6346080"/>
            <a:ext cx="309960" cy="10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ptos"/>
              </a:rPr>
              <a:t>06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 37"/>
          <p:cNvSpPr/>
          <p:nvPr/>
        </p:nvSpPr>
        <p:spPr>
          <a:xfrm>
            <a:off x="951120" y="274320"/>
            <a:ext cx="932580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>
              <a:lnSpc>
                <a:spcPct val="100000"/>
              </a:lnSpc>
            </a:pPr>
            <a:r>
              <a:rPr b="1" lang="es-ES" sz="1900" spc="-1" strike="noStrike">
                <a:solidFill>
                  <a:srgbClr val="141e2d"/>
                </a:solidFill>
                <a:latin typeface="Aptos"/>
              </a:rPr>
              <a:t>Evaluación integradora del módulo</a:t>
            </a:r>
            <a:endParaRPr b="0" lang="es-E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 43"/>
          <p:cNvSpPr/>
          <p:nvPr/>
        </p:nvSpPr>
        <p:spPr>
          <a:xfrm>
            <a:off x="951120" y="649080"/>
            <a:ext cx="914292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1666"/>
          </a:bodyPr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ptos"/>
              </a:rPr>
              <a:t>La Clase 5 junta las actividades previas y las aplica a un caso nuevo.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37" name="Table 2"/>
          <p:cNvGraphicFramePr/>
          <p:nvPr/>
        </p:nvGraphicFramePr>
        <p:xfrm>
          <a:off x="822960" y="1389960"/>
          <a:ext cx="10515240" cy="3244320"/>
        </p:xfrm>
        <a:graphic>
          <a:graphicData uri="http://schemas.openxmlformats.org/drawingml/2006/table">
            <a:tbl>
              <a:tblPr/>
              <a:tblGrid>
                <a:gridCol w="1371600"/>
                <a:gridCol w="3657600"/>
                <a:gridCol w="5486400"/>
              </a:tblGrid>
              <a:tr h="540720">
                <a:tc>
                  <a:txBody>
                    <a:bodyPr lIns="73080" rIns="54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s-ES" sz="135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Clase</a:t>
                      </a:r>
                      <a:endParaRPr b="0" lang="es-ES" sz="13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73080" marR="54720">
                    <a:lnL w="8640">
                      <a:solidFill>
                        <a:srgbClr val="d1d5db"/>
                      </a:solidFill>
                      <a:prstDash val="solid"/>
                    </a:lnL>
                    <a:lnR w="8640">
                      <a:solidFill>
                        <a:srgbClr val="d1d5db"/>
                      </a:solidFill>
                      <a:prstDash val="solid"/>
                    </a:lnR>
                    <a:lnT w="8640">
                      <a:solidFill>
                        <a:srgbClr val="d1d5db"/>
                      </a:solidFill>
                      <a:prstDash val="solid"/>
                    </a:lnT>
                    <a:lnB w="8640">
                      <a:solidFill>
                        <a:srgbClr val="d1d5db"/>
                      </a:solidFill>
                      <a:prstDash val="solid"/>
                    </a:lnB>
                    <a:solidFill>
                      <a:srgbClr val="193750"/>
                    </a:solidFill>
                  </a:tcPr>
                </a:tc>
                <a:tc>
                  <a:txBody>
                    <a:bodyPr lIns="73080" rIns="54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s-ES" sz="135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Lo practicado</a:t>
                      </a:r>
                      <a:endParaRPr b="0" lang="es-ES" sz="13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73080" marR="54720">
                    <a:lnL w="8640">
                      <a:solidFill>
                        <a:srgbClr val="d1d5db"/>
                      </a:solidFill>
                      <a:prstDash val="solid"/>
                    </a:lnL>
                    <a:lnR w="8640">
                      <a:solidFill>
                        <a:srgbClr val="d1d5db"/>
                      </a:solidFill>
                      <a:prstDash val="solid"/>
                    </a:lnR>
                    <a:lnT w="8640">
                      <a:solidFill>
                        <a:srgbClr val="d1d5db"/>
                      </a:solidFill>
                      <a:prstDash val="solid"/>
                    </a:lnT>
                    <a:lnB w="8640">
                      <a:solidFill>
                        <a:srgbClr val="d1d5db"/>
                      </a:solidFill>
                      <a:prstDash val="solid"/>
                    </a:lnB>
                    <a:solidFill>
                      <a:srgbClr val="193750"/>
                    </a:solidFill>
                  </a:tcPr>
                </a:tc>
                <a:tc>
                  <a:txBody>
                    <a:bodyPr lIns="73080" rIns="54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s-ES" sz="135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En Clase 5 se integra como</a:t>
                      </a:r>
                      <a:endParaRPr b="0" lang="es-ES" sz="13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73080" marR="54720">
                    <a:lnL w="8640">
                      <a:solidFill>
                        <a:srgbClr val="d1d5db"/>
                      </a:solidFill>
                      <a:prstDash val="solid"/>
                    </a:lnL>
                    <a:lnR w="8640">
                      <a:solidFill>
                        <a:srgbClr val="d1d5db"/>
                      </a:solidFill>
                      <a:prstDash val="solid"/>
                    </a:lnR>
                    <a:lnT w="8640">
                      <a:solidFill>
                        <a:srgbClr val="d1d5db"/>
                      </a:solidFill>
                      <a:prstDash val="solid"/>
                    </a:lnT>
                    <a:lnB w="8640">
                      <a:solidFill>
                        <a:srgbClr val="d1d5db"/>
                      </a:solidFill>
                      <a:prstDash val="solid"/>
                    </a:lnB>
                    <a:solidFill>
                      <a:srgbClr val="193750"/>
                    </a:solidFill>
                  </a:tcPr>
                </a:tc>
              </a:tr>
              <a:tr h="540720">
                <a:tc>
                  <a:txBody>
                    <a:bodyPr lIns="73080" rIns="54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s-ES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Clase 1</a:t>
                      </a:r>
                      <a:endParaRPr b="0" lang="es-E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73080" marR="54720">
                    <a:lnL w="8640">
                      <a:solidFill>
                        <a:srgbClr val="d1d5db"/>
                      </a:solidFill>
                      <a:prstDash val="solid"/>
                    </a:lnL>
                    <a:lnR w="8640">
                      <a:solidFill>
                        <a:srgbClr val="d1d5db"/>
                      </a:solidFill>
                      <a:prstDash val="solid"/>
                    </a:lnR>
                    <a:lnT w="8640">
                      <a:solidFill>
                        <a:srgbClr val="d1d5db"/>
                      </a:solidFill>
                      <a:prstDash val="solid"/>
                    </a:lnT>
                    <a:lnB w="8640">
                      <a:solidFill>
                        <a:srgbClr val="d1d5d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73080" rIns="54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s-ES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Oportunidad de uso LLM</a:t>
                      </a:r>
                      <a:endParaRPr b="0" lang="es-E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73080" marR="54720">
                    <a:lnL w="8640">
                      <a:solidFill>
                        <a:srgbClr val="d1d5db"/>
                      </a:solidFill>
                      <a:prstDash val="solid"/>
                    </a:lnL>
                    <a:lnR w="8640">
                      <a:solidFill>
                        <a:srgbClr val="d1d5db"/>
                      </a:solidFill>
                      <a:prstDash val="solid"/>
                    </a:lnR>
                    <a:lnT w="8640">
                      <a:solidFill>
                        <a:srgbClr val="d1d5db"/>
                      </a:solidFill>
                      <a:prstDash val="solid"/>
                    </a:lnT>
                    <a:lnB w="8640">
                      <a:solidFill>
                        <a:srgbClr val="d1d5d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73080" rIns="54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s-ES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Problema, usuario, input, output y riesgo principal</a:t>
                      </a:r>
                      <a:endParaRPr b="0" lang="es-E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73080" marR="54720">
                    <a:lnL w="8640">
                      <a:solidFill>
                        <a:srgbClr val="d1d5db"/>
                      </a:solidFill>
                      <a:prstDash val="solid"/>
                    </a:lnL>
                    <a:lnR w="8640">
                      <a:solidFill>
                        <a:srgbClr val="d1d5db"/>
                      </a:solidFill>
                      <a:prstDash val="solid"/>
                    </a:lnR>
                    <a:lnT w="8640">
                      <a:solidFill>
                        <a:srgbClr val="d1d5db"/>
                      </a:solidFill>
                      <a:prstDash val="solid"/>
                    </a:lnT>
                    <a:lnB w="8640">
                      <a:solidFill>
                        <a:srgbClr val="d1d5d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540720">
                <a:tc>
                  <a:txBody>
                    <a:bodyPr lIns="73080" rIns="54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s-ES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Clase 2</a:t>
                      </a:r>
                      <a:endParaRPr b="0" lang="es-E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73080" marR="54720">
                    <a:lnL w="8640">
                      <a:solidFill>
                        <a:srgbClr val="d1d5db"/>
                      </a:solidFill>
                      <a:prstDash val="solid"/>
                    </a:lnL>
                    <a:lnR w="8640">
                      <a:solidFill>
                        <a:srgbClr val="d1d5db"/>
                      </a:solidFill>
                      <a:prstDash val="solid"/>
                    </a:lnR>
                    <a:lnT w="8640">
                      <a:solidFill>
                        <a:srgbClr val="d1d5db"/>
                      </a:solidFill>
                      <a:prstDash val="solid"/>
                    </a:lnT>
                    <a:lnB w="864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54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s-ES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Diseño operativo de integración</a:t>
                      </a:r>
                      <a:endParaRPr b="0" lang="es-E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73080" marR="54720">
                    <a:lnL w="8640">
                      <a:solidFill>
                        <a:srgbClr val="d1d5db"/>
                      </a:solidFill>
                      <a:prstDash val="solid"/>
                    </a:lnL>
                    <a:lnR w="8640">
                      <a:solidFill>
                        <a:srgbClr val="d1d5db"/>
                      </a:solidFill>
                      <a:prstDash val="solid"/>
                    </a:lnR>
                    <a:lnT w="8640">
                      <a:solidFill>
                        <a:srgbClr val="d1d5db"/>
                      </a:solidFill>
                      <a:prstDash val="solid"/>
                    </a:lnT>
                    <a:lnB w="864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54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s-ES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Modelo, tipo de sistema, prompt y control operativo</a:t>
                      </a:r>
                      <a:endParaRPr b="0" lang="es-E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73080" marR="54720">
                    <a:lnL w="8640">
                      <a:solidFill>
                        <a:srgbClr val="d1d5db"/>
                      </a:solidFill>
                      <a:prstDash val="solid"/>
                    </a:lnL>
                    <a:lnR w="8640">
                      <a:solidFill>
                        <a:srgbClr val="d1d5db"/>
                      </a:solidFill>
                      <a:prstDash val="solid"/>
                    </a:lnR>
                    <a:lnT w="8640">
                      <a:solidFill>
                        <a:srgbClr val="d1d5db"/>
                      </a:solidFill>
                      <a:prstDash val="solid"/>
                    </a:lnT>
                    <a:lnB w="864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0720">
                <a:tc>
                  <a:txBody>
                    <a:bodyPr lIns="73080" rIns="54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s-ES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Clase 3</a:t>
                      </a:r>
                      <a:endParaRPr b="0" lang="es-E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73080" marR="54720">
                    <a:lnL w="8640">
                      <a:solidFill>
                        <a:srgbClr val="d1d5db"/>
                      </a:solidFill>
                      <a:prstDash val="solid"/>
                    </a:lnL>
                    <a:lnR w="8640">
                      <a:solidFill>
                        <a:srgbClr val="d1d5db"/>
                      </a:solidFill>
                      <a:prstDash val="solid"/>
                    </a:lnR>
                    <a:lnT w="8640">
                      <a:solidFill>
                        <a:srgbClr val="d1d5db"/>
                      </a:solidFill>
                      <a:prstDash val="solid"/>
                    </a:lnT>
                    <a:lnB w="8640">
                      <a:solidFill>
                        <a:srgbClr val="d1d5d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73080" rIns="54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s-ES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Diseño de flujo LangChain</a:t>
                      </a:r>
                      <a:endParaRPr b="0" lang="es-E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73080" marR="54720">
                    <a:lnL w="8640">
                      <a:solidFill>
                        <a:srgbClr val="d1d5db"/>
                      </a:solidFill>
                      <a:prstDash val="solid"/>
                    </a:lnL>
                    <a:lnR w="8640">
                      <a:solidFill>
                        <a:srgbClr val="d1d5db"/>
                      </a:solidFill>
                      <a:prstDash val="solid"/>
                    </a:lnR>
                    <a:lnT w="8640">
                      <a:solidFill>
                        <a:srgbClr val="d1d5db"/>
                      </a:solidFill>
                      <a:prstDash val="solid"/>
                    </a:lnT>
                    <a:lnB w="8640">
                      <a:solidFill>
                        <a:srgbClr val="d1d5d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73080" rIns="54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s-ES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Flujo, componentes, tipo de flujo y punto de control</a:t>
                      </a:r>
                      <a:endParaRPr b="0" lang="es-E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73080" marR="54720">
                    <a:lnL w="8640">
                      <a:solidFill>
                        <a:srgbClr val="d1d5db"/>
                      </a:solidFill>
                      <a:prstDash val="solid"/>
                    </a:lnL>
                    <a:lnR w="8640">
                      <a:solidFill>
                        <a:srgbClr val="d1d5db"/>
                      </a:solidFill>
                      <a:prstDash val="solid"/>
                    </a:lnR>
                    <a:lnT w="8640">
                      <a:solidFill>
                        <a:srgbClr val="d1d5db"/>
                      </a:solidFill>
                      <a:prstDash val="solid"/>
                    </a:lnT>
                    <a:lnB w="8640">
                      <a:solidFill>
                        <a:srgbClr val="d1d5d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540720">
                <a:tc>
                  <a:txBody>
                    <a:bodyPr lIns="73080" rIns="54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s-ES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Clase 4</a:t>
                      </a:r>
                      <a:endParaRPr b="0" lang="es-E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73080" marR="54720">
                    <a:lnL w="8640">
                      <a:solidFill>
                        <a:srgbClr val="d1d5db"/>
                      </a:solidFill>
                      <a:prstDash val="solid"/>
                    </a:lnL>
                    <a:lnR w="8640">
                      <a:solidFill>
                        <a:srgbClr val="d1d5db"/>
                      </a:solidFill>
                      <a:prstDash val="solid"/>
                    </a:lnR>
                    <a:lnT w="8640">
                      <a:solidFill>
                        <a:srgbClr val="d1d5db"/>
                      </a:solidFill>
                      <a:prstDash val="solid"/>
                    </a:lnT>
                    <a:lnB w="864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54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s-ES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Aplicación práctica</a:t>
                      </a:r>
                      <a:endParaRPr b="0" lang="es-E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73080" marR="54720">
                    <a:lnL w="8640">
                      <a:solidFill>
                        <a:srgbClr val="d1d5db"/>
                      </a:solidFill>
                      <a:prstDash val="solid"/>
                    </a:lnL>
                    <a:lnR w="8640">
                      <a:solidFill>
                        <a:srgbClr val="d1d5db"/>
                      </a:solidFill>
                      <a:prstDash val="solid"/>
                    </a:lnR>
                    <a:lnT w="8640">
                      <a:solidFill>
                        <a:srgbClr val="d1d5db"/>
                      </a:solidFill>
                      <a:prstDash val="solid"/>
                    </a:lnT>
                    <a:lnB w="864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54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s-ES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Datos/fuentes, evaluación mínima, piloto y autonomía</a:t>
                      </a:r>
                      <a:endParaRPr b="0" lang="es-E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73080" marR="54720">
                    <a:lnL w="8640">
                      <a:solidFill>
                        <a:srgbClr val="d1d5db"/>
                      </a:solidFill>
                      <a:prstDash val="solid"/>
                    </a:lnL>
                    <a:lnR w="8640">
                      <a:solidFill>
                        <a:srgbClr val="d1d5db"/>
                      </a:solidFill>
                      <a:prstDash val="solid"/>
                    </a:lnR>
                    <a:lnT w="8640">
                      <a:solidFill>
                        <a:srgbClr val="d1d5db"/>
                      </a:solidFill>
                      <a:prstDash val="solid"/>
                    </a:lnT>
                    <a:lnB w="864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0720">
                <a:tc>
                  <a:txBody>
                    <a:bodyPr lIns="73080" rIns="54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s-ES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Clase 5</a:t>
                      </a:r>
                      <a:endParaRPr b="0" lang="es-E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73080" marR="54720">
                    <a:lnL w="8640">
                      <a:solidFill>
                        <a:srgbClr val="d1d5db"/>
                      </a:solidFill>
                      <a:prstDash val="solid"/>
                    </a:lnL>
                    <a:lnR w="8640">
                      <a:solidFill>
                        <a:srgbClr val="d1d5db"/>
                      </a:solidFill>
                      <a:prstDash val="solid"/>
                    </a:lnR>
                    <a:lnT w="8640">
                      <a:solidFill>
                        <a:srgbClr val="d1d5db"/>
                      </a:solidFill>
                      <a:prstDash val="solid"/>
                    </a:lnT>
                    <a:lnB w="8640">
                      <a:solidFill>
                        <a:srgbClr val="d1d5d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73080" rIns="54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s-ES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Evaluación integradora</a:t>
                      </a:r>
                      <a:endParaRPr b="0" lang="es-E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73080" marR="54720">
                    <a:lnL w="8640">
                      <a:solidFill>
                        <a:srgbClr val="d1d5db"/>
                      </a:solidFill>
                      <a:prstDash val="solid"/>
                    </a:lnL>
                    <a:lnR w="8640">
                      <a:solidFill>
                        <a:srgbClr val="d1d5db"/>
                      </a:solidFill>
                      <a:prstDash val="solid"/>
                    </a:lnR>
                    <a:lnT w="8640">
                      <a:solidFill>
                        <a:srgbClr val="d1d5db"/>
                      </a:solidFill>
                      <a:prstDash val="solid"/>
                    </a:lnT>
                    <a:lnB w="8640">
                      <a:solidFill>
                        <a:srgbClr val="d1d5d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73080" rIns="54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s-ES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Aplicar todo a un caso nuevo, simple y defendible</a:t>
                      </a:r>
                      <a:endParaRPr b="0" lang="es-E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73080" marR="54720">
                    <a:lnL w="8640">
                      <a:solidFill>
                        <a:srgbClr val="d1d5db"/>
                      </a:solidFill>
                      <a:prstDash val="solid"/>
                    </a:lnL>
                    <a:lnR w="8640">
                      <a:solidFill>
                        <a:srgbClr val="d1d5db"/>
                      </a:solidFill>
                      <a:prstDash val="solid"/>
                    </a:lnR>
                    <a:lnT w="8640">
                      <a:solidFill>
                        <a:srgbClr val="d1d5db"/>
                      </a:solidFill>
                      <a:prstDash val="solid"/>
                    </a:lnT>
                    <a:lnB w="8640">
                      <a:solidFill>
                        <a:srgbClr val="d1d5d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38" name="Rectangle 274"/>
          <p:cNvSpPr/>
          <p:nvPr/>
        </p:nvSpPr>
        <p:spPr>
          <a:xfrm>
            <a:off x="155520" y="0"/>
            <a:ext cx="26280" cy="6856920"/>
          </a:xfrm>
          <a:prstGeom prst="rect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39" name="Rectangle 275"/>
          <p:cNvSpPr/>
          <p:nvPr/>
        </p:nvSpPr>
        <p:spPr>
          <a:xfrm>
            <a:off x="155520" y="4983480"/>
            <a:ext cx="26280" cy="1873440"/>
          </a:xfrm>
          <a:prstGeom prst="rect">
            <a:avLst/>
          </a:prstGeom>
          <a:solidFill>
            <a:srgbClr val="f5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hape 0"/>
          <p:cNvSpPr/>
          <p:nvPr/>
        </p:nvSpPr>
        <p:spPr>
          <a:xfrm>
            <a:off x="164520" y="0"/>
            <a:ext cx="34560" cy="6855840"/>
          </a:xfrm>
          <a:prstGeom prst="rect">
            <a:avLst/>
          </a:prstGeom>
          <a:solidFill>
            <a:srgbClr val="009a9a"/>
          </a:solidFill>
          <a:ln w="12700">
            <a:solidFill>
              <a:srgbClr val="009a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Shape 1"/>
          <p:cNvSpPr/>
          <p:nvPr/>
        </p:nvSpPr>
        <p:spPr>
          <a:xfrm>
            <a:off x="164520" y="4983480"/>
            <a:ext cx="34560" cy="1872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2" name="Image 0" descr="/mnt/data/logousachsinBG(1).png"/>
          <p:cNvPicPr/>
          <p:nvPr/>
        </p:nvPicPr>
        <p:blipFill>
          <a:blip r:embed="rId1">
            <a:alphaModFix amt="95000"/>
          </a:blip>
          <a:stretch/>
        </p:blipFill>
        <p:spPr>
          <a:xfrm>
            <a:off x="567000" y="311040"/>
            <a:ext cx="290520" cy="290520"/>
          </a:xfrm>
          <a:prstGeom prst="rect">
            <a:avLst/>
          </a:prstGeom>
          <a:ln w="0">
            <a:noFill/>
          </a:ln>
        </p:spPr>
      </p:pic>
      <p:sp>
        <p:nvSpPr>
          <p:cNvPr id="143" name="Text 2"/>
          <p:cNvSpPr/>
          <p:nvPr/>
        </p:nvSpPr>
        <p:spPr>
          <a:xfrm>
            <a:off x="11411640" y="6346080"/>
            <a:ext cx="308880" cy="10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ptos"/>
              </a:rPr>
              <a:t>07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 3"/>
          <p:cNvSpPr/>
          <p:nvPr/>
        </p:nvSpPr>
        <p:spPr>
          <a:xfrm>
            <a:off x="548640" y="6382440"/>
            <a:ext cx="4935600" cy="10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540" spc="-1" strike="noStrike">
                <a:solidFill>
                  <a:srgbClr val="64748b"/>
                </a:solidFill>
                <a:latin typeface="Aptos"/>
                <a:ea typeface="Aptos"/>
              </a:rPr>
              <a:t>Diplomado Ejecutivo en Confianza Digital, IA y Automatización Empresarial 1 - 2026 · Módulo 1</a:t>
            </a:r>
            <a:endParaRPr b="0" lang="es-ES" sz="5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 4"/>
          <p:cNvSpPr/>
          <p:nvPr/>
        </p:nvSpPr>
        <p:spPr>
          <a:xfrm>
            <a:off x="951120" y="274320"/>
            <a:ext cx="932472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50" spc="-1" strike="noStrike">
                <a:solidFill>
                  <a:srgbClr val="111827"/>
                </a:solidFill>
                <a:latin typeface="Aptos Display"/>
                <a:ea typeface="Aptos Display"/>
              </a:rPr>
              <a:t>Clase 5 · Actividad aplicada evaluada</a:t>
            </a:r>
            <a:endParaRPr b="0" lang="es-E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 5"/>
          <p:cNvSpPr/>
          <p:nvPr/>
        </p:nvSpPr>
        <p:spPr>
          <a:xfrm>
            <a:off x="951120" y="649080"/>
            <a:ext cx="914184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ptos"/>
              </a:rPr>
              <a:t>La última sesión integrará las actividades de las clases 1 a 4 en un caso nuevo.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Shape 6"/>
          <p:cNvSpPr/>
          <p:nvPr/>
        </p:nvSpPr>
        <p:spPr>
          <a:xfrm>
            <a:off x="566640" y="877680"/>
            <a:ext cx="10058400" cy="360"/>
          </a:xfrm>
          <a:prstGeom prst="line">
            <a:avLst/>
          </a:prstGeom>
          <a:ln w="6985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Shape 7"/>
          <p:cNvSpPr/>
          <p:nvPr/>
        </p:nvSpPr>
        <p:spPr>
          <a:xfrm>
            <a:off x="1097280" y="1417320"/>
            <a:ext cx="2832480" cy="2329560"/>
          </a:xfrm>
          <a:prstGeom prst="roundRect">
            <a:avLst>
              <a:gd name="adj" fmla="val 1569"/>
            </a:avLst>
          </a:prstGeom>
          <a:solidFill>
            <a:srgbClr val="e8f6f4"/>
          </a:solidFill>
          <a:ln w="7620">
            <a:solidFill>
              <a:srgbClr val="d7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Shape 8"/>
          <p:cNvSpPr/>
          <p:nvPr/>
        </p:nvSpPr>
        <p:spPr>
          <a:xfrm>
            <a:off x="1115640" y="1435680"/>
            <a:ext cx="38880" cy="2292840"/>
          </a:xfrm>
          <a:prstGeom prst="rect">
            <a:avLst/>
          </a:prstGeom>
          <a:solidFill>
            <a:srgbClr val="009a9a"/>
          </a:solidFill>
          <a:ln w="12700">
            <a:solidFill>
              <a:srgbClr val="009a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Text 9"/>
          <p:cNvSpPr/>
          <p:nvPr/>
        </p:nvSpPr>
        <p:spPr>
          <a:xfrm>
            <a:off x="1261800" y="1581840"/>
            <a:ext cx="25124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20" spc="-1" strike="noStrike">
                <a:solidFill>
                  <a:srgbClr val="111827"/>
                </a:solidFill>
                <a:latin typeface="Aptos"/>
                <a:ea typeface="Aptos"/>
              </a:rPr>
              <a:t>Qué se hará</a:t>
            </a:r>
            <a:endParaRPr b="0" lang="es-ES" sz="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 10"/>
          <p:cNvSpPr/>
          <p:nvPr/>
        </p:nvSpPr>
        <p:spPr>
          <a:xfrm>
            <a:off x="1261800" y="1993320"/>
            <a:ext cx="2512440" cy="161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>
              <a:lnSpc>
                <a:spcPct val="100000"/>
              </a:lnSpc>
            </a:pPr>
            <a:r>
              <a:rPr b="0" lang="es-ES" sz="1430" spc="-1" strike="noStrike">
                <a:solidFill>
                  <a:srgbClr val="000000"/>
                </a:solidFill>
                <a:latin typeface="Aptos"/>
              </a:rPr>
              <a:t>Diseñar una mini solución LLM aplicada a un proceso real, distinto al caso usado durante las actividades previas. No se exigirá construir backend completo ni pagar créditos de APIs.</a:t>
            </a:r>
            <a:endParaRPr b="0" lang="es-ES" sz="14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Shape 11"/>
          <p:cNvSpPr/>
          <p:nvPr/>
        </p:nvSpPr>
        <p:spPr>
          <a:xfrm>
            <a:off x="4572000" y="1417320"/>
            <a:ext cx="2832480" cy="2329560"/>
          </a:xfrm>
          <a:prstGeom prst="roundRect">
            <a:avLst>
              <a:gd name="adj" fmla="val 1569"/>
            </a:avLst>
          </a:prstGeom>
          <a:solidFill>
            <a:srgbClr val="eaf2fb"/>
          </a:solidFill>
          <a:ln w="7620">
            <a:solidFill>
              <a:srgbClr val="d7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Shape 12"/>
          <p:cNvSpPr/>
          <p:nvPr/>
        </p:nvSpPr>
        <p:spPr>
          <a:xfrm>
            <a:off x="4590360" y="1435680"/>
            <a:ext cx="38880" cy="2292840"/>
          </a:xfrm>
          <a:prstGeom prst="rect">
            <a:avLst/>
          </a:prstGeom>
          <a:solidFill>
            <a:srgbClr val="1f5e8c"/>
          </a:solidFill>
          <a:ln w="12700">
            <a:solidFill>
              <a:srgbClr val="1f5e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Text 13"/>
          <p:cNvSpPr/>
          <p:nvPr/>
        </p:nvSpPr>
        <p:spPr>
          <a:xfrm>
            <a:off x="4736520" y="1581840"/>
            <a:ext cx="25124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20" spc="-1" strike="noStrike">
                <a:solidFill>
                  <a:srgbClr val="111827"/>
                </a:solidFill>
                <a:latin typeface="Aptos"/>
                <a:ea typeface="Aptos"/>
              </a:rPr>
              <a:t>Qué deberá incluir</a:t>
            </a:r>
            <a:endParaRPr b="0" lang="es-ES" sz="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 14"/>
          <p:cNvSpPr/>
          <p:nvPr/>
        </p:nvSpPr>
        <p:spPr>
          <a:xfrm>
            <a:off x="4736520" y="1993320"/>
            <a:ext cx="2512440" cy="161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>
              <a:lnSpc>
                <a:spcPct val="100000"/>
              </a:lnSpc>
            </a:pPr>
            <a:r>
              <a:rPr b="0" lang="es-ES" sz="1430" spc="-1" strike="noStrike">
                <a:solidFill>
                  <a:srgbClr val="000000"/>
                </a:solidFill>
                <a:latin typeface="Aptos"/>
              </a:rPr>
              <a:t>Problema, usuario, input/output, modelo, prompt, flujo, datos/fuentes, riesgos, controles, evaluación mínima, autonomía y valor de negocio.</a:t>
            </a:r>
            <a:endParaRPr b="0" lang="es-ES" sz="14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Shape 15"/>
          <p:cNvSpPr/>
          <p:nvPr/>
        </p:nvSpPr>
        <p:spPr>
          <a:xfrm>
            <a:off x="8046720" y="1417320"/>
            <a:ext cx="2832480" cy="2329560"/>
          </a:xfrm>
          <a:prstGeom prst="roundRect">
            <a:avLst>
              <a:gd name="adj" fmla="val 1569"/>
            </a:avLst>
          </a:prstGeom>
          <a:solidFill>
            <a:srgbClr val="e8f6f4"/>
          </a:solidFill>
          <a:ln w="7620">
            <a:solidFill>
              <a:srgbClr val="d7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Shape 16"/>
          <p:cNvSpPr/>
          <p:nvPr/>
        </p:nvSpPr>
        <p:spPr>
          <a:xfrm>
            <a:off x="8065080" y="1435680"/>
            <a:ext cx="38880" cy="2292840"/>
          </a:xfrm>
          <a:prstGeom prst="rect">
            <a:avLst/>
          </a:prstGeom>
          <a:solidFill>
            <a:srgbClr val="009a9a"/>
          </a:solidFill>
          <a:ln w="12700">
            <a:solidFill>
              <a:srgbClr val="009a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Text 17"/>
          <p:cNvSpPr/>
          <p:nvPr/>
        </p:nvSpPr>
        <p:spPr>
          <a:xfrm>
            <a:off x="8211240" y="1581840"/>
            <a:ext cx="25124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20" spc="-1" strike="noStrike">
                <a:solidFill>
                  <a:srgbClr val="111827"/>
                </a:solidFill>
                <a:latin typeface="Aptos"/>
                <a:ea typeface="Aptos"/>
              </a:rPr>
              <a:t>Cómo se evaluará</a:t>
            </a:r>
            <a:endParaRPr b="0" lang="es-ES" sz="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 18"/>
          <p:cNvSpPr/>
          <p:nvPr/>
        </p:nvSpPr>
        <p:spPr>
          <a:xfrm>
            <a:off x="8211240" y="1993320"/>
            <a:ext cx="2512440" cy="161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>
              <a:lnSpc>
                <a:spcPct val="100000"/>
              </a:lnSpc>
            </a:pPr>
            <a:r>
              <a:rPr b="0" lang="es-ES" sz="1430" spc="-1" strike="noStrike">
                <a:solidFill>
                  <a:srgbClr val="000000"/>
                </a:solidFill>
                <a:latin typeface="Aptos"/>
              </a:rPr>
              <a:t>Se evaluará criterio aplicado: coherencia entre problema, arquitectura, datos, controles, métricas y justificación de la decisión técnica.</a:t>
            </a:r>
            <a:endParaRPr b="0" lang="es-ES" sz="14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Shape 19"/>
          <p:cNvSpPr/>
          <p:nvPr/>
        </p:nvSpPr>
        <p:spPr>
          <a:xfrm>
            <a:off x="1097280" y="4343400"/>
            <a:ext cx="9781920" cy="500760"/>
          </a:xfrm>
          <a:prstGeom prst="roundRect">
            <a:avLst>
              <a:gd name="adj" fmla="val 7273"/>
            </a:avLst>
          </a:prstGeom>
          <a:solidFill>
            <a:srgbClr val="fff7ed"/>
          </a:solidFill>
          <a:ln w="889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 20"/>
          <p:cNvSpPr/>
          <p:nvPr/>
        </p:nvSpPr>
        <p:spPr>
          <a:xfrm>
            <a:off x="1325880" y="4517280"/>
            <a:ext cx="9324720" cy="10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s-ES" sz="1450" spc="-1" strike="noStrike">
                <a:solidFill>
                  <a:srgbClr val="000000"/>
                </a:solidFill>
                <a:latin typeface="Aptos"/>
              </a:rPr>
              <a:t>Importante: la actividad será individual y el caso debe ser nuevo; pueden usar el método aprendido, no reciclar el mismo caso.</a:t>
            </a:r>
            <a:endParaRPr b="0" lang="es-ES" sz="14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hape 0"/>
          <p:cNvSpPr/>
          <p:nvPr/>
        </p:nvSpPr>
        <p:spPr>
          <a:xfrm>
            <a:off x="164520" y="0"/>
            <a:ext cx="34560" cy="6855840"/>
          </a:xfrm>
          <a:prstGeom prst="rect">
            <a:avLst/>
          </a:prstGeom>
          <a:solidFill>
            <a:srgbClr val="009a9a"/>
          </a:solidFill>
          <a:ln w="12700">
            <a:solidFill>
              <a:srgbClr val="009a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Shape 1"/>
          <p:cNvSpPr/>
          <p:nvPr/>
        </p:nvSpPr>
        <p:spPr>
          <a:xfrm>
            <a:off x="164520" y="4983480"/>
            <a:ext cx="34560" cy="1872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4" name="Image 0" descr="/mnt/data/logousachsinBG(1).png"/>
          <p:cNvPicPr/>
          <p:nvPr/>
        </p:nvPicPr>
        <p:blipFill>
          <a:blip r:embed="rId1">
            <a:alphaModFix amt="95000"/>
          </a:blip>
          <a:stretch/>
        </p:blipFill>
        <p:spPr>
          <a:xfrm>
            <a:off x="567000" y="311040"/>
            <a:ext cx="290520" cy="290520"/>
          </a:xfrm>
          <a:prstGeom prst="rect">
            <a:avLst/>
          </a:prstGeom>
          <a:ln w="0">
            <a:noFill/>
          </a:ln>
        </p:spPr>
      </p:pic>
      <p:sp>
        <p:nvSpPr>
          <p:cNvPr id="165" name="Text 2"/>
          <p:cNvSpPr/>
          <p:nvPr/>
        </p:nvSpPr>
        <p:spPr>
          <a:xfrm>
            <a:off x="11411640" y="6346080"/>
            <a:ext cx="308880" cy="10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ptos"/>
              </a:rPr>
              <a:t>08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 3"/>
          <p:cNvSpPr/>
          <p:nvPr/>
        </p:nvSpPr>
        <p:spPr>
          <a:xfrm>
            <a:off x="548640" y="6382440"/>
            <a:ext cx="4935600" cy="10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540" spc="-1" strike="noStrike">
                <a:solidFill>
                  <a:srgbClr val="64748b"/>
                </a:solidFill>
                <a:latin typeface="Aptos"/>
                <a:ea typeface="Aptos"/>
              </a:rPr>
              <a:t>Diplomado Ejecutivo en Confianza Digital, IA y Automatización Empresarial 1 - 2026 · Módulo 1</a:t>
            </a:r>
            <a:endParaRPr b="0" lang="es-ES" sz="5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 4"/>
          <p:cNvSpPr/>
          <p:nvPr/>
        </p:nvSpPr>
        <p:spPr>
          <a:xfrm>
            <a:off x="951120" y="274320"/>
            <a:ext cx="932472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50" spc="-1" strike="noStrike">
                <a:solidFill>
                  <a:srgbClr val="111827"/>
                </a:solidFill>
                <a:latin typeface="Aptos Display"/>
                <a:ea typeface="Aptos Display"/>
              </a:rPr>
              <a:t>Evaluación del módulo</a:t>
            </a:r>
            <a:endParaRPr b="0" lang="es-E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 5"/>
          <p:cNvSpPr/>
          <p:nvPr/>
        </p:nvSpPr>
        <p:spPr>
          <a:xfrm>
            <a:off x="951120" y="649080"/>
            <a:ext cx="914184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ptos"/>
              </a:rPr>
              <a:t>Una actividad individual que integra las cuatro capas trabajadas en el módulo.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Shape 6"/>
          <p:cNvSpPr/>
          <p:nvPr/>
        </p:nvSpPr>
        <p:spPr>
          <a:xfrm>
            <a:off x="566640" y="877680"/>
            <a:ext cx="10058400" cy="360"/>
          </a:xfrm>
          <a:prstGeom prst="line">
            <a:avLst/>
          </a:prstGeom>
          <a:ln w="6985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 7"/>
          <p:cNvSpPr/>
          <p:nvPr/>
        </p:nvSpPr>
        <p:spPr>
          <a:xfrm>
            <a:off x="1234440" y="1115640"/>
            <a:ext cx="959904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ptos"/>
              </a:rPr>
              <a:t>La evaluación no busca usar más tecnología, sino demostrar criterio: elegir una solución simple, segura, medible y defendible para un caso nuevo.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Shape 8"/>
          <p:cNvSpPr/>
          <p:nvPr/>
        </p:nvSpPr>
        <p:spPr>
          <a:xfrm>
            <a:off x="1005840" y="1691640"/>
            <a:ext cx="4524120" cy="2923920"/>
          </a:xfrm>
          <a:prstGeom prst="roundRect">
            <a:avLst>
              <a:gd name="adj" fmla="val 1250"/>
            </a:avLst>
          </a:prstGeom>
          <a:solidFill>
            <a:srgbClr val="e8f6f4"/>
          </a:solidFill>
          <a:ln w="7620">
            <a:solidFill>
              <a:srgbClr val="d7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Shape 9"/>
          <p:cNvSpPr/>
          <p:nvPr/>
        </p:nvSpPr>
        <p:spPr>
          <a:xfrm>
            <a:off x="1024200" y="1710000"/>
            <a:ext cx="38880" cy="2887200"/>
          </a:xfrm>
          <a:prstGeom prst="rect">
            <a:avLst/>
          </a:prstGeom>
          <a:solidFill>
            <a:srgbClr val="009a9a"/>
          </a:solidFill>
          <a:ln w="12700">
            <a:solidFill>
              <a:srgbClr val="009a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Text 10"/>
          <p:cNvSpPr/>
          <p:nvPr/>
        </p:nvSpPr>
        <p:spPr>
          <a:xfrm>
            <a:off x="1170360" y="1856160"/>
            <a:ext cx="42040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s-ES" sz="1850" spc="-1" strike="noStrike">
                <a:solidFill>
                  <a:srgbClr val="000000"/>
                </a:solidFill>
                <a:latin typeface="Aptos"/>
              </a:rPr>
              <a:t>Capa base · Problema e integración LLM</a:t>
            </a:r>
            <a:endParaRPr b="0" lang="es-ES" sz="1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 11"/>
          <p:cNvSpPr/>
          <p:nvPr/>
        </p:nvSpPr>
        <p:spPr>
          <a:xfrm>
            <a:off x="1170360" y="2267640"/>
            <a:ext cx="4204080" cy="22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>
              <a:lnSpc>
                <a:spcPct val="100000"/>
              </a:lnSpc>
            </a:pPr>
            <a:r>
              <a:rPr b="0" lang="es-ES" sz="1350" spc="-1" strike="noStrike">
                <a:solidFill>
                  <a:srgbClr val="000000"/>
                </a:solidFill>
                <a:latin typeface="Aptos"/>
              </a:rPr>
              <a:t>• </a:t>
            </a:r>
            <a:r>
              <a:rPr b="0" lang="es-ES" sz="1350" spc="-1" strike="noStrike">
                <a:solidFill>
                  <a:srgbClr val="000000"/>
                </a:solidFill>
                <a:latin typeface="Aptos"/>
              </a:rPr>
              <a:t>Caso de negocio nuevo y usuario objetivo.</a:t>
            </a:r>
            <a:endParaRPr b="0" lang="es-ES" sz="13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350" spc="-1" strike="noStrike">
                <a:solidFill>
                  <a:srgbClr val="000000"/>
                </a:solidFill>
                <a:latin typeface="Aptos"/>
              </a:rPr>
              <a:t>• </a:t>
            </a:r>
            <a:r>
              <a:rPr b="0" lang="es-ES" sz="1350" spc="-1" strike="noStrike">
                <a:solidFill>
                  <a:srgbClr val="000000"/>
                </a:solidFill>
                <a:latin typeface="Aptos"/>
              </a:rPr>
              <a:t>Proceso, dolor actual, frecuencia y valor esperado.</a:t>
            </a:r>
            <a:endParaRPr b="0" lang="es-ES" sz="13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350" spc="-1" strike="noStrike">
                <a:solidFill>
                  <a:srgbClr val="000000"/>
                </a:solidFill>
                <a:latin typeface="Aptos"/>
              </a:rPr>
              <a:t>• </a:t>
            </a:r>
            <a:r>
              <a:rPr b="0" lang="es-ES" sz="1350" spc="-1" strike="noStrike">
                <a:solidFill>
                  <a:srgbClr val="000000"/>
                </a:solidFill>
                <a:latin typeface="Aptos"/>
              </a:rPr>
              <a:t>Input que recibirá la aplicación.</a:t>
            </a:r>
            <a:endParaRPr b="0" lang="es-ES" sz="13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350" spc="-1" strike="noStrike">
                <a:solidFill>
                  <a:srgbClr val="000000"/>
                </a:solidFill>
                <a:latin typeface="Aptos"/>
              </a:rPr>
              <a:t>• </a:t>
            </a:r>
            <a:r>
              <a:rPr b="0" lang="es-ES" sz="1350" spc="-1" strike="noStrike">
                <a:solidFill>
                  <a:srgbClr val="000000"/>
                </a:solidFill>
                <a:latin typeface="Aptos"/>
              </a:rPr>
              <a:t>Prompt base e instrucciones del modelo.</a:t>
            </a:r>
            <a:endParaRPr b="0" lang="es-ES" sz="13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350" spc="-1" strike="noStrike">
                <a:solidFill>
                  <a:srgbClr val="000000"/>
                </a:solidFill>
                <a:latin typeface="Aptos"/>
              </a:rPr>
              <a:t>• </a:t>
            </a:r>
            <a:r>
              <a:rPr b="0" lang="es-ES" sz="1350" spc="-1" strike="noStrike">
                <a:solidFill>
                  <a:srgbClr val="000000"/>
                </a:solidFill>
                <a:latin typeface="Aptos"/>
              </a:rPr>
              <a:t>Output esperado: texto, JSON, tabla o decisión.</a:t>
            </a:r>
            <a:endParaRPr b="0" lang="es-ES" sz="13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350" spc="-1" strike="noStrike">
                <a:solidFill>
                  <a:srgbClr val="000000"/>
                </a:solidFill>
                <a:latin typeface="Aptos"/>
              </a:rPr>
              <a:t>• </a:t>
            </a:r>
            <a:r>
              <a:rPr b="0" lang="es-ES" sz="1350" spc="-1" strike="noStrike">
                <a:solidFill>
                  <a:srgbClr val="000000"/>
                </a:solidFill>
                <a:latin typeface="Aptos"/>
              </a:rPr>
              <a:t>Modelo/proveedor, parámetros y control operativo clave.</a:t>
            </a:r>
            <a:endParaRPr b="0" lang="es-E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Shape 12"/>
          <p:cNvSpPr/>
          <p:nvPr/>
        </p:nvSpPr>
        <p:spPr>
          <a:xfrm>
            <a:off x="6629400" y="1691640"/>
            <a:ext cx="4524120" cy="2923920"/>
          </a:xfrm>
          <a:prstGeom prst="roundRect">
            <a:avLst>
              <a:gd name="adj" fmla="val 1250"/>
            </a:avLst>
          </a:prstGeom>
          <a:solidFill>
            <a:srgbClr val="eaf2fb"/>
          </a:solidFill>
          <a:ln w="7620">
            <a:solidFill>
              <a:srgbClr val="d7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Shape 13"/>
          <p:cNvSpPr/>
          <p:nvPr/>
        </p:nvSpPr>
        <p:spPr>
          <a:xfrm>
            <a:off x="6647760" y="1710000"/>
            <a:ext cx="38880" cy="2887200"/>
          </a:xfrm>
          <a:prstGeom prst="rect">
            <a:avLst/>
          </a:prstGeom>
          <a:solidFill>
            <a:srgbClr val="1f5e8c"/>
          </a:solidFill>
          <a:ln w="12700">
            <a:solidFill>
              <a:srgbClr val="1f5e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Text 14"/>
          <p:cNvSpPr/>
          <p:nvPr/>
        </p:nvSpPr>
        <p:spPr>
          <a:xfrm>
            <a:off x="6793920" y="1856160"/>
            <a:ext cx="42040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s-ES" sz="1850" spc="-1" strike="noStrike">
                <a:solidFill>
                  <a:srgbClr val="000000"/>
                </a:solidFill>
                <a:latin typeface="Aptos"/>
              </a:rPr>
              <a:t>Capa aplicada · Flujo, datos y control</a:t>
            </a:r>
            <a:endParaRPr b="0" lang="es-ES" sz="1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 15"/>
          <p:cNvSpPr/>
          <p:nvPr/>
        </p:nvSpPr>
        <p:spPr>
          <a:xfrm>
            <a:off x="6793920" y="2267640"/>
            <a:ext cx="4204080" cy="22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>
              <a:lnSpc>
                <a:spcPct val="100000"/>
              </a:lnSpc>
            </a:pPr>
            <a:r>
              <a:rPr b="0" lang="es-ES" sz="1350" spc="-1" strike="noStrike">
                <a:solidFill>
                  <a:srgbClr val="000000"/>
                </a:solidFill>
                <a:latin typeface="Aptos"/>
              </a:rPr>
              <a:t>• </a:t>
            </a:r>
            <a:r>
              <a:rPr b="0" lang="es-ES" sz="1350" spc="-1" strike="noStrike">
                <a:solidFill>
                  <a:srgbClr val="000000"/>
                </a:solidFill>
                <a:latin typeface="Aptos"/>
              </a:rPr>
              <a:t>Arquitectura propuesta: API simple, chain, RAG, tool o agente.</a:t>
            </a:r>
            <a:endParaRPr b="0" lang="es-ES" sz="13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350" spc="-1" strike="noStrike">
                <a:solidFill>
                  <a:srgbClr val="000000"/>
                </a:solidFill>
                <a:latin typeface="Aptos"/>
              </a:rPr>
              <a:t>• </a:t>
            </a:r>
            <a:r>
              <a:rPr b="0" lang="es-ES" sz="1350" spc="-1" strike="noStrike">
                <a:solidFill>
                  <a:srgbClr val="000000"/>
                </a:solidFill>
                <a:latin typeface="Aptos"/>
              </a:rPr>
              <a:t>Componentes: prompt, modelo, parser, retriever, vector store o tool.</a:t>
            </a:r>
            <a:endParaRPr b="0" lang="es-ES" sz="13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350" spc="-1" strike="noStrike">
                <a:solidFill>
                  <a:srgbClr val="000000"/>
                </a:solidFill>
                <a:latin typeface="Aptos"/>
              </a:rPr>
              <a:t>• </a:t>
            </a:r>
            <a:r>
              <a:rPr b="0" lang="es-ES" sz="1350" spc="-1" strike="noStrike">
                <a:solidFill>
                  <a:srgbClr val="000000"/>
                </a:solidFill>
                <a:latin typeface="Aptos"/>
              </a:rPr>
              <a:t>Datos/fuentes, permisos, actualización y límites.</a:t>
            </a:r>
            <a:endParaRPr b="0" lang="es-ES" sz="13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350" spc="-1" strike="noStrike">
                <a:solidFill>
                  <a:srgbClr val="000000"/>
                </a:solidFill>
                <a:latin typeface="Aptos"/>
              </a:rPr>
              <a:t>• </a:t>
            </a:r>
            <a:r>
              <a:rPr b="0" lang="es-ES" sz="1350" spc="-1" strike="noStrike">
                <a:solidFill>
                  <a:srgbClr val="000000"/>
                </a:solidFill>
                <a:latin typeface="Aptos"/>
              </a:rPr>
              <a:t>Justificación de usar o no usar RAG/tools/agente.</a:t>
            </a:r>
            <a:endParaRPr b="0" lang="es-ES" sz="13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350" spc="-1" strike="noStrike">
                <a:solidFill>
                  <a:srgbClr val="000000"/>
                </a:solidFill>
                <a:latin typeface="Aptos"/>
              </a:rPr>
              <a:t>• </a:t>
            </a:r>
            <a:r>
              <a:rPr b="0" lang="es-ES" sz="1350" spc="-1" strike="noStrike">
                <a:solidFill>
                  <a:srgbClr val="000000"/>
                </a:solidFill>
                <a:latin typeface="Aptos"/>
              </a:rPr>
              <a:t>Evaluación mínima: caso normal, ambiguo y fuera de alcance.</a:t>
            </a:r>
            <a:endParaRPr b="0" lang="es-ES" sz="13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350" spc="-1" strike="noStrike">
                <a:solidFill>
                  <a:srgbClr val="000000"/>
                </a:solidFill>
                <a:latin typeface="Aptos"/>
              </a:rPr>
              <a:t>• </a:t>
            </a:r>
            <a:r>
              <a:rPr b="0" lang="es-ES" sz="1350" spc="-1" strike="noStrike">
                <a:solidFill>
                  <a:srgbClr val="000000"/>
                </a:solidFill>
                <a:latin typeface="Aptos"/>
              </a:rPr>
              <a:t>Riesgos, mitigaciones, métricas y revisión humana.</a:t>
            </a:r>
            <a:endParaRPr b="0" lang="es-E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 16"/>
          <p:cNvSpPr/>
          <p:nvPr/>
        </p:nvSpPr>
        <p:spPr>
          <a:xfrm>
            <a:off x="1874520" y="5047560"/>
            <a:ext cx="831888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ptos"/>
              </a:rPr>
              <a:t>La mejor solución no es la más compleja, sino la que responde al problema con evidencia, control y criterio.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Shape 0"/>
          <p:cNvSpPr/>
          <p:nvPr/>
        </p:nvSpPr>
        <p:spPr>
          <a:xfrm>
            <a:off x="164520" y="0"/>
            <a:ext cx="34560" cy="6855840"/>
          </a:xfrm>
          <a:prstGeom prst="rect">
            <a:avLst/>
          </a:prstGeom>
          <a:solidFill>
            <a:srgbClr val="009a9a"/>
          </a:solidFill>
          <a:ln w="12700">
            <a:solidFill>
              <a:srgbClr val="009a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Shape 1"/>
          <p:cNvSpPr/>
          <p:nvPr/>
        </p:nvSpPr>
        <p:spPr>
          <a:xfrm>
            <a:off x="164520" y="4983480"/>
            <a:ext cx="34560" cy="1872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2" name="Image 0" descr="/mnt/data/logousachsinBG(1).png"/>
          <p:cNvPicPr/>
          <p:nvPr/>
        </p:nvPicPr>
        <p:blipFill>
          <a:blip r:embed="rId1">
            <a:alphaModFix amt="95000"/>
          </a:blip>
          <a:stretch/>
        </p:blipFill>
        <p:spPr>
          <a:xfrm>
            <a:off x="567000" y="311040"/>
            <a:ext cx="290520" cy="290520"/>
          </a:xfrm>
          <a:prstGeom prst="rect">
            <a:avLst/>
          </a:prstGeom>
          <a:ln w="0">
            <a:noFill/>
          </a:ln>
        </p:spPr>
      </p:pic>
      <p:sp>
        <p:nvSpPr>
          <p:cNvPr id="183" name="Text 2"/>
          <p:cNvSpPr/>
          <p:nvPr/>
        </p:nvSpPr>
        <p:spPr>
          <a:xfrm>
            <a:off x="11411640" y="6346080"/>
            <a:ext cx="308880" cy="10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ptos"/>
              </a:rPr>
              <a:t>09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Text 3"/>
          <p:cNvSpPr/>
          <p:nvPr/>
        </p:nvSpPr>
        <p:spPr>
          <a:xfrm>
            <a:off x="548640" y="6382440"/>
            <a:ext cx="4935600" cy="10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540" spc="-1" strike="noStrike">
                <a:solidFill>
                  <a:srgbClr val="64748b"/>
                </a:solidFill>
                <a:latin typeface="Aptos"/>
                <a:ea typeface="Aptos"/>
              </a:rPr>
              <a:t>Diplomado Ejecutivo en Confianza Digital, IA y Automatización Empresarial 1 - 2026 · Módulo 1</a:t>
            </a:r>
            <a:endParaRPr b="0" lang="es-ES" sz="5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Text 4"/>
          <p:cNvSpPr/>
          <p:nvPr/>
        </p:nvSpPr>
        <p:spPr>
          <a:xfrm>
            <a:off x="951120" y="274320"/>
            <a:ext cx="932472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50" spc="-1" strike="noStrike">
                <a:solidFill>
                  <a:srgbClr val="111827"/>
                </a:solidFill>
                <a:latin typeface="Aptos Display"/>
                <a:ea typeface="Aptos Display"/>
              </a:rPr>
              <a:t>Entregable final</a:t>
            </a:r>
            <a:endParaRPr b="0" lang="es-E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 5"/>
          <p:cNvSpPr/>
          <p:nvPr/>
        </p:nvSpPr>
        <p:spPr>
          <a:xfrm>
            <a:off x="951120" y="649080"/>
            <a:ext cx="914184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ptos"/>
              </a:rPr>
              <a:t>Diseño breve, aplicado y defendible de una mini solución IA para un caso nuevo.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Shape 6"/>
          <p:cNvSpPr/>
          <p:nvPr/>
        </p:nvSpPr>
        <p:spPr>
          <a:xfrm>
            <a:off x="566640" y="877680"/>
            <a:ext cx="10058400" cy="360"/>
          </a:xfrm>
          <a:prstGeom prst="line">
            <a:avLst/>
          </a:prstGeom>
          <a:ln w="6985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Shape 7"/>
          <p:cNvSpPr/>
          <p:nvPr/>
        </p:nvSpPr>
        <p:spPr>
          <a:xfrm>
            <a:off x="914400" y="1234440"/>
            <a:ext cx="2923920" cy="1095120"/>
          </a:xfrm>
          <a:prstGeom prst="roundRect">
            <a:avLst>
              <a:gd name="adj" fmla="val 3333"/>
            </a:avLst>
          </a:prstGeom>
          <a:solidFill>
            <a:srgbClr val="e8f6f4"/>
          </a:solidFill>
          <a:ln w="8890">
            <a:solidFill>
              <a:srgbClr val="d7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Shape 8"/>
          <p:cNvSpPr/>
          <p:nvPr/>
        </p:nvSpPr>
        <p:spPr>
          <a:xfrm>
            <a:off x="1078920" y="1463040"/>
            <a:ext cx="326880" cy="326880"/>
          </a:xfrm>
          <a:prstGeom prst="ellipse">
            <a:avLst/>
          </a:prstGeom>
          <a:solidFill>
            <a:srgbClr val="009a9a"/>
          </a:solidFill>
          <a:ln w="12700">
            <a:solidFill>
              <a:srgbClr val="009a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Text 9"/>
          <p:cNvSpPr/>
          <p:nvPr/>
        </p:nvSpPr>
        <p:spPr>
          <a:xfrm>
            <a:off x="1078920" y="1536120"/>
            <a:ext cx="326880" cy="7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20" spc="-1" strike="noStrike">
                <a:solidFill>
                  <a:srgbClr val="ffffff"/>
                </a:solidFill>
                <a:latin typeface="Aptos"/>
                <a:ea typeface="Aptos"/>
              </a:rPr>
              <a:t>1</a:t>
            </a:r>
            <a:endParaRPr b="0" lang="es-ES" sz="6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Text 10"/>
          <p:cNvSpPr/>
          <p:nvPr/>
        </p:nvSpPr>
        <p:spPr>
          <a:xfrm>
            <a:off x="1517760" y="1435680"/>
            <a:ext cx="210096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10" spc="-1" strike="noStrike">
                <a:solidFill>
                  <a:srgbClr val="111827"/>
                </a:solidFill>
                <a:latin typeface="Aptos"/>
                <a:ea typeface="Aptos"/>
              </a:rPr>
              <a:t>Caso de negocio</a:t>
            </a:r>
            <a:endParaRPr b="0" lang="es-ES" sz="8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Text 11"/>
          <p:cNvSpPr/>
          <p:nvPr/>
        </p:nvSpPr>
        <p:spPr>
          <a:xfrm>
            <a:off x="1517760" y="1783080"/>
            <a:ext cx="205524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56111"/>
          </a:bodyPr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ptos"/>
              </a:rPr>
              <a:t>Problema, usuario, proceso, dolor actual y valor esperado.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Shape 12"/>
          <p:cNvSpPr/>
          <p:nvPr/>
        </p:nvSpPr>
        <p:spPr>
          <a:xfrm>
            <a:off x="4617720" y="1234440"/>
            <a:ext cx="2923920" cy="1095120"/>
          </a:xfrm>
          <a:prstGeom prst="roundRect">
            <a:avLst>
              <a:gd name="adj" fmla="val 3333"/>
            </a:avLst>
          </a:prstGeom>
          <a:solidFill>
            <a:srgbClr val="e8f6f4"/>
          </a:solidFill>
          <a:ln w="8890">
            <a:solidFill>
              <a:srgbClr val="d7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Shape 13"/>
          <p:cNvSpPr/>
          <p:nvPr/>
        </p:nvSpPr>
        <p:spPr>
          <a:xfrm>
            <a:off x="4782240" y="1463040"/>
            <a:ext cx="326880" cy="326880"/>
          </a:xfrm>
          <a:prstGeom prst="ellipse">
            <a:avLst/>
          </a:prstGeom>
          <a:solidFill>
            <a:srgbClr val="009a9a"/>
          </a:solidFill>
          <a:ln w="12700">
            <a:solidFill>
              <a:srgbClr val="009a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Text 14"/>
          <p:cNvSpPr/>
          <p:nvPr/>
        </p:nvSpPr>
        <p:spPr>
          <a:xfrm>
            <a:off x="4782240" y="1536120"/>
            <a:ext cx="326880" cy="7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20" spc="-1" strike="noStrike">
                <a:solidFill>
                  <a:srgbClr val="ffffff"/>
                </a:solidFill>
                <a:latin typeface="Aptos"/>
                <a:ea typeface="Aptos"/>
              </a:rPr>
              <a:t>2</a:t>
            </a:r>
            <a:endParaRPr b="0" lang="es-ES" sz="6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Text 15"/>
          <p:cNvSpPr/>
          <p:nvPr/>
        </p:nvSpPr>
        <p:spPr>
          <a:xfrm>
            <a:off x="5221080" y="1435680"/>
            <a:ext cx="210096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10" spc="-1" strike="noStrike">
                <a:solidFill>
                  <a:srgbClr val="111827"/>
                </a:solidFill>
                <a:latin typeface="Aptos"/>
                <a:ea typeface="Aptos"/>
              </a:rPr>
              <a:t>Contrato de IA</a:t>
            </a:r>
            <a:endParaRPr b="0" lang="es-ES" sz="8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 16"/>
          <p:cNvSpPr/>
          <p:nvPr/>
        </p:nvSpPr>
        <p:spPr>
          <a:xfrm>
            <a:off x="5221080" y="1783080"/>
            <a:ext cx="205524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56111"/>
          </a:bodyPr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ptos"/>
              </a:rPr>
              <a:t>Input, prompt, output esperado, fallback y control operativo.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Shape 17"/>
          <p:cNvSpPr/>
          <p:nvPr/>
        </p:nvSpPr>
        <p:spPr>
          <a:xfrm>
            <a:off x="8321040" y="1234440"/>
            <a:ext cx="2923920" cy="1095120"/>
          </a:xfrm>
          <a:prstGeom prst="roundRect">
            <a:avLst>
              <a:gd name="adj" fmla="val 3333"/>
            </a:avLst>
          </a:prstGeom>
          <a:solidFill>
            <a:srgbClr val="e8f6f4"/>
          </a:solidFill>
          <a:ln w="8890">
            <a:solidFill>
              <a:srgbClr val="d7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Shape 18"/>
          <p:cNvSpPr/>
          <p:nvPr/>
        </p:nvSpPr>
        <p:spPr>
          <a:xfrm>
            <a:off x="8485560" y="1463040"/>
            <a:ext cx="326880" cy="326880"/>
          </a:xfrm>
          <a:prstGeom prst="ellipse">
            <a:avLst/>
          </a:prstGeom>
          <a:solidFill>
            <a:srgbClr val="009a9a"/>
          </a:solidFill>
          <a:ln w="12700">
            <a:solidFill>
              <a:srgbClr val="009a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Text 19"/>
          <p:cNvSpPr/>
          <p:nvPr/>
        </p:nvSpPr>
        <p:spPr>
          <a:xfrm>
            <a:off x="8485560" y="1536120"/>
            <a:ext cx="326880" cy="7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20" spc="-1" strike="noStrike">
                <a:solidFill>
                  <a:srgbClr val="ffffff"/>
                </a:solidFill>
                <a:latin typeface="Aptos"/>
                <a:ea typeface="Aptos"/>
              </a:rPr>
              <a:t>3</a:t>
            </a:r>
            <a:endParaRPr b="0" lang="es-ES" sz="6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Text 20"/>
          <p:cNvSpPr/>
          <p:nvPr/>
        </p:nvSpPr>
        <p:spPr>
          <a:xfrm>
            <a:off x="8924400" y="1435680"/>
            <a:ext cx="210096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10" spc="-1" strike="noStrike">
                <a:solidFill>
                  <a:srgbClr val="111827"/>
                </a:solidFill>
                <a:latin typeface="Aptos"/>
                <a:ea typeface="Aptos"/>
              </a:rPr>
              <a:t>Arquitectura</a:t>
            </a:r>
            <a:endParaRPr b="0" lang="es-ES" sz="8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Text 21"/>
          <p:cNvSpPr/>
          <p:nvPr/>
        </p:nvSpPr>
        <p:spPr>
          <a:xfrm>
            <a:off x="8924400" y="1783080"/>
            <a:ext cx="205524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56111"/>
          </a:bodyPr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ptos"/>
              </a:rPr>
              <a:t>API simple, chain, RAG, tool o agente, con justificación.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Shape 22"/>
          <p:cNvSpPr/>
          <p:nvPr/>
        </p:nvSpPr>
        <p:spPr>
          <a:xfrm>
            <a:off x="914400" y="2834640"/>
            <a:ext cx="2923920" cy="1095120"/>
          </a:xfrm>
          <a:prstGeom prst="roundRect">
            <a:avLst>
              <a:gd name="adj" fmla="val 3333"/>
            </a:avLst>
          </a:prstGeom>
          <a:solidFill>
            <a:srgbClr val="eaf2fb"/>
          </a:solidFill>
          <a:ln w="8890">
            <a:solidFill>
              <a:srgbClr val="d7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Shape 23"/>
          <p:cNvSpPr/>
          <p:nvPr/>
        </p:nvSpPr>
        <p:spPr>
          <a:xfrm>
            <a:off x="1078920" y="3063240"/>
            <a:ext cx="326880" cy="326880"/>
          </a:xfrm>
          <a:prstGeom prst="ellipse">
            <a:avLst/>
          </a:prstGeom>
          <a:solidFill>
            <a:srgbClr val="1f5e8c"/>
          </a:solidFill>
          <a:ln w="12700">
            <a:solidFill>
              <a:srgbClr val="1f5e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Text 24"/>
          <p:cNvSpPr/>
          <p:nvPr/>
        </p:nvSpPr>
        <p:spPr>
          <a:xfrm>
            <a:off x="1078920" y="3136320"/>
            <a:ext cx="326880" cy="7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20" spc="-1" strike="noStrike">
                <a:solidFill>
                  <a:srgbClr val="ffffff"/>
                </a:solidFill>
                <a:latin typeface="Aptos"/>
                <a:ea typeface="Aptos"/>
              </a:rPr>
              <a:t>4</a:t>
            </a:r>
            <a:endParaRPr b="0" lang="es-ES" sz="6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Text 25"/>
          <p:cNvSpPr/>
          <p:nvPr/>
        </p:nvSpPr>
        <p:spPr>
          <a:xfrm>
            <a:off x="1517760" y="3035880"/>
            <a:ext cx="210096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10" spc="-1" strike="noStrike">
                <a:solidFill>
                  <a:srgbClr val="111827"/>
                </a:solidFill>
                <a:latin typeface="Aptos"/>
                <a:ea typeface="Aptos"/>
              </a:rPr>
              <a:t>Datos y fuentes</a:t>
            </a:r>
            <a:endParaRPr b="0" lang="es-ES" sz="8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Text 26"/>
          <p:cNvSpPr/>
          <p:nvPr/>
        </p:nvSpPr>
        <p:spPr>
          <a:xfrm>
            <a:off x="1517760" y="3383280"/>
            <a:ext cx="205524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56111"/>
          </a:bodyPr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ptos"/>
              </a:rPr>
              <a:t>Información utilizada, calidad, permisos, actualización y riesgos.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Shape 27"/>
          <p:cNvSpPr/>
          <p:nvPr/>
        </p:nvSpPr>
        <p:spPr>
          <a:xfrm>
            <a:off x="4617720" y="2834640"/>
            <a:ext cx="2923920" cy="1095120"/>
          </a:xfrm>
          <a:prstGeom prst="roundRect">
            <a:avLst>
              <a:gd name="adj" fmla="val 3333"/>
            </a:avLst>
          </a:prstGeom>
          <a:solidFill>
            <a:srgbClr val="eaf2fb"/>
          </a:solidFill>
          <a:ln w="8890">
            <a:solidFill>
              <a:srgbClr val="d7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Shape 28"/>
          <p:cNvSpPr/>
          <p:nvPr/>
        </p:nvSpPr>
        <p:spPr>
          <a:xfrm>
            <a:off x="4782240" y="3063240"/>
            <a:ext cx="326880" cy="326880"/>
          </a:xfrm>
          <a:prstGeom prst="ellipse">
            <a:avLst/>
          </a:prstGeom>
          <a:solidFill>
            <a:srgbClr val="1f5e8c"/>
          </a:solidFill>
          <a:ln w="12700">
            <a:solidFill>
              <a:srgbClr val="1f5e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Text 29"/>
          <p:cNvSpPr/>
          <p:nvPr/>
        </p:nvSpPr>
        <p:spPr>
          <a:xfrm>
            <a:off x="4782240" y="3136320"/>
            <a:ext cx="326880" cy="7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20" spc="-1" strike="noStrike">
                <a:solidFill>
                  <a:srgbClr val="ffffff"/>
                </a:solidFill>
                <a:latin typeface="Aptos"/>
                <a:ea typeface="Aptos"/>
              </a:rPr>
              <a:t>5</a:t>
            </a:r>
            <a:endParaRPr b="0" lang="es-ES" sz="6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Text 30"/>
          <p:cNvSpPr/>
          <p:nvPr/>
        </p:nvSpPr>
        <p:spPr>
          <a:xfrm>
            <a:off x="5221080" y="3035880"/>
            <a:ext cx="210096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10" spc="-1" strike="noStrike">
                <a:solidFill>
                  <a:srgbClr val="111827"/>
                </a:solidFill>
                <a:latin typeface="Aptos"/>
                <a:ea typeface="Aptos"/>
              </a:rPr>
              <a:t>Controles</a:t>
            </a:r>
            <a:endParaRPr b="0" lang="es-ES" sz="8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Text 31"/>
          <p:cNvSpPr/>
          <p:nvPr/>
        </p:nvSpPr>
        <p:spPr>
          <a:xfrm>
            <a:off x="5221080" y="3383280"/>
            <a:ext cx="205524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56111"/>
          </a:bodyPr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ptos"/>
              </a:rPr>
              <a:t>Seguridad, privacidad, costos, trazabilidad y revisión humana.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Shape 32"/>
          <p:cNvSpPr/>
          <p:nvPr/>
        </p:nvSpPr>
        <p:spPr>
          <a:xfrm>
            <a:off x="8321040" y="2834640"/>
            <a:ext cx="2923920" cy="1095120"/>
          </a:xfrm>
          <a:prstGeom prst="roundRect">
            <a:avLst>
              <a:gd name="adj" fmla="val 3333"/>
            </a:avLst>
          </a:prstGeom>
          <a:solidFill>
            <a:srgbClr val="eaf2fb"/>
          </a:solidFill>
          <a:ln w="8890">
            <a:solidFill>
              <a:srgbClr val="d7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Shape 33"/>
          <p:cNvSpPr/>
          <p:nvPr/>
        </p:nvSpPr>
        <p:spPr>
          <a:xfrm>
            <a:off x="8485560" y="3063240"/>
            <a:ext cx="326880" cy="326880"/>
          </a:xfrm>
          <a:prstGeom prst="ellipse">
            <a:avLst/>
          </a:prstGeom>
          <a:solidFill>
            <a:srgbClr val="1f5e8c"/>
          </a:solidFill>
          <a:ln w="12700">
            <a:solidFill>
              <a:srgbClr val="1f5e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" name="Text 34"/>
          <p:cNvSpPr/>
          <p:nvPr/>
        </p:nvSpPr>
        <p:spPr>
          <a:xfrm>
            <a:off x="8485560" y="3136320"/>
            <a:ext cx="326880" cy="7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20" spc="-1" strike="noStrike">
                <a:solidFill>
                  <a:srgbClr val="ffffff"/>
                </a:solidFill>
                <a:latin typeface="Aptos"/>
                <a:ea typeface="Aptos"/>
              </a:rPr>
              <a:t>6</a:t>
            </a:r>
            <a:endParaRPr b="0" lang="es-ES" sz="6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Text 35"/>
          <p:cNvSpPr/>
          <p:nvPr/>
        </p:nvSpPr>
        <p:spPr>
          <a:xfrm>
            <a:off x="8924400" y="3035880"/>
            <a:ext cx="210096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10" spc="-1" strike="noStrike">
                <a:solidFill>
                  <a:srgbClr val="111827"/>
                </a:solidFill>
                <a:latin typeface="Aptos"/>
                <a:ea typeface="Aptos"/>
              </a:rPr>
              <a:t>Evaluación</a:t>
            </a:r>
            <a:endParaRPr b="0" lang="es-ES" sz="8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Text 36"/>
          <p:cNvSpPr/>
          <p:nvPr/>
        </p:nvSpPr>
        <p:spPr>
          <a:xfrm>
            <a:off x="8924400" y="3383280"/>
            <a:ext cx="205524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50000"/>
          </a:bodyPr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ptos"/>
              </a:rPr>
              <a:t>Caso normal, ambiguo y fuera de alcance; métricas y criterio de éxito.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Text 38"/>
          <p:cNvSpPr/>
          <p:nvPr/>
        </p:nvSpPr>
        <p:spPr>
          <a:xfrm>
            <a:off x="1417320" y="5102280"/>
            <a:ext cx="9279000" cy="10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Shape 0"/>
          <p:cNvSpPr/>
          <p:nvPr/>
        </p:nvSpPr>
        <p:spPr>
          <a:xfrm>
            <a:off x="164520" y="0"/>
            <a:ext cx="34560" cy="6855840"/>
          </a:xfrm>
          <a:prstGeom prst="rect">
            <a:avLst/>
          </a:prstGeom>
          <a:solidFill>
            <a:srgbClr val="009a9a"/>
          </a:solidFill>
          <a:ln w="12700">
            <a:solidFill>
              <a:srgbClr val="009a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Shape 1"/>
          <p:cNvSpPr/>
          <p:nvPr/>
        </p:nvSpPr>
        <p:spPr>
          <a:xfrm>
            <a:off x="164520" y="4983480"/>
            <a:ext cx="34560" cy="1872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1" name="Image 0" descr="/mnt/data/logousachsinBG(1).png"/>
          <p:cNvPicPr/>
          <p:nvPr/>
        </p:nvPicPr>
        <p:blipFill>
          <a:blip r:embed="rId1">
            <a:alphaModFix amt="95000"/>
          </a:blip>
          <a:stretch/>
        </p:blipFill>
        <p:spPr>
          <a:xfrm>
            <a:off x="567000" y="311040"/>
            <a:ext cx="290520" cy="290520"/>
          </a:xfrm>
          <a:prstGeom prst="rect">
            <a:avLst/>
          </a:prstGeom>
          <a:ln w="0">
            <a:noFill/>
          </a:ln>
        </p:spPr>
      </p:pic>
      <p:sp>
        <p:nvSpPr>
          <p:cNvPr id="222" name="Text 2"/>
          <p:cNvSpPr/>
          <p:nvPr/>
        </p:nvSpPr>
        <p:spPr>
          <a:xfrm>
            <a:off x="11411640" y="6346080"/>
            <a:ext cx="308880" cy="10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ptos"/>
              </a:rPr>
              <a:t>10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Text 3"/>
          <p:cNvSpPr/>
          <p:nvPr/>
        </p:nvSpPr>
        <p:spPr>
          <a:xfrm>
            <a:off x="548640" y="6382440"/>
            <a:ext cx="4935600" cy="10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540" spc="-1" strike="noStrike">
                <a:solidFill>
                  <a:srgbClr val="64748b"/>
                </a:solidFill>
                <a:latin typeface="Aptos"/>
                <a:ea typeface="Aptos"/>
              </a:rPr>
              <a:t>Diplomado Ejecutivo en Confianza Digital, IA y Automatización Empresarial 1 - 2026 · Módulo 1</a:t>
            </a:r>
            <a:endParaRPr b="0" lang="es-ES" sz="5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Text 4"/>
          <p:cNvSpPr/>
          <p:nvPr/>
        </p:nvSpPr>
        <p:spPr>
          <a:xfrm>
            <a:off x="951120" y="274320"/>
            <a:ext cx="932472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50" spc="-1" strike="noStrike">
                <a:solidFill>
                  <a:srgbClr val="111827"/>
                </a:solidFill>
                <a:latin typeface="Aptos Display"/>
                <a:ea typeface="Aptos Display"/>
              </a:rPr>
              <a:t>Formato de cada sesión</a:t>
            </a:r>
            <a:endParaRPr b="0" lang="es-E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Text 5"/>
          <p:cNvSpPr/>
          <p:nvPr/>
        </p:nvSpPr>
        <p:spPr>
          <a:xfrm>
            <a:off x="951120" y="649080"/>
            <a:ext cx="914184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60" spc="-1" strike="noStrike">
                <a:solidFill>
                  <a:srgbClr val="64748b"/>
                </a:solidFill>
                <a:latin typeface="Aptos"/>
                <a:ea typeface="Aptos"/>
              </a:rPr>
              <a:t>Las clases de 3 horas se trabajarán por bloques para cuidar ritmo y concentración.</a:t>
            </a:r>
            <a:endParaRPr b="0" lang="es-ES" sz="6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Shape 6"/>
          <p:cNvSpPr/>
          <p:nvPr/>
        </p:nvSpPr>
        <p:spPr>
          <a:xfrm>
            <a:off x="566640" y="877680"/>
            <a:ext cx="10058400" cy="360"/>
          </a:xfrm>
          <a:prstGeom prst="line">
            <a:avLst/>
          </a:prstGeom>
          <a:ln w="6985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Shape 7"/>
          <p:cNvSpPr/>
          <p:nvPr/>
        </p:nvSpPr>
        <p:spPr>
          <a:xfrm>
            <a:off x="1042560" y="1115640"/>
            <a:ext cx="9644760" cy="345240"/>
          </a:xfrm>
          <a:prstGeom prst="roundRect">
            <a:avLst>
              <a:gd name="adj" fmla="val 5263"/>
            </a:avLst>
          </a:prstGeom>
          <a:solidFill>
            <a:srgbClr val="e8f6f4"/>
          </a:solidFill>
          <a:ln w="5715">
            <a:solidFill>
              <a:srgbClr val="d7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Shape 8"/>
          <p:cNvSpPr/>
          <p:nvPr/>
        </p:nvSpPr>
        <p:spPr>
          <a:xfrm>
            <a:off x="1051560" y="1134000"/>
            <a:ext cx="38880" cy="308880"/>
          </a:xfrm>
          <a:prstGeom prst="rect">
            <a:avLst/>
          </a:prstGeom>
          <a:solidFill>
            <a:srgbClr val="009a9a"/>
          </a:solidFill>
          <a:ln w="12700">
            <a:solidFill>
              <a:srgbClr val="009a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" name="Text 9"/>
          <p:cNvSpPr/>
          <p:nvPr/>
        </p:nvSpPr>
        <p:spPr>
          <a:xfrm>
            <a:off x="1261800" y="1243440"/>
            <a:ext cx="1095120" cy="5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70" spc="-1" strike="noStrike">
                <a:solidFill>
                  <a:srgbClr val="009a9a"/>
                </a:solidFill>
                <a:latin typeface="Aptos"/>
                <a:ea typeface="Aptos"/>
              </a:rPr>
              <a:t>00:00–00:10</a:t>
            </a:r>
            <a:endParaRPr b="0" lang="es-ES" sz="5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Text 10"/>
          <p:cNvSpPr/>
          <p:nvPr/>
        </p:nvSpPr>
        <p:spPr>
          <a:xfrm>
            <a:off x="2834640" y="1243440"/>
            <a:ext cx="4844160" cy="5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90" spc="-1" strike="noStrike">
                <a:solidFill>
                  <a:srgbClr val="111827"/>
                </a:solidFill>
                <a:latin typeface="Aptos"/>
                <a:ea typeface="Aptos"/>
              </a:rPr>
              <a:t>Inicio / contexto / objetivos</a:t>
            </a:r>
            <a:endParaRPr b="0" lang="es-ES" sz="5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Shape 11"/>
          <p:cNvSpPr/>
          <p:nvPr/>
        </p:nvSpPr>
        <p:spPr>
          <a:xfrm>
            <a:off x="1042560" y="1682640"/>
            <a:ext cx="9644760" cy="345240"/>
          </a:xfrm>
          <a:prstGeom prst="roundRect">
            <a:avLst>
              <a:gd name="adj" fmla="val 5263"/>
            </a:avLst>
          </a:prstGeom>
          <a:solidFill>
            <a:srgbClr val="eaf2fb"/>
          </a:solidFill>
          <a:ln w="5715">
            <a:solidFill>
              <a:srgbClr val="d7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Shape 12"/>
          <p:cNvSpPr/>
          <p:nvPr/>
        </p:nvSpPr>
        <p:spPr>
          <a:xfrm>
            <a:off x="1051560" y="1700640"/>
            <a:ext cx="38880" cy="308880"/>
          </a:xfrm>
          <a:prstGeom prst="rect">
            <a:avLst/>
          </a:prstGeom>
          <a:solidFill>
            <a:srgbClr val="009a9a"/>
          </a:solidFill>
          <a:ln w="12700">
            <a:solidFill>
              <a:srgbClr val="009a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" name="Text 13"/>
          <p:cNvSpPr/>
          <p:nvPr/>
        </p:nvSpPr>
        <p:spPr>
          <a:xfrm>
            <a:off x="1261800" y="1810440"/>
            <a:ext cx="1095120" cy="5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70" spc="-1" strike="noStrike">
                <a:solidFill>
                  <a:srgbClr val="009a9a"/>
                </a:solidFill>
                <a:latin typeface="Aptos"/>
                <a:ea typeface="Aptos"/>
              </a:rPr>
              <a:t>00:10–01:05</a:t>
            </a:r>
            <a:endParaRPr b="0" lang="es-ES" sz="5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Text 14"/>
          <p:cNvSpPr/>
          <p:nvPr/>
        </p:nvSpPr>
        <p:spPr>
          <a:xfrm>
            <a:off x="2834640" y="1810440"/>
            <a:ext cx="4844160" cy="5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90" spc="-1" strike="noStrike">
                <a:solidFill>
                  <a:srgbClr val="111827"/>
                </a:solidFill>
                <a:latin typeface="Aptos"/>
                <a:ea typeface="Aptos"/>
              </a:rPr>
              <a:t>Bloque 1 · conceptos principales</a:t>
            </a:r>
            <a:endParaRPr b="0" lang="es-ES" sz="5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Shape 15"/>
          <p:cNvSpPr/>
          <p:nvPr/>
        </p:nvSpPr>
        <p:spPr>
          <a:xfrm>
            <a:off x="1042560" y="2249280"/>
            <a:ext cx="9644760" cy="345240"/>
          </a:xfrm>
          <a:prstGeom prst="roundRect">
            <a:avLst>
              <a:gd name="adj" fmla="val 5263"/>
            </a:avLst>
          </a:prstGeom>
          <a:solidFill>
            <a:srgbClr val="fff2de"/>
          </a:solidFill>
          <a:ln w="5715">
            <a:solidFill>
              <a:srgbClr val="d7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Shape 16"/>
          <p:cNvSpPr/>
          <p:nvPr/>
        </p:nvSpPr>
        <p:spPr>
          <a:xfrm>
            <a:off x="1051560" y="2267640"/>
            <a:ext cx="38880" cy="308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Text 17"/>
          <p:cNvSpPr/>
          <p:nvPr/>
        </p:nvSpPr>
        <p:spPr>
          <a:xfrm>
            <a:off x="1261800" y="2377440"/>
            <a:ext cx="1095120" cy="5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70" spc="-1" strike="noStrike">
                <a:solidFill>
                  <a:srgbClr val="f59e0b"/>
                </a:solidFill>
                <a:latin typeface="Aptos"/>
                <a:ea typeface="Aptos"/>
              </a:rPr>
              <a:t>01:05–01:20</a:t>
            </a:r>
            <a:endParaRPr b="0" lang="es-ES" sz="5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Text 18"/>
          <p:cNvSpPr/>
          <p:nvPr/>
        </p:nvSpPr>
        <p:spPr>
          <a:xfrm>
            <a:off x="2834640" y="2377440"/>
            <a:ext cx="4844160" cy="5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90" spc="-1" strike="noStrike">
                <a:solidFill>
                  <a:srgbClr val="111827"/>
                </a:solidFill>
                <a:latin typeface="Aptos"/>
                <a:ea typeface="Aptos"/>
              </a:rPr>
              <a:t>Break</a:t>
            </a:r>
            <a:endParaRPr b="0" lang="es-ES" sz="5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Shape 19"/>
          <p:cNvSpPr/>
          <p:nvPr/>
        </p:nvSpPr>
        <p:spPr>
          <a:xfrm>
            <a:off x="1042560" y="2816280"/>
            <a:ext cx="9644760" cy="345240"/>
          </a:xfrm>
          <a:prstGeom prst="roundRect">
            <a:avLst>
              <a:gd name="adj" fmla="val 5263"/>
            </a:avLst>
          </a:prstGeom>
          <a:solidFill>
            <a:srgbClr val="eaf2fb"/>
          </a:solidFill>
          <a:ln w="5715">
            <a:solidFill>
              <a:srgbClr val="d7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Shape 20"/>
          <p:cNvSpPr/>
          <p:nvPr/>
        </p:nvSpPr>
        <p:spPr>
          <a:xfrm>
            <a:off x="1051560" y="2834640"/>
            <a:ext cx="38880" cy="308880"/>
          </a:xfrm>
          <a:prstGeom prst="rect">
            <a:avLst/>
          </a:prstGeom>
          <a:solidFill>
            <a:srgbClr val="009a9a"/>
          </a:solidFill>
          <a:ln w="12700">
            <a:solidFill>
              <a:srgbClr val="009a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" name="Text 21"/>
          <p:cNvSpPr/>
          <p:nvPr/>
        </p:nvSpPr>
        <p:spPr>
          <a:xfrm>
            <a:off x="1261800" y="2944440"/>
            <a:ext cx="1095120" cy="5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70" spc="-1" strike="noStrike">
                <a:solidFill>
                  <a:srgbClr val="009a9a"/>
                </a:solidFill>
                <a:latin typeface="Aptos"/>
                <a:ea typeface="Aptos"/>
              </a:rPr>
              <a:t>01:20–02:15</a:t>
            </a:r>
            <a:endParaRPr b="0" lang="es-ES" sz="5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Text 22"/>
          <p:cNvSpPr/>
          <p:nvPr/>
        </p:nvSpPr>
        <p:spPr>
          <a:xfrm>
            <a:off x="2834640" y="2944440"/>
            <a:ext cx="4844160" cy="5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90" spc="-1" strike="noStrike">
                <a:solidFill>
                  <a:srgbClr val="111827"/>
                </a:solidFill>
                <a:latin typeface="Aptos"/>
                <a:ea typeface="Aptos"/>
              </a:rPr>
              <a:t>Bloque 2 · ejemplos, demo o aplicación</a:t>
            </a:r>
            <a:endParaRPr b="0" lang="es-ES" sz="5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Shape 23"/>
          <p:cNvSpPr/>
          <p:nvPr/>
        </p:nvSpPr>
        <p:spPr>
          <a:xfrm>
            <a:off x="1042560" y="3383280"/>
            <a:ext cx="9644760" cy="345240"/>
          </a:xfrm>
          <a:prstGeom prst="roundRect">
            <a:avLst>
              <a:gd name="adj" fmla="val 5263"/>
            </a:avLst>
          </a:prstGeom>
          <a:solidFill>
            <a:srgbClr val="fff2de"/>
          </a:solidFill>
          <a:ln w="5715">
            <a:solidFill>
              <a:srgbClr val="d7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Shape 24"/>
          <p:cNvSpPr/>
          <p:nvPr/>
        </p:nvSpPr>
        <p:spPr>
          <a:xfrm>
            <a:off x="1051560" y="3401640"/>
            <a:ext cx="38880" cy="308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Text 25"/>
          <p:cNvSpPr/>
          <p:nvPr/>
        </p:nvSpPr>
        <p:spPr>
          <a:xfrm>
            <a:off x="1261800" y="3511440"/>
            <a:ext cx="1095120" cy="5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70" spc="-1" strike="noStrike">
                <a:solidFill>
                  <a:srgbClr val="f59e0b"/>
                </a:solidFill>
                <a:latin typeface="Aptos"/>
                <a:ea typeface="Aptos"/>
              </a:rPr>
              <a:t>02:15–02:25</a:t>
            </a:r>
            <a:endParaRPr b="0" lang="es-ES" sz="5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Text 26"/>
          <p:cNvSpPr/>
          <p:nvPr/>
        </p:nvSpPr>
        <p:spPr>
          <a:xfrm>
            <a:off x="2834640" y="3511440"/>
            <a:ext cx="4844160" cy="5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90" spc="-1" strike="noStrike">
                <a:solidFill>
                  <a:srgbClr val="111827"/>
                </a:solidFill>
                <a:latin typeface="Aptos"/>
                <a:ea typeface="Aptos"/>
              </a:rPr>
              <a:t>Break breve</a:t>
            </a:r>
            <a:endParaRPr b="0" lang="es-ES" sz="5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Shape 27"/>
          <p:cNvSpPr/>
          <p:nvPr/>
        </p:nvSpPr>
        <p:spPr>
          <a:xfrm>
            <a:off x="1042560" y="3950280"/>
            <a:ext cx="9644760" cy="345240"/>
          </a:xfrm>
          <a:prstGeom prst="roundRect">
            <a:avLst>
              <a:gd name="adj" fmla="val 5263"/>
            </a:avLst>
          </a:prstGeom>
          <a:solidFill>
            <a:srgbClr val="eaf2fb"/>
          </a:solidFill>
          <a:ln w="5715">
            <a:solidFill>
              <a:srgbClr val="d7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Shape 28"/>
          <p:cNvSpPr/>
          <p:nvPr/>
        </p:nvSpPr>
        <p:spPr>
          <a:xfrm>
            <a:off x="1051560" y="3968640"/>
            <a:ext cx="38880" cy="308880"/>
          </a:xfrm>
          <a:prstGeom prst="rect">
            <a:avLst/>
          </a:prstGeom>
          <a:solidFill>
            <a:srgbClr val="009a9a"/>
          </a:solidFill>
          <a:ln w="12700">
            <a:solidFill>
              <a:srgbClr val="009a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" name="Text 29"/>
          <p:cNvSpPr/>
          <p:nvPr/>
        </p:nvSpPr>
        <p:spPr>
          <a:xfrm>
            <a:off x="1261800" y="4078080"/>
            <a:ext cx="1095120" cy="5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70" spc="-1" strike="noStrike">
                <a:solidFill>
                  <a:srgbClr val="009a9a"/>
                </a:solidFill>
                <a:latin typeface="Aptos"/>
                <a:ea typeface="Aptos"/>
              </a:rPr>
              <a:t>02:25–02:55</a:t>
            </a:r>
            <a:endParaRPr b="0" lang="es-ES" sz="5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Text 30"/>
          <p:cNvSpPr/>
          <p:nvPr/>
        </p:nvSpPr>
        <p:spPr>
          <a:xfrm>
            <a:off x="2834640" y="4078080"/>
            <a:ext cx="4844160" cy="5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90" spc="-1" strike="noStrike">
                <a:solidFill>
                  <a:srgbClr val="111827"/>
                </a:solidFill>
                <a:latin typeface="Aptos"/>
                <a:ea typeface="Aptos"/>
              </a:rPr>
              <a:t>Cierre aplicado / preguntas / actividad</a:t>
            </a:r>
            <a:endParaRPr b="0" lang="es-ES" sz="5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Shape 31"/>
          <p:cNvSpPr/>
          <p:nvPr/>
        </p:nvSpPr>
        <p:spPr>
          <a:xfrm>
            <a:off x="1042560" y="4517280"/>
            <a:ext cx="9644760" cy="345240"/>
          </a:xfrm>
          <a:prstGeom prst="roundRect">
            <a:avLst>
              <a:gd name="adj" fmla="val 5263"/>
            </a:avLst>
          </a:prstGeom>
          <a:solidFill>
            <a:srgbClr val="e8f6f4"/>
          </a:solidFill>
          <a:ln w="5715">
            <a:solidFill>
              <a:srgbClr val="d7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Shape 32"/>
          <p:cNvSpPr/>
          <p:nvPr/>
        </p:nvSpPr>
        <p:spPr>
          <a:xfrm>
            <a:off x="1051560" y="4535280"/>
            <a:ext cx="38880" cy="308880"/>
          </a:xfrm>
          <a:prstGeom prst="rect">
            <a:avLst/>
          </a:prstGeom>
          <a:solidFill>
            <a:srgbClr val="009a9a"/>
          </a:solidFill>
          <a:ln w="12700">
            <a:solidFill>
              <a:srgbClr val="009a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Text 33"/>
          <p:cNvSpPr/>
          <p:nvPr/>
        </p:nvSpPr>
        <p:spPr>
          <a:xfrm>
            <a:off x="1261800" y="4645080"/>
            <a:ext cx="1095120" cy="5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70" spc="-1" strike="noStrike">
                <a:solidFill>
                  <a:srgbClr val="009a9a"/>
                </a:solidFill>
                <a:latin typeface="Aptos"/>
                <a:ea typeface="Aptos"/>
              </a:rPr>
              <a:t>02:55–03:00</a:t>
            </a:r>
            <a:endParaRPr b="0" lang="es-ES" sz="5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Text 34"/>
          <p:cNvSpPr/>
          <p:nvPr/>
        </p:nvSpPr>
        <p:spPr>
          <a:xfrm>
            <a:off x="2834640" y="4645080"/>
            <a:ext cx="4844160" cy="5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90" spc="-1" strike="noStrike">
                <a:solidFill>
                  <a:srgbClr val="111827"/>
                </a:solidFill>
                <a:latin typeface="Aptos"/>
                <a:ea typeface="Aptos"/>
              </a:rPr>
              <a:t>Próxima clase / instrucciones finales</a:t>
            </a:r>
            <a:endParaRPr b="0" lang="es-ES" sz="5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Text 35"/>
          <p:cNvSpPr/>
          <p:nvPr/>
        </p:nvSpPr>
        <p:spPr>
          <a:xfrm>
            <a:off x="2560320" y="5486400"/>
            <a:ext cx="7038720" cy="10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570" spc="-1" strike="noStrike">
                <a:solidFill>
                  <a:srgbClr val="64748b"/>
                </a:solidFill>
                <a:latin typeface="Aptos"/>
                <a:ea typeface="Aptos"/>
              </a:rPr>
              <a:t>La estructura es una guía flexible: puede ajustarse según preguntas, actividades o necesidades del grupo.</a:t>
            </a:r>
            <a:endParaRPr b="0" lang="es-ES" sz="5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Shape 0"/>
          <p:cNvSpPr/>
          <p:nvPr/>
        </p:nvSpPr>
        <p:spPr>
          <a:xfrm>
            <a:off x="164520" y="0"/>
            <a:ext cx="34560" cy="6855840"/>
          </a:xfrm>
          <a:prstGeom prst="rect">
            <a:avLst/>
          </a:prstGeom>
          <a:solidFill>
            <a:srgbClr val="009a9a"/>
          </a:solidFill>
          <a:ln w="12700">
            <a:solidFill>
              <a:srgbClr val="009a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" name="Shape 1"/>
          <p:cNvSpPr/>
          <p:nvPr/>
        </p:nvSpPr>
        <p:spPr>
          <a:xfrm>
            <a:off x="164520" y="4983480"/>
            <a:ext cx="34560" cy="1872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8" name="Image 0" descr="/mnt/data/logousachsinBG(1).png"/>
          <p:cNvPicPr/>
          <p:nvPr/>
        </p:nvPicPr>
        <p:blipFill>
          <a:blip r:embed="rId1">
            <a:alphaModFix amt="95000"/>
          </a:blip>
          <a:stretch/>
        </p:blipFill>
        <p:spPr>
          <a:xfrm>
            <a:off x="567000" y="311040"/>
            <a:ext cx="290520" cy="290520"/>
          </a:xfrm>
          <a:prstGeom prst="rect">
            <a:avLst/>
          </a:prstGeom>
          <a:ln w="0">
            <a:noFill/>
          </a:ln>
        </p:spPr>
      </p:pic>
      <p:sp>
        <p:nvSpPr>
          <p:cNvPr id="259" name="Text 2"/>
          <p:cNvSpPr/>
          <p:nvPr/>
        </p:nvSpPr>
        <p:spPr>
          <a:xfrm>
            <a:off x="11411640" y="6346080"/>
            <a:ext cx="308880" cy="10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ptos"/>
              </a:rPr>
              <a:t>11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Text 3"/>
          <p:cNvSpPr/>
          <p:nvPr/>
        </p:nvSpPr>
        <p:spPr>
          <a:xfrm>
            <a:off x="548640" y="6382440"/>
            <a:ext cx="4935600" cy="10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540" spc="-1" strike="noStrike">
                <a:solidFill>
                  <a:srgbClr val="64748b"/>
                </a:solidFill>
                <a:latin typeface="Aptos"/>
                <a:ea typeface="Aptos"/>
              </a:rPr>
              <a:t>Diplomado Ejecutivo en Confianza Digital, IA y Automatización Empresarial 1 - 2026 · Módulo 1</a:t>
            </a:r>
            <a:endParaRPr b="0" lang="es-ES" sz="5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Text 4"/>
          <p:cNvSpPr/>
          <p:nvPr/>
        </p:nvSpPr>
        <p:spPr>
          <a:xfrm>
            <a:off x="951120" y="274320"/>
            <a:ext cx="932472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50" spc="-1" strike="noStrike">
                <a:solidFill>
                  <a:srgbClr val="111827"/>
                </a:solidFill>
                <a:latin typeface="Aptos Display"/>
                <a:ea typeface="Aptos Display"/>
              </a:rPr>
              <a:t>Cómo trabajaremos</a:t>
            </a:r>
            <a:endParaRPr b="0" lang="es-E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Text 5"/>
          <p:cNvSpPr/>
          <p:nvPr/>
        </p:nvSpPr>
        <p:spPr>
          <a:xfrm>
            <a:off x="951120" y="649080"/>
            <a:ext cx="914184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60" spc="-1" strike="noStrike">
                <a:solidFill>
                  <a:srgbClr val="64748b"/>
                </a:solidFill>
                <a:latin typeface="Aptos"/>
                <a:ea typeface="Aptos"/>
              </a:rPr>
              <a:t>La idea es aprender conceptos técnicos con criterio de negocio y aplicación real.</a:t>
            </a:r>
            <a:endParaRPr b="0" lang="es-ES" sz="6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Shape 6"/>
          <p:cNvSpPr/>
          <p:nvPr/>
        </p:nvSpPr>
        <p:spPr>
          <a:xfrm>
            <a:off x="566640" y="877680"/>
            <a:ext cx="10058400" cy="360"/>
          </a:xfrm>
          <a:prstGeom prst="line">
            <a:avLst/>
          </a:prstGeom>
          <a:ln w="6985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Shape 7"/>
          <p:cNvSpPr/>
          <p:nvPr/>
        </p:nvSpPr>
        <p:spPr>
          <a:xfrm>
            <a:off x="1097280" y="1417320"/>
            <a:ext cx="2832480" cy="2329560"/>
          </a:xfrm>
          <a:prstGeom prst="roundRect">
            <a:avLst>
              <a:gd name="adj" fmla="val 1569"/>
            </a:avLst>
          </a:prstGeom>
          <a:solidFill>
            <a:srgbClr val="e8f6f4"/>
          </a:solidFill>
          <a:ln w="7620">
            <a:solidFill>
              <a:srgbClr val="d7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Shape 8"/>
          <p:cNvSpPr/>
          <p:nvPr/>
        </p:nvSpPr>
        <p:spPr>
          <a:xfrm>
            <a:off x="1115640" y="1435680"/>
            <a:ext cx="38880" cy="2292840"/>
          </a:xfrm>
          <a:prstGeom prst="rect">
            <a:avLst/>
          </a:prstGeom>
          <a:solidFill>
            <a:srgbClr val="009a9a"/>
          </a:solidFill>
          <a:ln w="12700">
            <a:solidFill>
              <a:srgbClr val="009a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6" name="Text 9"/>
          <p:cNvSpPr/>
          <p:nvPr/>
        </p:nvSpPr>
        <p:spPr>
          <a:xfrm>
            <a:off x="1261800" y="1581840"/>
            <a:ext cx="25124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20" spc="-1" strike="noStrike">
                <a:solidFill>
                  <a:srgbClr val="111827"/>
                </a:solidFill>
                <a:latin typeface="Aptos"/>
                <a:ea typeface="Aptos"/>
              </a:rPr>
              <a:t>Participación</a:t>
            </a:r>
            <a:endParaRPr b="0" lang="es-ES" sz="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Text 10"/>
          <p:cNvSpPr/>
          <p:nvPr/>
        </p:nvSpPr>
        <p:spPr>
          <a:xfrm>
            <a:off x="1261800" y="1993320"/>
            <a:ext cx="2512440" cy="161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70" spc="-1" strike="noStrike">
                <a:solidFill>
                  <a:srgbClr val="111827"/>
                </a:solidFill>
                <a:latin typeface="Aptos"/>
                <a:ea typeface="Aptos"/>
              </a:rPr>
              <a:t>Las preguntas son parte de la clase. Si algo técnico no queda claro, lo bajaremos a ejemplos cotidianos o de empresa.</a:t>
            </a:r>
            <a:endParaRPr b="0" lang="es-ES" sz="6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Shape 11"/>
          <p:cNvSpPr/>
          <p:nvPr/>
        </p:nvSpPr>
        <p:spPr>
          <a:xfrm>
            <a:off x="4572000" y="1417320"/>
            <a:ext cx="2832480" cy="2329560"/>
          </a:xfrm>
          <a:prstGeom prst="roundRect">
            <a:avLst>
              <a:gd name="adj" fmla="val 1569"/>
            </a:avLst>
          </a:prstGeom>
          <a:solidFill>
            <a:srgbClr val="eaf2fb"/>
          </a:solidFill>
          <a:ln w="7620">
            <a:solidFill>
              <a:srgbClr val="d7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Shape 12"/>
          <p:cNvSpPr/>
          <p:nvPr/>
        </p:nvSpPr>
        <p:spPr>
          <a:xfrm>
            <a:off x="4590360" y="1435680"/>
            <a:ext cx="38880" cy="2292840"/>
          </a:xfrm>
          <a:prstGeom prst="rect">
            <a:avLst/>
          </a:prstGeom>
          <a:solidFill>
            <a:srgbClr val="1f5e8c"/>
          </a:solidFill>
          <a:ln w="12700">
            <a:solidFill>
              <a:srgbClr val="1f5e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" name="Text 13"/>
          <p:cNvSpPr/>
          <p:nvPr/>
        </p:nvSpPr>
        <p:spPr>
          <a:xfrm>
            <a:off x="4736520" y="1581840"/>
            <a:ext cx="25124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20" spc="-1" strike="noStrike">
                <a:solidFill>
                  <a:srgbClr val="111827"/>
                </a:solidFill>
                <a:latin typeface="Aptos"/>
                <a:ea typeface="Aptos"/>
              </a:rPr>
              <a:t>Aplicación</a:t>
            </a:r>
            <a:endParaRPr b="0" lang="es-ES" sz="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Text 14"/>
          <p:cNvSpPr/>
          <p:nvPr/>
        </p:nvSpPr>
        <p:spPr>
          <a:xfrm>
            <a:off x="4736520" y="1993320"/>
            <a:ext cx="2512440" cy="161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70" spc="-1" strike="noStrike">
                <a:solidFill>
                  <a:srgbClr val="111827"/>
                </a:solidFill>
                <a:latin typeface="Aptos"/>
                <a:ea typeface="Aptos"/>
              </a:rPr>
              <a:t>En cada clase conectaremos los conceptos con procesos reales: soporte, docencia, RRHH, ventas, operaciones o documentación.</a:t>
            </a:r>
            <a:endParaRPr b="0" lang="es-ES" sz="6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Shape 15"/>
          <p:cNvSpPr/>
          <p:nvPr/>
        </p:nvSpPr>
        <p:spPr>
          <a:xfrm>
            <a:off x="8046720" y="1417320"/>
            <a:ext cx="2832480" cy="2329560"/>
          </a:xfrm>
          <a:prstGeom prst="roundRect">
            <a:avLst>
              <a:gd name="adj" fmla="val 1569"/>
            </a:avLst>
          </a:prstGeom>
          <a:solidFill>
            <a:srgbClr val="e8f6f4"/>
          </a:solidFill>
          <a:ln w="7620">
            <a:solidFill>
              <a:srgbClr val="d7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Shape 16"/>
          <p:cNvSpPr/>
          <p:nvPr/>
        </p:nvSpPr>
        <p:spPr>
          <a:xfrm>
            <a:off x="8065080" y="1435680"/>
            <a:ext cx="38880" cy="2292840"/>
          </a:xfrm>
          <a:prstGeom prst="rect">
            <a:avLst/>
          </a:prstGeom>
          <a:solidFill>
            <a:srgbClr val="009a9a"/>
          </a:solidFill>
          <a:ln w="12700">
            <a:solidFill>
              <a:srgbClr val="009a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4" name="Text 17"/>
          <p:cNvSpPr/>
          <p:nvPr/>
        </p:nvSpPr>
        <p:spPr>
          <a:xfrm>
            <a:off x="8211240" y="1581840"/>
            <a:ext cx="25124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20" spc="-1" strike="noStrike">
                <a:solidFill>
                  <a:srgbClr val="111827"/>
                </a:solidFill>
                <a:latin typeface="Aptos"/>
                <a:ea typeface="Aptos"/>
              </a:rPr>
              <a:t>Criterio</a:t>
            </a:r>
            <a:endParaRPr b="0" lang="es-ES" sz="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Text 18"/>
          <p:cNvSpPr/>
          <p:nvPr/>
        </p:nvSpPr>
        <p:spPr>
          <a:xfrm>
            <a:off x="8211240" y="1993320"/>
            <a:ext cx="2512440" cy="161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70" spc="-1" strike="noStrike">
                <a:solidFill>
                  <a:srgbClr val="111827"/>
                </a:solidFill>
                <a:latin typeface="Aptos"/>
                <a:ea typeface="Aptos"/>
              </a:rPr>
              <a:t>No todo necesita IA, RAG o agentes. La decisión profesional es elegir la solución más simple, segura y medible.</a:t>
            </a:r>
            <a:endParaRPr b="0" lang="es-ES" sz="6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Text 19"/>
          <p:cNvSpPr/>
          <p:nvPr/>
        </p:nvSpPr>
        <p:spPr>
          <a:xfrm>
            <a:off x="3108960" y="5074920"/>
            <a:ext cx="598716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11827"/>
                </a:solidFill>
                <a:latin typeface="Aptos"/>
                <a:ea typeface="Aptos"/>
              </a:rPr>
              <a:t>Desde aquí comenzamos la Clase 1: Introducción a las APIs de Modelos de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11827"/>
                </a:solidFill>
                <a:latin typeface="Aptos"/>
                <a:ea typeface="Aptos"/>
              </a:rPr>
              <a:t>Lenguaje.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Application>LibreOffice/24.2.7.2$Linux_X86_64 LibreOffice_project/420$Build-2</Application>
  <AppVersion>15.0000</AppVersion>
  <Words>0</Words>
  <Paragraphs>0</Paragraphs>
  <Company>USACH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2026-05-14T21:06:40Z</dcterms:created>
  <dc:creator>Bastián Campusano</dc:creator>
  <dc:description/>
  <dc:language>es-ES</dc:language>
  <cp:lastModifiedBy/>
  <dcterms:modified xsi:type="dcterms:W3CDTF">2026-05-20T00:32:13Z</dcterms:modified>
  <cp:revision>7</cp:revision>
  <dc:subject>Presentación del módulo 1 ajustada</dc:subject>
  <dc:title>Módulo 1: APIs de IA, LangChain y RAG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10</vt:i4>
  </property>
</Properties>
</file>