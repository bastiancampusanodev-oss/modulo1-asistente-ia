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53.xml.rels" ContentType="application/vnd.openxmlformats-package.relationships+xml"/>
  <Override PartName="/ppt/slides/_rels/slide52.xml.rels" ContentType="application/vnd.openxmlformats-package.relationships+xml"/>
  <Override PartName="/ppt/slides/_rels/slide51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61.xml.rels" ContentType="application/vnd.openxmlformats-package.relationships+xml"/>
  <Override PartName="/ppt/slides/_rels/slide19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62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.xml.rels" ContentType="application/vnd.openxmlformats-package.relationships+xml"/>
  <Override PartName="/ppt/slides/_rels/slide56.xml.rels" ContentType="application/vnd.openxmlformats-package.relationships+xml"/>
  <Override PartName="/ppt/slides/_rels/slide10.xml.rels" ContentType="application/vnd.openxmlformats-package.relationships+xml"/>
  <Override PartName="/ppt/slides/_rels/slide47.xml.rels" ContentType="application/vnd.openxmlformats-package.relationships+xml"/>
  <Override PartName="/ppt/slides/_rels/slide49.xml.rels" ContentType="application/vnd.openxmlformats-package.relationships+xml"/>
  <Override PartName="/ppt/slides/_rels/slide12.xml.rels" ContentType="application/vnd.openxmlformats-package.relationships+xml"/>
  <Override PartName="/ppt/slides/_rels/slide17.xml.rels" ContentType="application/vnd.openxmlformats-package.relationships+xml"/>
  <Override PartName="/ppt/slides/_rels/slide54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58.xml.rels" ContentType="application/vnd.openxmlformats-package.relationships+xml"/>
  <Override PartName="/ppt/slides/_rels/slide57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55.xml.rels" ContentType="application/vnd.openxmlformats-package.relationships+xml"/>
  <Override PartName="/ppt/slides/_rels/slide18.xml.rels" ContentType="application/vnd.openxmlformats-package.relationships+xml"/>
  <Override PartName="/ppt/slides/_rels/slide60.xml.rels" ContentType="application/vnd.openxmlformats-package.relationships+xml"/>
  <Override PartName="/ppt/slides/_rels/slide48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28.xml.rels" ContentType="application/vnd.openxmlformats-package.relationships+xml"/>
  <Override PartName="/ppt/slides/_rels/slide1.xml.rels" ContentType="application/vnd.openxmlformats-package.relationships+xml"/>
  <Override PartName="/ppt/slides/_rels/slide29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46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59.xml.rels" ContentType="application/vnd.openxmlformats-package.relationships+xml"/>
  <Override PartName="/ppt/slides/_rels/slide13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37.xml.rels" ContentType="application/vnd.openxmlformats-package.relationships+xml"/>
  <Override PartName="/ppt/slides/_rels/slide38.xml.rels" ContentType="application/vnd.openxmlformats-package.relationships+xml"/>
  <Override PartName="/ppt/slides/_rels/slide39.xml.rels" ContentType="application/vnd.openxmlformats-package.relationships+xml"/>
  <Override PartName="/ppt/slides/_rels/slide40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45.xml.rels" ContentType="application/vnd.openxmlformats-package.relationships+xml"/>
  <Override PartName="/ppt/slides/_rels/slide50.xml.rels" ContentType="application/vnd.openxmlformats-package.relationships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slide18.xml" ContentType="application/vnd.openxmlformats-officedocument.presentationml.slide+xml"/>
  <Override PartName="/ppt/slides/slide60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48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4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62.xml" ContentType="application/vnd.openxmlformats-officedocument.presentationml.slide+xml"/>
  <Override PartName="/ppt/slides/slide27.xml" ContentType="application/vnd.openxmlformats-officedocument.presentationml.slide+xml"/>
  <Override PartName="/ppt/slides/slide61.xml" ContentType="application/vnd.openxmlformats-officedocument.presentationml.slide+xml"/>
  <Override PartName="/ppt/slides/slide19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28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59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Slides/notesSlide60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_rels/notesSlide53.xml.rels" ContentType="application/vnd.openxmlformats-package.relationships+xml"/>
  <Override PartName="/ppt/notesSlides/_rels/notesSlide52.xml.rels" ContentType="application/vnd.openxmlformats-package.relationships+xml"/>
  <Override PartName="/ppt/notesSlides/_rels/notesSlide57.xml.rels" ContentType="application/vnd.openxmlformats-package.relationships+xml"/>
  <Override PartName="/ppt/notesSlides/_rels/notesSlide55.xml.rels" ContentType="application/vnd.openxmlformats-package.relationships+xml"/>
  <Override PartName="/ppt/notesSlides/_rels/notesSlide6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62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47.xml.rels" ContentType="application/vnd.openxmlformats-package.relationships+xml"/>
  <Override PartName="/ppt/notesSlides/_rels/notesSlide49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58.xml.rels" ContentType="application/vnd.openxmlformats-package.relationships+xml"/>
  <Override PartName="/ppt/notesSlides/_rels/notesSlide60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5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59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8.xml.rels" ContentType="application/vnd.openxmlformats-package.relationships+xml"/>
  <Override PartName="/ppt/notesSlides/_rels/notesSlide56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40.xml.rels" ContentType="application/vnd.openxmlformats-package.relationships+xml"/>
  <Override PartName="/ppt/notesSlides/_rels/notesSlide41.xml.rels" ContentType="application/vnd.openxmlformats-package.relationships+xml"/>
  <Override PartName="/ppt/notesSlides/_rels/notesSlide42.xml.rels" ContentType="application/vnd.openxmlformats-package.relationships+xml"/>
  <Override PartName="/ppt/notesSlides/_rels/notesSlide43.xml.rels" ContentType="application/vnd.openxmlformats-package.relationships+xml"/>
  <Override PartName="/ppt/notesSlides/_rels/notesSlide44.xml.rels" ContentType="application/vnd.openxmlformats-package.relationships+xml"/>
  <Override PartName="/ppt/notesSlides/_rels/notesSlide45.xml.rels" ContentType="application/vnd.openxmlformats-package.relationships+xml"/>
  <Override PartName="/ppt/notesSlides/_rels/notesSlide46.xml.rels" ContentType="application/vnd.openxmlformats-package.relationships+xml"/>
  <Override PartName="/ppt/notesSlides/_rels/notesSlide50.xml.rels" ContentType="application/vnd.openxmlformats-package.relationships+xml"/>
  <Override PartName="/ppt/notesSlides/_rels/notesSlide5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Click to move the slide</a:t>
            </a: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16BD4E0-52D9-4539-8E32-5516ED876AF6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4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B423E4-A3B0-4AAF-822C-AA651DB994E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7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6CDF28-3D4E-4688-B6B1-E8578277644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0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3E6AF5-71C4-43FD-B404-1C228A914CE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3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22B732-D58C-43EE-B399-DE1EB134D57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6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C4A24E-3B17-4604-B244-AD948E46D9C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9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83AE7C-2729-4902-B5DE-DCE953980F5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2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B99FD7-792F-453A-ACCE-0AC76F36130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5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0E47A5-4292-43D2-A01E-41C3DA9DBF5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8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89B34E-1284-4853-B9FF-133CD31C759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1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64F084-761B-4269-9D3A-FB1747231B9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8F4714-A265-4B3A-A5AA-0089A250279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7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9352B8-6788-40B8-BB7D-53042418AFB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0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FF0A88-D121-4F51-B7B3-7B3A1D215DA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3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0160CF-0557-4A23-B9CF-F170E1E7547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6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386F3D-4C1A-4B8E-A007-57378F8F204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9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DF9F3F-8EB7-42EA-96DF-3E9EC66502F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2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9EAAC6-7BA4-485F-BB85-ADE0159AA3F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5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A22C30-3DA9-4F5C-8ACD-FC0DE1C8F9A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8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BFEE7F-8F43-47A5-BB23-0795BD7506A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85FE5D-912B-4605-AC1A-9C5AFEC7E96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4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494330-7DBF-4760-AC6E-B7F36DE15F6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7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8899EE-AACD-4BCE-AC63-0758E6AE830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0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A9FFD1-54E0-423E-AA95-1835E315A89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3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DB6A3F-23EF-4D89-AA2F-E8BBEA366CC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FB0583-4492-49B0-938C-39B007B813B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9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C66DF2-4553-4C8D-8F49-DAC4536F0CB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2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7168E9-1630-4ABD-BBD3-7B240B4BA27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5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9D939E-1A88-4F0C-9859-976D5BA445A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8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D450FC-00B8-4ED7-85CA-A2F32492E45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1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B67945-9CDB-4CF8-BDF2-915D1EE838D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4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A139ED-9C71-400B-8ADE-3D3DA6007C2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7" name="PlaceHolder 3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BED302-E17E-415C-95BC-B70CCC80E7E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0" name="PlaceHolder 3"/>
          <p:cNvSpPr>
            <a:spLocks noGrp="1"/>
          </p:cNvSpPr>
          <p:nvPr>
            <p:ph type="sldNum" idx="8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269054-67C4-405A-9892-D2E5689C283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3" name="PlaceHolder 3"/>
          <p:cNvSpPr>
            <a:spLocks noGrp="1"/>
          </p:cNvSpPr>
          <p:nvPr>
            <p:ph type="sldNum" idx="9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A9AD07-1AC3-4982-A9CF-990E7976BA7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6" name="PlaceHolder 3"/>
          <p:cNvSpPr>
            <a:spLocks noGrp="1"/>
          </p:cNvSpPr>
          <p:nvPr>
            <p:ph type="sldNum" idx="9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7418FB-DEF5-44D6-86B3-FC5085994B9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9" name="PlaceHolder 3"/>
          <p:cNvSpPr>
            <a:spLocks noGrp="1"/>
          </p:cNvSpPr>
          <p:nvPr>
            <p:ph type="sldNum" idx="9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773B75-B61C-4817-A27F-44324F7EA72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2" name="PlaceHolder 3"/>
          <p:cNvSpPr>
            <a:spLocks noGrp="1"/>
          </p:cNvSpPr>
          <p:nvPr>
            <p:ph type="sldNum" idx="9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7EF0E6-79CE-463D-B0F7-A50BAAA8E80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5" name="PlaceHolder 3"/>
          <p:cNvSpPr>
            <a:spLocks noGrp="1"/>
          </p:cNvSpPr>
          <p:nvPr>
            <p:ph type="sldNum" idx="9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E76989-457A-40EB-801A-9322462D83F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8" name="PlaceHolder 3"/>
          <p:cNvSpPr>
            <a:spLocks noGrp="1"/>
          </p:cNvSpPr>
          <p:nvPr>
            <p:ph type="sldNum" idx="9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B98E95-E76B-47C4-8670-AA70C7A0A77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1" name="PlaceHolder 3"/>
          <p:cNvSpPr>
            <a:spLocks noGrp="1"/>
          </p:cNvSpPr>
          <p:nvPr>
            <p:ph type="sldNum" idx="9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D9155A-9B82-45CB-8B77-EA784A8A9A2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4" name="PlaceHolder 3"/>
          <p:cNvSpPr>
            <a:spLocks noGrp="1"/>
          </p:cNvSpPr>
          <p:nvPr>
            <p:ph type="sldNum" idx="9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C9095E-7D79-49E9-AD9B-89ECD73E588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7" name="PlaceHolder 3"/>
          <p:cNvSpPr>
            <a:spLocks noGrp="1"/>
          </p:cNvSpPr>
          <p:nvPr>
            <p:ph type="sldNum" idx="9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3CAEE4-3A6C-46B9-961A-873896A830B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0" name="PlaceHolder 3"/>
          <p:cNvSpPr>
            <a:spLocks noGrp="1"/>
          </p:cNvSpPr>
          <p:nvPr>
            <p:ph type="sldNum" idx="9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95A298-0917-48DA-8AFA-34C52682B49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3" name="PlaceHolder 3"/>
          <p:cNvSpPr>
            <a:spLocks noGrp="1"/>
          </p:cNvSpPr>
          <p:nvPr>
            <p:ph type="sldNum" idx="10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6E6566-90F3-455E-9013-963E9E9DA57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6" name="PlaceHolder 3"/>
          <p:cNvSpPr>
            <a:spLocks noGrp="1"/>
          </p:cNvSpPr>
          <p:nvPr>
            <p:ph type="sldNum" idx="10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C6057F-FFFE-4EEC-B829-4ADA3744D75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9" name="PlaceHolder 3"/>
          <p:cNvSpPr>
            <a:spLocks noGrp="1"/>
          </p:cNvSpPr>
          <p:nvPr>
            <p:ph type="sldNum" idx="10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F69D15-A91A-4180-9C1A-666203EFDD8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2" name="PlaceHolder 3"/>
          <p:cNvSpPr>
            <a:spLocks noGrp="1"/>
          </p:cNvSpPr>
          <p:nvPr>
            <p:ph type="sldNum" idx="10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CEA504-0AF5-42C1-B13D-CE776FC40BA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5" name="PlaceHolder 3"/>
          <p:cNvSpPr>
            <a:spLocks noGrp="1"/>
          </p:cNvSpPr>
          <p:nvPr>
            <p:ph type="sldNum" idx="10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BEC78A-CD70-4D56-82BF-E8C6541EDBD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8" name="PlaceHolder 3"/>
          <p:cNvSpPr>
            <a:spLocks noGrp="1"/>
          </p:cNvSpPr>
          <p:nvPr>
            <p:ph type="sldNum" idx="10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DF814A-D617-40D6-80F4-992FCB9E22C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1" name="PlaceHolder 3"/>
          <p:cNvSpPr>
            <a:spLocks noGrp="1"/>
          </p:cNvSpPr>
          <p:nvPr>
            <p:ph type="sldNum" idx="10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C3C873-8D8B-4F5F-8012-01ADEA51244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4" name="PlaceHolder 3"/>
          <p:cNvSpPr>
            <a:spLocks noGrp="1"/>
          </p:cNvSpPr>
          <p:nvPr>
            <p:ph type="sldNum" idx="10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58314D-1937-42F2-A8A8-0CDE86EE914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7" name="PlaceHolder 3"/>
          <p:cNvSpPr>
            <a:spLocks noGrp="1"/>
          </p:cNvSpPr>
          <p:nvPr>
            <p:ph type="sldNum" idx="10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16761F-118F-4086-9095-B23150367E8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0" name="PlaceHolder 3"/>
          <p:cNvSpPr>
            <a:spLocks noGrp="1"/>
          </p:cNvSpPr>
          <p:nvPr>
            <p:ph type="sldNum" idx="10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862AF9-7FD5-4150-9CF3-5006D4C23C0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3" name="PlaceHolder 3"/>
          <p:cNvSpPr>
            <a:spLocks noGrp="1"/>
          </p:cNvSpPr>
          <p:nvPr>
            <p:ph type="sldNum" idx="1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FE9199-C537-428F-8AC1-2456A89E3FC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6" name="PlaceHolder 3"/>
          <p:cNvSpPr>
            <a:spLocks noGrp="1"/>
          </p:cNvSpPr>
          <p:nvPr>
            <p:ph type="sldNum" idx="1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FA9F07-A062-4CEA-A290-70DD468BBA7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9" name="PlaceHolder 3"/>
          <p:cNvSpPr>
            <a:spLocks noGrp="1"/>
          </p:cNvSpPr>
          <p:nvPr>
            <p:ph type="sldNum" idx="1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04DB2B-1D9E-42EF-BA7F-5DC1787AE2A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2" name="PlaceHolder 3"/>
          <p:cNvSpPr>
            <a:spLocks noGrp="1"/>
          </p:cNvSpPr>
          <p:nvPr>
            <p:ph type="sldNum" idx="1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7B465B-57ED-4F02-8990-2D617C33CC5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5" name="PlaceHolder 3"/>
          <p:cNvSpPr>
            <a:spLocks noGrp="1"/>
          </p:cNvSpPr>
          <p:nvPr>
            <p:ph type="sldNum" idx="1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FAB869-929A-4D9C-B8EE-50DF5B13895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8" name="PlaceHolder 3"/>
          <p:cNvSpPr>
            <a:spLocks noGrp="1"/>
          </p:cNvSpPr>
          <p:nvPr>
            <p:ph type="sldNum" idx="1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DAAC1A-18A8-438F-87CF-CF2D235F804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1" name="PlaceHolder 3"/>
          <p:cNvSpPr>
            <a:spLocks noGrp="1"/>
          </p:cNvSpPr>
          <p:nvPr>
            <p:ph type="sldNum" idx="1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77F0A3-7CA4-4F5B-942F-9FD31489963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4" name="PlaceHolder 3"/>
          <p:cNvSpPr>
            <a:spLocks noGrp="1"/>
          </p:cNvSpPr>
          <p:nvPr>
            <p:ph type="sldNum" idx="1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D80734-F2DA-4DD6-BD6D-62BCB774002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62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AFEF7B6-03CE-4D2C-AFA9-2AFFF04799FB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B66F77F-74A4-406A-8E17-2F1190440494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Click to edit the title text format</a:t>
            </a: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s-ES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s-ES" sz="24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s-ES" sz="20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s-ES" sz="20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s-ES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s-ES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s-ES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20"/>
            <a:ext cx="11155680" cy="360"/>
          </a:xfrm>
          <a:prstGeom prst="line">
            <a:avLst/>
          </a:prstGeom>
          <a:ln w="889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641916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6b7280"/>
                </a:solidFill>
                <a:latin typeface="Aptos"/>
                <a:ea typeface="Aptos"/>
              </a:rPr>
              <a:t>Diplomado Ejecutivo en Confianza Digital, IA y Automatización Empresarial · Módulo 1 · Clase 4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698480" y="6419160"/>
            <a:ext cx="959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8b1e3f"/>
                </a:solidFill>
                <a:latin typeface="Aptos Display"/>
                <a:ea typeface="Aptos Display"/>
              </a:rPr>
              <a:t>USACH</a:t>
            </a:r>
            <a:endParaRPr b="0" lang="es-ES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sldNum" idx="1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E794373-E8C6-4CDE-839C-7F0EB4DAC854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&lt;number&gt;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Click to edit the title text format</a:t>
            </a: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s-ES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s-ES" sz="24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s-ES" sz="20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s-ES" sz="20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s-ES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s-ES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s-ES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502920" y="6336720"/>
            <a:ext cx="11155680" cy="360"/>
          </a:xfrm>
          <a:prstGeom prst="line">
            <a:avLst/>
          </a:prstGeom>
          <a:ln w="8890">
            <a:solidFill>
              <a:srgbClr val="d9de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02920" y="6419160"/>
            <a:ext cx="85950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80" spc="-1" strike="noStrike">
                <a:solidFill>
                  <a:srgbClr val="6b7280"/>
                </a:solidFill>
                <a:latin typeface="Aptos"/>
                <a:ea typeface="Aptos"/>
              </a:rPr>
              <a:t>Diplomado Ejecutivo en Confianza Digital, IA y Automatización Empresarial · Módulo 1 · Clase 4</a:t>
            </a:r>
            <a:endParaRPr b="0" lang="es-ES" sz="7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10698480" y="6419160"/>
            <a:ext cx="959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20" spc="-1" strike="noStrike">
                <a:solidFill>
                  <a:srgbClr val="8b1e3f"/>
                </a:solidFill>
                <a:latin typeface="Aptos Display"/>
                <a:ea typeface="Aptos Display"/>
              </a:rPr>
              <a:t>USACH</a:t>
            </a:r>
            <a:endParaRPr b="0" lang="es-ES" sz="8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sldNum" idx="2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2CDD275-922E-4741-B1C9-FDCD8A197D7D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&lt;number&gt;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chemeClr val="dk1"/>
                </a:solidFill>
                <a:latin typeface="Aptos"/>
              </a:rPr>
              <a:t>Click to edit the title text format</a:t>
            </a: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b="0" lang="es-ES" sz="3200" spc="-1" strike="noStrike">
              <a:solidFill>
                <a:schemeClr val="dk1"/>
              </a:solidFill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b="0" lang="es-ES" sz="2400" spc="-1" strike="noStrike">
              <a:solidFill>
                <a:schemeClr val="dk1"/>
              </a:solidFill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b="0" lang="es-ES" sz="2000" spc="-1" strike="noStrike">
              <a:solidFill>
                <a:schemeClr val="dk1"/>
              </a:solidFill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b="0" lang="es-ES" sz="2000" spc="-1" strike="noStrike">
              <a:solidFill>
                <a:schemeClr val="dk1"/>
              </a:solidFill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b="0" lang="es-ES" sz="2000" spc="-1" strike="noStrike">
              <a:solidFill>
                <a:schemeClr val="dk1"/>
              </a:solidFill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b="0" lang="es-ES" sz="2000" spc="-1" strike="noStrike">
              <a:solidFill>
                <a:schemeClr val="dk1"/>
              </a:solidFill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b="0" lang="es-ES" sz="20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2" name="Text 2"/>
          <p:cNvSpPr/>
          <p:nvPr/>
        </p:nvSpPr>
        <p:spPr>
          <a:xfrm>
            <a:off x="731520" y="1554480"/>
            <a:ext cx="1828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8b1e3f"/>
                </a:solidFill>
                <a:latin typeface="Aptos"/>
              </a:rPr>
              <a:t>Clase 4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731520" y="2057400"/>
            <a:ext cx="77720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Aplicaciones prácticas</a:t>
            </a:r>
            <a:endParaRPr b="0" lang="es-ES" sz="3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con LangChain</a:t>
            </a:r>
            <a:endParaRPr b="0" lang="es-E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749880" y="3584520"/>
            <a:ext cx="8046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667085"/>
                </a:solidFill>
                <a:latin typeface="Aptos"/>
              </a:rPr>
              <a:t>De flujo diseñado a aplicación defendible: datos, tools, agentes, evaluación y operación.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777240" y="4343400"/>
            <a:ext cx="959760" cy="255600"/>
          </a:xfrm>
          <a:prstGeom prst="roundRect">
            <a:avLst>
              <a:gd name="adj" fmla="val 17857"/>
            </a:avLst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6" name="Text 6"/>
          <p:cNvSpPr/>
          <p:nvPr/>
        </p:nvSpPr>
        <p:spPr>
          <a:xfrm>
            <a:off x="850320" y="4393800"/>
            <a:ext cx="813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Aptos"/>
              </a:rPr>
              <a:t>Datos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1947600" y="4343400"/>
            <a:ext cx="959760" cy="255600"/>
          </a:xfrm>
          <a:prstGeom prst="roundRect">
            <a:avLst>
              <a:gd name="adj" fmla="val 17857"/>
            </a:avLst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8" name="Text 8"/>
          <p:cNvSpPr/>
          <p:nvPr/>
        </p:nvSpPr>
        <p:spPr>
          <a:xfrm>
            <a:off x="2020680" y="4393800"/>
            <a:ext cx="813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Aptos"/>
              </a:rPr>
              <a:t>Calidad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9"/>
          <p:cNvSpPr/>
          <p:nvPr/>
        </p:nvSpPr>
        <p:spPr>
          <a:xfrm>
            <a:off x="3117960" y="4343400"/>
            <a:ext cx="959760" cy="255600"/>
          </a:xfrm>
          <a:prstGeom prst="roundRect">
            <a:avLst>
              <a:gd name="adj" fmla="val 17857"/>
            </a:avLst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3191400" y="4393800"/>
            <a:ext cx="813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Aptos"/>
              </a:rPr>
              <a:t>OCR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1"/>
          <p:cNvSpPr/>
          <p:nvPr/>
        </p:nvSpPr>
        <p:spPr>
          <a:xfrm>
            <a:off x="4288680" y="4343400"/>
            <a:ext cx="959760" cy="255600"/>
          </a:xfrm>
          <a:prstGeom prst="roundRect">
            <a:avLst>
              <a:gd name="adj" fmla="val 17857"/>
            </a:avLst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4361760" y="4393800"/>
            <a:ext cx="813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Aptos"/>
              </a:rPr>
              <a:t>Tools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3"/>
          <p:cNvSpPr/>
          <p:nvPr/>
        </p:nvSpPr>
        <p:spPr>
          <a:xfrm>
            <a:off x="5459040" y="4343400"/>
            <a:ext cx="959760" cy="255600"/>
          </a:xfrm>
          <a:prstGeom prst="roundRect">
            <a:avLst>
              <a:gd name="adj" fmla="val 17857"/>
            </a:avLst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4" name="Text 14"/>
          <p:cNvSpPr/>
          <p:nvPr/>
        </p:nvSpPr>
        <p:spPr>
          <a:xfrm>
            <a:off x="5532120" y="4393800"/>
            <a:ext cx="813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Aptos"/>
              </a:rPr>
              <a:t>MCP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15"/>
          <p:cNvSpPr/>
          <p:nvPr/>
        </p:nvSpPr>
        <p:spPr>
          <a:xfrm>
            <a:off x="6629400" y="4343400"/>
            <a:ext cx="959760" cy="255600"/>
          </a:xfrm>
          <a:prstGeom prst="roundRect">
            <a:avLst>
              <a:gd name="adj" fmla="val 17857"/>
            </a:avLst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6702480" y="4393800"/>
            <a:ext cx="813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Aptos"/>
              </a:rPr>
              <a:t>Agentes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7"/>
          <p:cNvSpPr/>
          <p:nvPr/>
        </p:nvSpPr>
        <p:spPr>
          <a:xfrm>
            <a:off x="7799760" y="4343400"/>
            <a:ext cx="959760" cy="255600"/>
          </a:xfrm>
          <a:prstGeom prst="roundRect">
            <a:avLst>
              <a:gd name="adj" fmla="val 17857"/>
            </a:avLst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8" name="Text 18"/>
          <p:cNvSpPr/>
          <p:nvPr/>
        </p:nvSpPr>
        <p:spPr>
          <a:xfrm>
            <a:off x="7872840" y="4393800"/>
            <a:ext cx="813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Aptos"/>
              </a:rPr>
              <a:t>Evaluación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19"/>
          <p:cNvSpPr/>
          <p:nvPr/>
        </p:nvSpPr>
        <p:spPr>
          <a:xfrm>
            <a:off x="8970120" y="4343400"/>
            <a:ext cx="959760" cy="255600"/>
          </a:xfrm>
          <a:prstGeom prst="roundRect">
            <a:avLst>
              <a:gd name="adj" fmla="val 17857"/>
            </a:avLst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0" name="Text 20"/>
          <p:cNvSpPr/>
          <p:nvPr/>
        </p:nvSpPr>
        <p:spPr>
          <a:xfrm>
            <a:off x="9043560" y="4393800"/>
            <a:ext cx="813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Aptos"/>
              </a:rPr>
              <a:t>Operación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21"/>
          <p:cNvSpPr/>
          <p:nvPr/>
        </p:nvSpPr>
        <p:spPr>
          <a:xfrm>
            <a:off x="777240" y="612648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667085"/>
                </a:solidFill>
                <a:latin typeface="Aptos"/>
              </a:rPr>
              <a:t>Diplomado Ejecutivo en Confianza Digital, IA y Automatización Empresarial · USACH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22"/>
          <p:cNvSpPr/>
          <p:nvPr/>
        </p:nvSpPr>
        <p:spPr>
          <a:xfrm>
            <a:off x="10195560" y="5989320"/>
            <a:ext cx="1188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8b1e3f"/>
                </a:solidFill>
                <a:latin typeface="Aptos"/>
              </a:rPr>
              <a:t>Módulo 1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4" name="Shape 1"/>
          <p:cNvSpPr/>
          <p:nvPr/>
        </p:nvSpPr>
        <p:spPr>
          <a:xfrm>
            <a:off x="0" y="0"/>
            <a:ext cx="4251600" cy="685764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5" name="Text 2"/>
          <p:cNvSpPr/>
          <p:nvPr/>
        </p:nvSpPr>
        <p:spPr>
          <a:xfrm>
            <a:off x="658440" y="105156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9d9e4"/>
                </a:solidFill>
                <a:latin typeface="Aptos"/>
              </a:rPr>
              <a:t>CONTINUIDAD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658440" y="1508760"/>
            <a:ext cx="1096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ptos"/>
              </a:rPr>
              <a:t>01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4"/>
          <p:cNvSpPr/>
          <p:nvPr/>
        </p:nvSpPr>
        <p:spPr>
          <a:xfrm>
            <a:off x="658440" y="2148840"/>
            <a:ext cx="32457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Del flujo al piloto controlado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5"/>
          <p:cNvSpPr/>
          <p:nvPr/>
        </p:nvSpPr>
        <p:spPr>
          <a:xfrm>
            <a:off x="4892040" y="2331720"/>
            <a:ext cx="6217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72033"/>
                </a:solidFill>
                <a:latin typeface="Aptos"/>
              </a:rPr>
              <a:t>Qué cambia cuando una solución deja de ser diagrama y empieza a operar.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6"/>
          <p:cNvSpPr/>
          <p:nvPr/>
        </p:nvSpPr>
        <p:spPr>
          <a:xfrm>
            <a:off x="4892040" y="3246120"/>
            <a:ext cx="4206240" cy="360"/>
          </a:xfrm>
          <a:prstGeom prst="line">
            <a:avLst/>
          </a:prstGeom>
          <a:ln w="1778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36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Recap mínimo de Clase 3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37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Lo que usamos como </a:t>
            </a: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base, sin repetir la clase </a:t>
            </a: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anterior.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34"/>
          <p:cNvSpPr/>
          <p:nvPr/>
        </p:nvSpPr>
        <p:spPr>
          <a:xfrm>
            <a:off x="685800" y="132588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3" name="Shape 35"/>
          <p:cNvSpPr/>
          <p:nvPr/>
        </p:nvSpPr>
        <p:spPr>
          <a:xfrm>
            <a:off x="685800" y="1325880"/>
            <a:ext cx="63720" cy="52992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4" name="Text 38"/>
          <p:cNvSpPr/>
          <p:nvPr/>
        </p:nvSpPr>
        <p:spPr>
          <a:xfrm>
            <a:off x="852120" y="136440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1. Patrón elegido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39"/>
          <p:cNvSpPr/>
          <p:nvPr/>
        </p:nvSpPr>
        <p:spPr>
          <a:xfrm>
            <a:off x="900000" y="16830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API simple, chain, RAG, tool, agente o no usar IA.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36"/>
          <p:cNvSpPr/>
          <p:nvPr/>
        </p:nvSpPr>
        <p:spPr>
          <a:xfrm>
            <a:off x="685800" y="198432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7" name="Shape 37"/>
          <p:cNvSpPr/>
          <p:nvPr/>
        </p:nvSpPr>
        <p:spPr>
          <a:xfrm>
            <a:off x="685800" y="1984320"/>
            <a:ext cx="63720" cy="52992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8" name="Text 40"/>
          <p:cNvSpPr/>
          <p:nvPr/>
        </p:nvSpPr>
        <p:spPr>
          <a:xfrm>
            <a:off x="900000" y="198432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2. Componentes mínimos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41"/>
          <p:cNvSpPr/>
          <p:nvPr/>
        </p:nvSpPr>
        <p:spPr>
          <a:xfrm>
            <a:off x="900000" y="223992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Entrada, preparación, componente principal, modelo/parser, salida y control.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38"/>
          <p:cNvSpPr/>
          <p:nvPr/>
        </p:nvSpPr>
        <p:spPr>
          <a:xfrm>
            <a:off x="685800" y="264276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1" name="Shape 39"/>
          <p:cNvSpPr/>
          <p:nvPr/>
        </p:nvSpPr>
        <p:spPr>
          <a:xfrm>
            <a:off x="685800" y="2642760"/>
            <a:ext cx="63720" cy="52992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2" name="Text 42"/>
          <p:cNvSpPr/>
          <p:nvPr/>
        </p:nvSpPr>
        <p:spPr>
          <a:xfrm>
            <a:off x="887040" y="264276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3. Flujo principal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43"/>
          <p:cNvSpPr/>
          <p:nvPr/>
        </p:nvSpPr>
        <p:spPr>
          <a:xfrm>
            <a:off x="900000" y="29142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Una línea de arquitectura de 5 a 7 cajas desde input hasta resultado.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40"/>
          <p:cNvSpPr/>
          <p:nvPr/>
        </p:nvSpPr>
        <p:spPr>
          <a:xfrm>
            <a:off x="685800" y="330084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5" name="Shape 41"/>
          <p:cNvSpPr/>
          <p:nvPr/>
        </p:nvSpPr>
        <p:spPr>
          <a:xfrm>
            <a:off x="685800" y="3300840"/>
            <a:ext cx="63720" cy="529920"/>
          </a:xfrm>
          <a:prstGeom prst="rect">
            <a:avLst/>
          </a:prstGeom>
          <a:solidFill>
            <a:srgbClr val="d96c06"/>
          </a:solidFill>
          <a:ln w="12700">
            <a:solidFill>
              <a:srgbClr val="d96c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6" name="Text 44"/>
          <p:cNvSpPr/>
          <p:nvPr/>
        </p:nvSpPr>
        <p:spPr>
          <a:xfrm>
            <a:off x="887040" y="334440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4. Lo que falta hoy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45"/>
          <p:cNvSpPr/>
          <p:nvPr/>
        </p:nvSpPr>
        <p:spPr>
          <a:xfrm>
            <a:off x="887040" y="36000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Datos reales, tools, autonomía, evaluación, operación y límites.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46"/>
          <p:cNvSpPr/>
          <p:nvPr/>
        </p:nvSpPr>
        <p:spPr>
          <a:xfrm>
            <a:off x="887040" y="412380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47"/>
          <p:cNvSpPr/>
          <p:nvPr/>
        </p:nvSpPr>
        <p:spPr>
          <a:xfrm>
            <a:off x="887040" y="44622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sldNum" idx="6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FDB4079-B918-42D5-9CDB-3F4191595FBE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3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2" name="Shape 1"/>
          <p:cNvSpPr/>
          <p:nvPr/>
        </p:nvSpPr>
        <p:spPr>
          <a:xfrm>
            <a:off x="0" y="0"/>
            <a:ext cx="4251600" cy="685764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3" name="Text 2"/>
          <p:cNvSpPr/>
          <p:nvPr/>
        </p:nvSpPr>
        <p:spPr>
          <a:xfrm>
            <a:off x="658440" y="105156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9d9e4"/>
                </a:solidFill>
                <a:latin typeface="Aptos"/>
              </a:rPr>
              <a:t>DATOS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658440" y="1508760"/>
            <a:ext cx="1096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ptos"/>
              </a:rPr>
              <a:t>02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4"/>
          <p:cNvSpPr/>
          <p:nvPr/>
        </p:nvSpPr>
        <p:spPr>
          <a:xfrm>
            <a:off x="658440" y="2148840"/>
            <a:ext cx="32457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Datos y calidad de datos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5"/>
          <p:cNvSpPr/>
          <p:nvPr/>
        </p:nvSpPr>
        <p:spPr>
          <a:xfrm>
            <a:off x="4892040" y="2331720"/>
            <a:ext cx="6217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72033"/>
                </a:solidFill>
                <a:latin typeface="Aptos"/>
              </a:rPr>
              <a:t>Antes de agentes, la solución debe saber qué datos usa y cuánto confiar en ellos.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6"/>
          <p:cNvSpPr/>
          <p:nvPr/>
        </p:nvSpPr>
        <p:spPr>
          <a:xfrm>
            <a:off x="4892040" y="3246120"/>
            <a:ext cx="4206240" cy="360"/>
          </a:xfrm>
          <a:prstGeom prst="line">
            <a:avLst/>
          </a:prstGeom>
          <a:ln w="1778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Tipos de datos en una aplicación LLM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El patrón correcto depende de dónde vive la información.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0" name="Table 0"/>
          <p:cNvGraphicFramePr/>
          <p:nvPr/>
        </p:nvGraphicFramePr>
        <p:xfrm>
          <a:off x="621720" y="1243440"/>
          <a:ext cx="9783720" cy="4663080"/>
        </p:xfrm>
        <a:graphic>
          <a:graphicData uri="http://schemas.openxmlformats.org/drawingml/2006/table">
            <a:tbl>
              <a:tblPr/>
              <a:tblGrid>
                <a:gridCol w="2057400"/>
                <a:gridCol w="2743200"/>
                <a:gridCol w="2194560"/>
                <a:gridCol w="2788920"/>
              </a:tblGrid>
              <a:tr h="5828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86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Tipo de dato</a:t>
                      </a:r>
                      <a:endParaRPr b="0" lang="es-ES" sz="86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86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Ejemplo</a:t>
                      </a:r>
                      <a:endParaRPr b="0" lang="es-ES" sz="86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86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Patrón probable</a:t>
                      </a:r>
                      <a:endParaRPr b="0" lang="es-ES" sz="86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86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Control mínimo</a:t>
                      </a:r>
                      <a:endParaRPr b="0" lang="es-ES" sz="86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</a:tr>
              <a:tr h="5828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Texto entregado por usuario</a:t>
                      </a:r>
                      <a:endParaRPr b="0" lang="es-E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Correo, reclamo, descripción</a:t>
                      </a:r>
                      <a:endParaRPr b="0" lang="es-E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API simple / chain</a:t>
                      </a:r>
                      <a:endParaRPr b="0" lang="es-E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Schema o formato esperado</a:t>
                      </a:r>
                      <a:endParaRPr b="0" lang="es-E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5828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Documento estático</a:t>
                      </a:r>
                      <a:endParaRPr b="0" lang="es-E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Manual, política, reglamento</a:t>
                      </a:r>
                      <a:endParaRPr b="0" lang="es-E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RAG</a:t>
                      </a:r>
                      <a:endParaRPr b="0" lang="es-E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Fuente + fecha + permisos</a:t>
                      </a:r>
                      <a:endParaRPr b="0" lang="es-E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28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Documento escaneado</a:t>
                      </a:r>
                      <a:endParaRPr b="0" lang="es-E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Factura, BL, packing list</a:t>
                      </a:r>
                      <a:endParaRPr b="0" lang="es-E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OCR + extracción</a:t>
                      </a:r>
                      <a:endParaRPr b="0" lang="es-E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Confianza + revisión</a:t>
                      </a:r>
                      <a:endParaRPr b="0" lang="es-E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5828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Dato vivo</a:t>
                      </a:r>
                      <a:endParaRPr b="0" lang="es-E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Stock, ticket, precio, estado</a:t>
                      </a:r>
                      <a:endParaRPr b="0" lang="es-E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Tool</a:t>
                      </a:r>
                      <a:endParaRPr b="0" lang="es-E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Permisos + logs</a:t>
                      </a:r>
                      <a:endParaRPr b="0" lang="es-E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28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Base relacional</a:t>
                      </a:r>
                      <a:endParaRPr b="0" lang="es-E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Paciente, pedido, proyecto</a:t>
                      </a:r>
                      <a:endParaRPr b="0" lang="es-E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Tool SQL/API</a:t>
                      </a:r>
                      <a:endParaRPr b="0" lang="es-E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Validación + auditoría</a:t>
                      </a:r>
                      <a:endParaRPr b="0" lang="es-E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5828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Proceso multi-paso</a:t>
                      </a:r>
                      <a:endParaRPr b="0" lang="es-E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Investigar, decidir, escalar</a:t>
                      </a:r>
                      <a:endParaRPr b="0" lang="es-E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Agente controlado</a:t>
                      </a:r>
                      <a:endParaRPr b="0" lang="es-E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Máximo de pasos + trazas</a:t>
                      </a:r>
                      <a:endParaRPr b="0" lang="es-E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28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Cálculo exacto</a:t>
                      </a:r>
                      <a:endParaRPr b="0" lang="es-E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Semáforo, fórmula, umbral</a:t>
                      </a:r>
                      <a:endParaRPr b="0" lang="es-E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Regla / BI sin IA</a:t>
                      </a:r>
                      <a:endParaRPr b="0" lang="es-E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Pruebas unitarias</a:t>
                      </a:r>
                      <a:endParaRPr b="0" lang="es-ES" sz="8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81" name="PlaceHolder 1"/>
          <p:cNvSpPr>
            <a:spLocks noGrp="1"/>
          </p:cNvSpPr>
          <p:nvPr>
            <p:ph type="sldNum" idx="7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7295490-1008-4D1B-9A54-44AF2078DB67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4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Preguntas antes de automatizar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Una solución IA falla rápido si los datos no están definidos.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2"/>
          <p:cNvSpPr/>
          <p:nvPr/>
        </p:nvSpPr>
        <p:spPr>
          <a:xfrm>
            <a:off x="685800" y="132588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5" name="Shape 3"/>
          <p:cNvSpPr/>
          <p:nvPr/>
        </p:nvSpPr>
        <p:spPr>
          <a:xfrm>
            <a:off x="685800" y="1325880"/>
            <a:ext cx="63720" cy="52992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6" name="Text 4"/>
          <p:cNvSpPr/>
          <p:nvPr/>
        </p:nvSpPr>
        <p:spPr>
          <a:xfrm>
            <a:off x="887040" y="132588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1. Qué datos necesita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5"/>
          <p:cNvSpPr/>
          <p:nvPr/>
        </p:nvSpPr>
        <p:spPr>
          <a:xfrm>
            <a:off x="900000" y="16542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No todos los datos disponibles son útiles. Definir los mínimos para responder o decidir.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6"/>
          <p:cNvSpPr/>
          <p:nvPr/>
        </p:nvSpPr>
        <p:spPr>
          <a:xfrm>
            <a:off x="685800" y="198432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9" name="Shape 7"/>
          <p:cNvSpPr/>
          <p:nvPr/>
        </p:nvSpPr>
        <p:spPr>
          <a:xfrm>
            <a:off x="685800" y="1984320"/>
            <a:ext cx="63720" cy="52992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0" name="Text 8"/>
          <p:cNvSpPr/>
          <p:nvPr/>
        </p:nvSpPr>
        <p:spPr>
          <a:xfrm>
            <a:off x="887040" y="198432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2. Dónde viven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9"/>
          <p:cNvSpPr/>
          <p:nvPr/>
        </p:nvSpPr>
        <p:spPr>
          <a:xfrm>
            <a:off x="900000" y="223992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Documento, planilla, base de datos, API, CRM, ERP, correo o sistema legacy.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0"/>
          <p:cNvSpPr/>
          <p:nvPr/>
        </p:nvSpPr>
        <p:spPr>
          <a:xfrm>
            <a:off x="685800" y="264276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3" name="Shape 11"/>
          <p:cNvSpPr/>
          <p:nvPr/>
        </p:nvSpPr>
        <p:spPr>
          <a:xfrm>
            <a:off x="685800" y="2642760"/>
            <a:ext cx="63720" cy="52992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4" name="Text 12"/>
          <p:cNvSpPr/>
          <p:nvPr/>
        </p:nvSpPr>
        <p:spPr>
          <a:xfrm>
            <a:off x="887040" y="263304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3. Quién puede verlos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3"/>
          <p:cNvSpPr/>
          <p:nvPr/>
        </p:nvSpPr>
        <p:spPr>
          <a:xfrm>
            <a:off x="887040" y="29142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Permisos por usuario, rol, unidad, sensibilidad y finalidad de uso.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14"/>
          <p:cNvSpPr/>
          <p:nvPr/>
        </p:nvSpPr>
        <p:spPr>
          <a:xfrm>
            <a:off x="685800" y="330084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7" name="Shape 15"/>
          <p:cNvSpPr/>
          <p:nvPr/>
        </p:nvSpPr>
        <p:spPr>
          <a:xfrm>
            <a:off x="685800" y="3300840"/>
            <a:ext cx="63720" cy="529920"/>
          </a:xfrm>
          <a:prstGeom prst="rect">
            <a:avLst/>
          </a:prstGeom>
          <a:solidFill>
            <a:srgbClr val="d96c06"/>
          </a:solidFill>
          <a:ln w="12700">
            <a:solidFill>
              <a:srgbClr val="d96c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8" name="Text 16"/>
          <p:cNvSpPr/>
          <p:nvPr/>
        </p:nvSpPr>
        <p:spPr>
          <a:xfrm>
            <a:off x="887040" y="330084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4. Cuándo se actualizan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7"/>
          <p:cNvSpPr/>
          <p:nvPr/>
        </p:nvSpPr>
        <p:spPr>
          <a:xfrm>
            <a:off x="887040" y="36000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Dato estático, diario, en tiempo real o manual. La vigencia cambia el diseño.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18"/>
          <p:cNvSpPr/>
          <p:nvPr/>
        </p:nvSpPr>
        <p:spPr>
          <a:xfrm>
            <a:off x="685800" y="395928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1" name="Shape 19"/>
          <p:cNvSpPr/>
          <p:nvPr/>
        </p:nvSpPr>
        <p:spPr>
          <a:xfrm>
            <a:off x="685800" y="3959280"/>
            <a:ext cx="63720" cy="52992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2" name="Text 20"/>
          <p:cNvSpPr/>
          <p:nvPr/>
        </p:nvSpPr>
        <p:spPr>
          <a:xfrm>
            <a:off x="887040" y="395928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5. Qué pasa si fallan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21"/>
          <p:cNvSpPr/>
          <p:nvPr/>
        </p:nvSpPr>
        <p:spPr>
          <a:xfrm>
            <a:off x="887040" y="421488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Falta dato, contradicción, fuente vencida o extracción incompleta: definir fallback.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22"/>
          <p:cNvSpPr/>
          <p:nvPr/>
        </p:nvSpPr>
        <p:spPr>
          <a:xfrm>
            <a:off x="685800" y="5596200"/>
            <a:ext cx="10835280" cy="438480"/>
          </a:xfrm>
          <a:prstGeom prst="roundRect">
            <a:avLst>
              <a:gd name="adj" fmla="val 12500"/>
            </a:avLst>
          </a:prstGeom>
          <a:solidFill>
            <a:srgbClr val="f6e8ee"/>
          </a:solidFill>
          <a:ln w="12700">
            <a:solidFill>
              <a:srgbClr val="e7c5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5" name="Text 23"/>
          <p:cNvSpPr/>
          <p:nvPr/>
        </p:nvSpPr>
        <p:spPr>
          <a:xfrm>
            <a:off x="868680" y="5715000"/>
            <a:ext cx="10469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8b1e3f"/>
                </a:solidFill>
                <a:latin typeface="Aptos"/>
              </a:rPr>
              <a:t>Primero ordenar datos y permisos; después decidir RAG, tool, agente o regla.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sldNum" idx="8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5018855-8605-4E16-8545-13730221CE68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6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Calidad de datos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Una app LLM no mejora datos malos por si sola.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2"/>
          <p:cNvSpPr/>
          <p:nvPr/>
        </p:nvSpPr>
        <p:spPr>
          <a:xfrm>
            <a:off x="685800" y="1417320"/>
            <a:ext cx="3474360" cy="7128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10" name="Shape 3"/>
          <p:cNvSpPr/>
          <p:nvPr/>
        </p:nvSpPr>
        <p:spPr>
          <a:xfrm>
            <a:off x="685800" y="1417320"/>
            <a:ext cx="63720" cy="71280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887040" y="1581840"/>
            <a:ext cx="312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Completitud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5"/>
          <p:cNvSpPr/>
          <p:nvPr/>
        </p:nvSpPr>
        <p:spPr>
          <a:xfrm>
            <a:off x="887040" y="1920240"/>
            <a:ext cx="31269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5000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¿faltan campos importantes?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6"/>
          <p:cNvSpPr/>
          <p:nvPr/>
        </p:nvSpPr>
        <p:spPr>
          <a:xfrm>
            <a:off x="4389120" y="1417320"/>
            <a:ext cx="3474360" cy="7128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14" name="Shape 7"/>
          <p:cNvSpPr/>
          <p:nvPr/>
        </p:nvSpPr>
        <p:spPr>
          <a:xfrm>
            <a:off x="4389120" y="1417320"/>
            <a:ext cx="63720" cy="7128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15" name="Text 8"/>
          <p:cNvSpPr/>
          <p:nvPr/>
        </p:nvSpPr>
        <p:spPr>
          <a:xfrm>
            <a:off x="4590360" y="1581840"/>
            <a:ext cx="312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Consistencia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9"/>
          <p:cNvSpPr/>
          <p:nvPr/>
        </p:nvSpPr>
        <p:spPr>
          <a:xfrm>
            <a:off x="4590360" y="1920240"/>
            <a:ext cx="31269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5000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¿siguen el mismo formato?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10"/>
          <p:cNvSpPr/>
          <p:nvPr/>
        </p:nvSpPr>
        <p:spPr>
          <a:xfrm>
            <a:off x="8092440" y="1417320"/>
            <a:ext cx="3474360" cy="7128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18" name="Shape 11"/>
          <p:cNvSpPr/>
          <p:nvPr/>
        </p:nvSpPr>
        <p:spPr>
          <a:xfrm>
            <a:off x="8092440" y="1417320"/>
            <a:ext cx="63720" cy="71280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19" name="Text 12"/>
          <p:cNvSpPr/>
          <p:nvPr/>
        </p:nvSpPr>
        <p:spPr>
          <a:xfrm>
            <a:off x="8293680" y="1581840"/>
            <a:ext cx="312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Actualización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13"/>
          <p:cNvSpPr/>
          <p:nvPr/>
        </p:nvSpPr>
        <p:spPr>
          <a:xfrm>
            <a:off x="8293680" y="1920240"/>
            <a:ext cx="31269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5000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¿están vigentes?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4"/>
          <p:cNvSpPr/>
          <p:nvPr/>
        </p:nvSpPr>
        <p:spPr>
          <a:xfrm>
            <a:off x="685800" y="2350080"/>
            <a:ext cx="3474360" cy="7128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22" name="Shape 15"/>
          <p:cNvSpPr/>
          <p:nvPr/>
        </p:nvSpPr>
        <p:spPr>
          <a:xfrm>
            <a:off x="685800" y="2350080"/>
            <a:ext cx="63720" cy="712800"/>
          </a:xfrm>
          <a:prstGeom prst="rect">
            <a:avLst/>
          </a:prstGeom>
          <a:solidFill>
            <a:srgbClr val="d96c06"/>
          </a:solidFill>
          <a:ln w="12700">
            <a:solidFill>
              <a:srgbClr val="d96c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23" name="Text 16"/>
          <p:cNvSpPr/>
          <p:nvPr/>
        </p:nvSpPr>
        <p:spPr>
          <a:xfrm>
            <a:off x="887040" y="2514600"/>
            <a:ext cx="312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Confiabilidad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17"/>
          <p:cNvSpPr/>
          <p:nvPr/>
        </p:nvSpPr>
        <p:spPr>
          <a:xfrm>
            <a:off x="887040" y="2853000"/>
            <a:ext cx="31269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5000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¿fuente oficial o manual?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18"/>
          <p:cNvSpPr/>
          <p:nvPr/>
        </p:nvSpPr>
        <p:spPr>
          <a:xfrm>
            <a:off x="4389120" y="2350080"/>
            <a:ext cx="3474360" cy="7128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26" name="Shape 19"/>
          <p:cNvSpPr/>
          <p:nvPr/>
        </p:nvSpPr>
        <p:spPr>
          <a:xfrm>
            <a:off x="4389120" y="2350080"/>
            <a:ext cx="63720" cy="71280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27" name="Text 20"/>
          <p:cNvSpPr/>
          <p:nvPr/>
        </p:nvSpPr>
        <p:spPr>
          <a:xfrm>
            <a:off x="4590360" y="2514600"/>
            <a:ext cx="312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Legibilidad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21"/>
          <p:cNvSpPr/>
          <p:nvPr/>
        </p:nvSpPr>
        <p:spPr>
          <a:xfrm>
            <a:off x="4590360" y="2853000"/>
            <a:ext cx="31269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5000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¿el PDF/texto se extrae bien?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22"/>
          <p:cNvSpPr/>
          <p:nvPr/>
        </p:nvSpPr>
        <p:spPr>
          <a:xfrm>
            <a:off x="8092440" y="2350080"/>
            <a:ext cx="3474360" cy="7128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0" name="Shape 23"/>
          <p:cNvSpPr/>
          <p:nvPr/>
        </p:nvSpPr>
        <p:spPr>
          <a:xfrm>
            <a:off x="8092440" y="2350080"/>
            <a:ext cx="63720" cy="7128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1" name="Text 24"/>
          <p:cNvSpPr/>
          <p:nvPr/>
        </p:nvSpPr>
        <p:spPr>
          <a:xfrm>
            <a:off x="8293680" y="2514600"/>
            <a:ext cx="312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Duplicados/errores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25"/>
          <p:cNvSpPr/>
          <p:nvPr/>
        </p:nvSpPr>
        <p:spPr>
          <a:xfrm>
            <a:off x="8293680" y="2853000"/>
            <a:ext cx="31269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5000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¿registros repetidos o mal escritos?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26"/>
          <p:cNvSpPr/>
          <p:nvPr/>
        </p:nvSpPr>
        <p:spPr>
          <a:xfrm>
            <a:off x="685800" y="3282840"/>
            <a:ext cx="3474360" cy="7128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4" name="Shape 27"/>
          <p:cNvSpPr/>
          <p:nvPr/>
        </p:nvSpPr>
        <p:spPr>
          <a:xfrm>
            <a:off x="685800" y="3282840"/>
            <a:ext cx="63720" cy="71280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5" name="Text 28"/>
          <p:cNvSpPr/>
          <p:nvPr/>
        </p:nvSpPr>
        <p:spPr>
          <a:xfrm>
            <a:off x="887040" y="3447360"/>
            <a:ext cx="3126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Estructura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29"/>
          <p:cNvSpPr/>
          <p:nvPr/>
        </p:nvSpPr>
        <p:spPr>
          <a:xfrm>
            <a:off x="887040" y="3785760"/>
            <a:ext cx="3126960" cy="1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75000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¿tabla, texto libre, PDF, API o BD?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30"/>
          <p:cNvSpPr/>
          <p:nvPr/>
        </p:nvSpPr>
        <p:spPr>
          <a:xfrm>
            <a:off x="713160" y="5074920"/>
            <a:ext cx="10789560" cy="712800"/>
          </a:xfrm>
          <a:prstGeom prst="roundRect">
            <a:avLst>
              <a:gd name="adj" fmla="val 7692"/>
            </a:avLst>
          </a:prstGeom>
          <a:solidFill>
            <a:srgbClr val="f6e8ee"/>
          </a:solidFill>
          <a:ln w="12700">
            <a:solidFill>
              <a:srgbClr val="e7c5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8" name="Text 31"/>
          <p:cNvSpPr/>
          <p:nvPr/>
        </p:nvSpPr>
        <p:spPr>
          <a:xfrm>
            <a:off x="914400" y="5285160"/>
            <a:ext cx="10332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3333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8b1e3f"/>
                </a:solidFill>
                <a:latin typeface="Aptos"/>
              </a:rPr>
              <a:t>Si los datos son incompletos, obsoletos o poco confiables, la respuesta también será débil, aunque el modelo sea avanzado.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1"/>
          <p:cNvSpPr>
            <a:spLocks noGrp="1"/>
          </p:cNvSpPr>
          <p:nvPr>
            <p:ph type="sldNum" idx="9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9962CAA-C338-4711-A709-4A651729A621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7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Calidad de fuentes: semáforo práctico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Antes de conectar una fuente, conviene clasificar su nivel de riesgo.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2"/>
          <p:cNvSpPr/>
          <p:nvPr/>
        </p:nvSpPr>
        <p:spPr>
          <a:xfrm>
            <a:off x="731520" y="1417320"/>
            <a:ext cx="3245760" cy="2971440"/>
          </a:xfrm>
          <a:prstGeom prst="roundRect">
            <a:avLst>
              <a:gd name="adj" fmla="val 1846"/>
            </a:avLst>
          </a:prstGeom>
          <a:solidFill>
            <a:srgbClr val="e9f5ee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43" name="Shape 3"/>
          <p:cNvSpPr/>
          <p:nvPr/>
        </p:nvSpPr>
        <p:spPr>
          <a:xfrm>
            <a:off x="731520" y="1417320"/>
            <a:ext cx="63720" cy="297144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44" name="Text 4"/>
          <p:cNvSpPr/>
          <p:nvPr/>
        </p:nvSpPr>
        <p:spPr>
          <a:xfrm>
            <a:off x="932760" y="1581840"/>
            <a:ext cx="2898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Verde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5"/>
          <p:cNvSpPr/>
          <p:nvPr/>
        </p:nvSpPr>
        <p:spPr>
          <a:xfrm>
            <a:off x="932760" y="1920240"/>
            <a:ext cx="28983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Fuente oficial, actualizada, con permisos claros, estructura estable y extracción legible.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6"/>
          <p:cNvSpPr/>
          <p:nvPr/>
        </p:nvSpPr>
        <p:spPr>
          <a:xfrm>
            <a:off x="4480560" y="1417320"/>
            <a:ext cx="3245760" cy="2971440"/>
          </a:xfrm>
          <a:prstGeom prst="roundRect">
            <a:avLst>
              <a:gd name="adj" fmla="val 1846"/>
            </a:avLst>
          </a:prstGeom>
          <a:solidFill>
            <a:srgbClr val="fff6e5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47" name="Shape 7"/>
          <p:cNvSpPr/>
          <p:nvPr/>
        </p:nvSpPr>
        <p:spPr>
          <a:xfrm>
            <a:off x="4480560" y="1417320"/>
            <a:ext cx="63720" cy="297144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48" name="Text 8"/>
          <p:cNvSpPr/>
          <p:nvPr/>
        </p:nvSpPr>
        <p:spPr>
          <a:xfrm>
            <a:off x="4681800" y="1581840"/>
            <a:ext cx="2898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Amarillo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9"/>
          <p:cNvSpPr/>
          <p:nvPr/>
        </p:nvSpPr>
        <p:spPr>
          <a:xfrm>
            <a:off x="4681800" y="1920240"/>
            <a:ext cx="28983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Fuente útil pero con actualización manual, formatos mixtos o campos incompletos.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10"/>
          <p:cNvSpPr/>
          <p:nvPr/>
        </p:nvSpPr>
        <p:spPr>
          <a:xfrm>
            <a:off x="8229600" y="1417320"/>
            <a:ext cx="3245760" cy="2971440"/>
          </a:xfrm>
          <a:prstGeom prst="roundRect">
            <a:avLst>
              <a:gd name="adj" fmla="val 1846"/>
            </a:avLst>
          </a:prstGeom>
          <a:solidFill>
            <a:srgbClr val="f6e8ee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51" name="Shape 11"/>
          <p:cNvSpPr/>
          <p:nvPr/>
        </p:nvSpPr>
        <p:spPr>
          <a:xfrm>
            <a:off x="8229600" y="1417320"/>
            <a:ext cx="63720" cy="297144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52" name="Text 12"/>
          <p:cNvSpPr/>
          <p:nvPr/>
        </p:nvSpPr>
        <p:spPr>
          <a:xfrm>
            <a:off x="8430840" y="1581840"/>
            <a:ext cx="2898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Rojo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13"/>
          <p:cNvSpPr/>
          <p:nvPr/>
        </p:nvSpPr>
        <p:spPr>
          <a:xfrm>
            <a:off x="8430840" y="1920240"/>
            <a:ext cx="289836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Fuente no oficial, obsoleta, escaneada sin OCR confiable o con datos sensibles sin control.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14"/>
          <p:cNvSpPr/>
          <p:nvPr/>
        </p:nvSpPr>
        <p:spPr>
          <a:xfrm>
            <a:off x="777240" y="489204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"/>
              </a:rPr>
              <a:t>Uso recomendado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15"/>
          <p:cNvSpPr/>
          <p:nvPr/>
        </p:nvSpPr>
        <p:spPr>
          <a:xfrm>
            <a:off x="731520" y="5230440"/>
            <a:ext cx="20167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56" name="Text 16"/>
          <p:cNvSpPr/>
          <p:nvPr/>
        </p:nvSpPr>
        <p:spPr>
          <a:xfrm>
            <a:off x="804600" y="5440680"/>
            <a:ext cx="1870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8b1e3f"/>
                </a:solidFill>
                <a:latin typeface="Aptos"/>
              </a:rPr>
              <a:t>Inventariar fuentes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17"/>
          <p:cNvSpPr/>
          <p:nvPr/>
        </p:nvSpPr>
        <p:spPr>
          <a:xfrm>
            <a:off x="2775960" y="561420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58" name="Shape 18"/>
          <p:cNvSpPr/>
          <p:nvPr/>
        </p:nvSpPr>
        <p:spPr>
          <a:xfrm>
            <a:off x="2913120" y="5230440"/>
            <a:ext cx="20167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59" name="Text 19"/>
          <p:cNvSpPr/>
          <p:nvPr/>
        </p:nvSpPr>
        <p:spPr>
          <a:xfrm>
            <a:off x="2986560" y="5440680"/>
            <a:ext cx="1870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5aa8"/>
                </a:solidFill>
                <a:latin typeface="Aptos"/>
              </a:rPr>
              <a:t>Marcar riesgo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20"/>
          <p:cNvSpPr/>
          <p:nvPr/>
        </p:nvSpPr>
        <p:spPr>
          <a:xfrm>
            <a:off x="4957560" y="5614200"/>
            <a:ext cx="11916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1" name="Shape 21"/>
          <p:cNvSpPr/>
          <p:nvPr/>
        </p:nvSpPr>
        <p:spPr>
          <a:xfrm>
            <a:off x="5095080" y="5230440"/>
            <a:ext cx="20167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2" name="Text 22"/>
          <p:cNvSpPr/>
          <p:nvPr/>
        </p:nvSpPr>
        <p:spPr>
          <a:xfrm>
            <a:off x="5168160" y="5440680"/>
            <a:ext cx="1870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7a4b"/>
                </a:solidFill>
                <a:latin typeface="Aptos"/>
              </a:rPr>
              <a:t>Definir permisos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23"/>
          <p:cNvSpPr/>
          <p:nvPr/>
        </p:nvSpPr>
        <p:spPr>
          <a:xfrm>
            <a:off x="7139520" y="561420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4" name="Shape 24"/>
          <p:cNvSpPr/>
          <p:nvPr/>
        </p:nvSpPr>
        <p:spPr>
          <a:xfrm>
            <a:off x="7276680" y="5230440"/>
            <a:ext cx="20167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96c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5" name="Text 25"/>
          <p:cNvSpPr/>
          <p:nvPr/>
        </p:nvSpPr>
        <p:spPr>
          <a:xfrm>
            <a:off x="7350120" y="5440680"/>
            <a:ext cx="1870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d96c06"/>
                </a:solidFill>
                <a:latin typeface="Aptos"/>
              </a:rPr>
              <a:t>Probar extracción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26"/>
          <p:cNvSpPr/>
          <p:nvPr/>
        </p:nvSpPr>
        <p:spPr>
          <a:xfrm>
            <a:off x="9321120" y="561420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7" name="Shape 27"/>
          <p:cNvSpPr/>
          <p:nvPr/>
        </p:nvSpPr>
        <p:spPr>
          <a:xfrm>
            <a:off x="9458640" y="5230440"/>
            <a:ext cx="20167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8" name="Text 28"/>
          <p:cNvSpPr/>
          <p:nvPr/>
        </p:nvSpPr>
        <p:spPr>
          <a:xfrm>
            <a:off x="9531720" y="5440680"/>
            <a:ext cx="1870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8b1e3f"/>
                </a:solidFill>
                <a:latin typeface="Aptos"/>
              </a:rPr>
              <a:t>Decidir patrón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1"/>
          <p:cNvSpPr>
            <a:spLocks noGrp="1"/>
          </p:cNvSpPr>
          <p:nvPr>
            <p:ph type="sldNum" idx="10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7A6B3AF-D832-47B1-B0A8-7F3DAB98B3EE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8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OCR: convertir documento escaneado en texto usable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OCR significa Optical Character Recognition.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2"/>
          <p:cNvSpPr/>
          <p:nvPr/>
        </p:nvSpPr>
        <p:spPr>
          <a:xfrm>
            <a:off x="777240" y="1325880"/>
            <a:ext cx="5074560" cy="114264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73" name="Shape 3"/>
          <p:cNvSpPr/>
          <p:nvPr/>
        </p:nvSpPr>
        <p:spPr>
          <a:xfrm>
            <a:off x="777240" y="1325880"/>
            <a:ext cx="63720" cy="114264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74" name="Text 4"/>
          <p:cNvSpPr/>
          <p:nvPr/>
        </p:nvSpPr>
        <p:spPr>
          <a:xfrm>
            <a:off x="978480" y="1490400"/>
            <a:ext cx="472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Qué 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5"/>
          <p:cNvSpPr/>
          <p:nvPr/>
        </p:nvSpPr>
        <p:spPr>
          <a:xfrm>
            <a:off x="978480" y="1828800"/>
            <a:ext cx="472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Convierte texto dentro de imágenes o PDFs escaneados en texto digital procesable.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6"/>
          <p:cNvSpPr/>
          <p:nvPr/>
        </p:nvSpPr>
        <p:spPr>
          <a:xfrm>
            <a:off x="6309360" y="1325880"/>
            <a:ext cx="5074560" cy="114264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77" name="Shape 7"/>
          <p:cNvSpPr/>
          <p:nvPr/>
        </p:nvSpPr>
        <p:spPr>
          <a:xfrm>
            <a:off x="6309360" y="1325880"/>
            <a:ext cx="63720" cy="114264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78" name="Text 8"/>
          <p:cNvSpPr/>
          <p:nvPr/>
        </p:nvSpPr>
        <p:spPr>
          <a:xfrm>
            <a:off x="6510600" y="1490400"/>
            <a:ext cx="472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Cuándo se necesita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9"/>
          <p:cNvSpPr/>
          <p:nvPr/>
        </p:nvSpPr>
        <p:spPr>
          <a:xfrm>
            <a:off x="6510600" y="1828800"/>
            <a:ext cx="472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Cuando el documento no tiene texto seleccionable o viene como imagen.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10"/>
          <p:cNvSpPr/>
          <p:nvPr/>
        </p:nvSpPr>
        <p:spPr>
          <a:xfrm>
            <a:off x="777240" y="2743200"/>
            <a:ext cx="5074560" cy="114264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1" name="Shape 11"/>
          <p:cNvSpPr/>
          <p:nvPr/>
        </p:nvSpPr>
        <p:spPr>
          <a:xfrm>
            <a:off x="777240" y="2743200"/>
            <a:ext cx="63720" cy="114264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2" name="Text 12"/>
          <p:cNvSpPr/>
          <p:nvPr/>
        </p:nvSpPr>
        <p:spPr>
          <a:xfrm>
            <a:off x="978480" y="2907720"/>
            <a:ext cx="472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Qué NO 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13"/>
          <p:cNvSpPr/>
          <p:nvPr/>
        </p:nvSpPr>
        <p:spPr>
          <a:xfrm>
            <a:off x="978480" y="3246120"/>
            <a:ext cx="472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No es IA generativa: es una etapa previa para preparar documentos.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14"/>
          <p:cNvSpPr/>
          <p:nvPr/>
        </p:nvSpPr>
        <p:spPr>
          <a:xfrm>
            <a:off x="6309360" y="2743200"/>
            <a:ext cx="5074560" cy="114264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5" name="Shape 15"/>
          <p:cNvSpPr/>
          <p:nvPr/>
        </p:nvSpPr>
        <p:spPr>
          <a:xfrm>
            <a:off x="6309360" y="2743200"/>
            <a:ext cx="63720" cy="1142640"/>
          </a:xfrm>
          <a:prstGeom prst="rect">
            <a:avLst/>
          </a:prstGeom>
          <a:solidFill>
            <a:srgbClr val="d96c06"/>
          </a:solidFill>
          <a:ln w="12700">
            <a:solidFill>
              <a:srgbClr val="d96c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6" name="Text 16"/>
          <p:cNvSpPr/>
          <p:nvPr/>
        </p:nvSpPr>
        <p:spPr>
          <a:xfrm>
            <a:off x="6510600" y="2907720"/>
            <a:ext cx="4727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Riesgo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17"/>
          <p:cNvSpPr/>
          <p:nvPr/>
        </p:nvSpPr>
        <p:spPr>
          <a:xfrm>
            <a:off x="6510600" y="3246120"/>
            <a:ext cx="472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OCR puede equivocarse: fechas, montos, RUT, códigos y nombres deben validarse.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18"/>
          <p:cNvSpPr/>
          <p:nvPr/>
        </p:nvSpPr>
        <p:spPr>
          <a:xfrm>
            <a:off x="731520" y="4892040"/>
            <a:ext cx="2016720" cy="785880"/>
          </a:xfrm>
          <a:prstGeom prst="roundRect">
            <a:avLst>
              <a:gd name="adj" fmla="val 6977"/>
            </a:avLst>
          </a:prstGeom>
          <a:solidFill>
            <a:srgbClr val="f6e8ee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89" name="Text 19"/>
          <p:cNvSpPr/>
          <p:nvPr/>
        </p:nvSpPr>
        <p:spPr>
          <a:xfrm>
            <a:off x="804600" y="5102280"/>
            <a:ext cx="1870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8b1e3f"/>
                </a:solidFill>
                <a:latin typeface="Aptos"/>
              </a:rPr>
              <a:t>PDF escaneado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8b1e3f"/>
                </a:solidFill>
                <a:latin typeface="Aptos"/>
              </a:rPr>
              <a:t>factura / BL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20"/>
          <p:cNvSpPr/>
          <p:nvPr/>
        </p:nvSpPr>
        <p:spPr>
          <a:xfrm>
            <a:off x="2775960" y="527580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1" name="Shape 21"/>
          <p:cNvSpPr/>
          <p:nvPr/>
        </p:nvSpPr>
        <p:spPr>
          <a:xfrm>
            <a:off x="2913120" y="4892040"/>
            <a:ext cx="2016720" cy="785880"/>
          </a:xfrm>
          <a:prstGeom prst="roundRect">
            <a:avLst>
              <a:gd name="adj" fmla="val 6977"/>
            </a:avLst>
          </a:prstGeom>
          <a:solidFill>
            <a:srgbClr val="eaf1fb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2" name="Text 22"/>
          <p:cNvSpPr/>
          <p:nvPr/>
        </p:nvSpPr>
        <p:spPr>
          <a:xfrm>
            <a:off x="2986560" y="5102280"/>
            <a:ext cx="1870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5aa8"/>
                </a:solidFill>
                <a:latin typeface="Aptos"/>
              </a:rPr>
              <a:t>OCR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23"/>
          <p:cNvSpPr/>
          <p:nvPr/>
        </p:nvSpPr>
        <p:spPr>
          <a:xfrm>
            <a:off x="4957560" y="5275800"/>
            <a:ext cx="11916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4" name="Shape 24"/>
          <p:cNvSpPr/>
          <p:nvPr/>
        </p:nvSpPr>
        <p:spPr>
          <a:xfrm>
            <a:off x="5095080" y="4892040"/>
            <a:ext cx="2016720" cy="785880"/>
          </a:xfrm>
          <a:prstGeom prst="roundRect">
            <a:avLst>
              <a:gd name="adj" fmla="val 6977"/>
            </a:avLst>
          </a:prstGeom>
          <a:solidFill>
            <a:srgbClr val="e9f5ee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5" name="Text 25"/>
          <p:cNvSpPr/>
          <p:nvPr/>
        </p:nvSpPr>
        <p:spPr>
          <a:xfrm>
            <a:off x="5168160" y="5102280"/>
            <a:ext cx="1870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7a4b"/>
                </a:solidFill>
                <a:latin typeface="Aptos"/>
              </a:rPr>
              <a:t>Texto limpio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26"/>
          <p:cNvSpPr/>
          <p:nvPr/>
        </p:nvSpPr>
        <p:spPr>
          <a:xfrm>
            <a:off x="7139520" y="527580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7" name="Shape 27"/>
          <p:cNvSpPr/>
          <p:nvPr/>
        </p:nvSpPr>
        <p:spPr>
          <a:xfrm>
            <a:off x="7276680" y="4892040"/>
            <a:ext cx="2016720" cy="785880"/>
          </a:xfrm>
          <a:prstGeom prst="roundRect">
            <a:avLst>
              <a:gd name="adj" fmla="val 6977"/>
            </a:avLst>
          </a:prstGeom>
          <a:solidFill>
            <a:srgbClr val="fff6e5"/>
          </a:solidFill>
          <a:ln w="12700">
            <a:solidFill>
              <a:srgbClr val="d96c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8" name="Text 28"/>
          <p:cNvSpPr/>
          <p:nvPr/>
        </p:nvSpPr>
        <p:spPr>
          <a:xfrm>
            <a:off x="7350120" y="5102280"/>
            <a:ext cx="1870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d96c06"/>
                </a:solidFill>
                <a:latin typeface="Aptos"/>
              </a:rPr>
              <a:t>Chain extracción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29"/>
          <p:cNvSpPr/>
          <p:nvPr/>
        </p:nvSpPr>
        <p:spPr>
          <a:xfrm>
            <a:off x="9321120" y="527580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00" name="Shape 30"/>
          <p:cNvSpPr/>
          <p:nvPr/>
        </p:nvSpPr>
        <p:spPr>
          <a:xfrm>
            <a:off x="9458640" y="4892040"/>
            <a:ext cx="2016720" cy="785880"/>
          </a:xfrm>
          <a:prstGeom prst="roundRect">
            <a:avLst>
              <a:gd name="adj" fmla="val 6977"/>
            </a:avLst>
          </a:prstGeom>
          <a:solidFill>
            <a:srgbClr val="f6e8ee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01" name="Text 31"/>
          <p:cNvSpPr/>
          <p:nvPr/>
        </p:nvSpPr>
        <p:spPr>
          <a:xfrm>
            <a:off x="9531720" y="5102280"/>
            <a:ext cx="1870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8b1e3f"/>
                </a:solidFill>
                <a:latin typeface="Aptos"/>
              </a:rPr>
              <a:t>JSON / Excel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1"/>
          <p:cNvSpPr>
            <a:spLocks noGrp="1"/>
          </p:cNvSpPr>
          <p:nvPr>
            <p:ph type="sldNum" idx="11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154337F-7000-445F-AD84-7535BE90F2B3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9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Preparación de fuentes documentales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Antes del prompt viene la etapa menos glamorosa: preparar datos.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2"/>
          <p:cNvSpPr/>
          <p:nvPr/>
        </p:nvSpPr>
        <p:spPr>
          <a:xfrm>
            <a:off x="685800" y="132588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06" name="Shape 3"/>
          <p:cNvSpPr/>
          <p:nvPr/>
        </p:nvSpPr>
        <p:spPr>
          <a:xfrm>
            <a:off x="685800" y="1325880"/>
            <a:ext cx="63720" cy="52992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07" name="Text 4"/>
          <p:cNvSpPr/>
          <p:nvPr/>
        </p:nvSpPr>
        <p:spPr>
          <a:xfrm>
            <a:off x="852120" y="132588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1. Carga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5"/>
          <p:cNvSpPr/>
          <p:nvPr/>
        </p:nvSpPr>
        <p:spPr>
          <a:xfrm>
            <a:off x="900000" y="16200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Identificar origen, versión, dueño del documento y permisos de acceso.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6"/>
          <p:cNvSpPr/>
          <p:nvPr/>
        </p:nvSpPr>
        <p:spPr>
          <a:xfrm>
            <a:off x="685800" y="198432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10" name="Shape 7"/>
          <p:cNvSpPr/>
          <p:nvPr/>
        </p:nvSpPr>
        <p:spPr>
          <a:xfrm>
            <a:off x="685800" y="1984320"/>
            <a:ext cx="63720" cy="52992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11" name="Text 8"/>
          <p:cNvSpPr/>
          <p:nvPr/>
        </p:nvSpPr>
        <p:spPr>
          <a:xfrm>
            <a:off x="887040" y="197460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2. Extracción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9"/>
          <p:cNvSpPr/>
          <p:nvPr/>
        </p:nvSpPr>
        <p:spPr>
          <a:xfrm>
            <a:off x="887040" y="22302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Texto nativo, OCR, tabla, correo, API o exportación desde sistema.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10"/>
          <p:cNvSpPr/>
          <p:nvPr/>
        </p:nvSpPr>
        <p:spPr>
          <a:xfrm>
            <a:off x="685800" y="264276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14" name="Shape 11"/>
          <p:cNvSpPr/>
          <p:nvPr/>
        </p:nvSpPr>
        <p:spPr>
          <a:xfrm>
            <a:off x="685800" y="2642760"/>
            <a:ext cx="63720" cy="52992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15" name="Text 12"/>
          <p:cNvSpPr/>
          <p:nvPr/>
        </p:nvSpPr>
        <p:spPr>
          <a:xfrm>
            <a:off x="887040" y="263304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3. Limpieza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13"/>
          <p:cNvSpPr/>
          <p:nvPr/>
        </p:nvSpPr>
        <p:spPr>
          <a:xfrm>
            <a:off x="900000" y="29142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Eliminar ruido, páginas vacías, duplicados, encabezados repetidos y formatos inconsistentes.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14"/>
          <p:cNvSpPr/>
          <p:nvPr/>
        </p:nvSpPr>
        <p:spPr>
          <a:xfrm>
            <a:off x="685800" y="330084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18" name="Shape 15"/>
          <p:cNvSpPr/>
          <p:nvPr/>
        </p:nvSpPr>
        <p:spPr>
          <a:xfrm>
            <a:off x="685800" y="3300840"/>
            <a:ext cx="63720" cy="529920"/>
          </a:xfrm>
          <a:prstGeom prst="rect">
            <a:avLst/>
          </a:prstGeom>
          <a:solidFill>
            <a:srgbClr val="d96c06"/>
          </a:solidFill>
          <a:ln w="12700">
            <a:solidFill>
              <a:srgbClr val="d96c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19" name="Text 16"/>
          <p:cNvSpPr/>
          <p:nvPr/>
        </p:nvSpPr>
        <p:spPr>
          <a:xfrm>
            <a:off x="852120" y="334440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4. Normalización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17"/>
          <p:cNvSpPr/>
          <p:nvPr/>
        </p:nvSpPr>
        <p:spPr>
          <a:xfrm>
            <a:off x="900000" y="36000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Fechas, códigos, nombres, unidades, moneda, estados y categorías.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18"/>
          <p:cNvSpPr/>
          <p:nvPr/>
        </p:nvSpPr>
        <p:spPr>
          <a:xfrm>
            <a:off x="685800" y="395928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22" name="Shape 19"/>
          <p:cNvSpPr/>
          <p:nvPr/>
        </p:nvSpPr>
        <p:spPr>
          <a:xfrm>
            <a:off x="685800" y="3959280"/>
            <a:ext cx="63720" cy="52992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23" name="Text 20"/>
          <p:cNvSpPr/>
          <p:nvPr/>
        </p:nvSpPr>
        <p:spPr>
          <a:xfrm>
            <a:off x="887040" y="395928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5. Validación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21"/>
          <p:cNvSpPr/>
          <p:nvPr/>
        </p:nvSpPr>
        <p:spPr>
          <a:xfrm>
            <a:off x="900000" y="421488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Campos obligatorios, reglas de negocio, confianza de extracción y revisión humana si aplica.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22"/>
          <p:cNvSpPr/>
          <p:nvPr/>
        </p:nvSpPr>
        <p:spPr>
          <a:xfrm>
            <a:off x="685800" y="5596200"/>
            <a:ext cx="10835280" cy="438480"/>
          </a:xfrm>
          <a:prstGeom prst="roundRect">
            <a:avLst>
              <a:gd name="adj" fmla="val 12500"/>
            </a:avLst>
          </a:prstGeom>
          <a:solidFill>
            <a:srgbClr val="f6e8ee"/>
          </a:solidFill>
          <a:ln w="12700">
            <a:solidFill>
              <a:srgbClr val="e7c5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26" name="Text 23"/>
          <p:cNvSpPr/>
          <p:nvPr/>
        </p:nvSpPr>
        <p:spPr>
          <a:xfrm>
            <a:off x="868680" y="5715000"/>
            <a:ext cx="10469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8b1e3f"/>
                </a:solidFill>
                <a:latin typeface="Aptos"/>
              </a:rPr>
              <a:t>La preparación de datos decide buena parte de la calidad final de una app LLM.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1"/>
          <p:cNvSpPr>
            <a:spLocks noGrp="1"/>
          </p:cNvSpPr>
          <p:nvPr>
            <p:ph type="sldNum" idx="12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0217D12-0E5E-4644-92B7-003639E54D01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10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29" name="Shape 1"/>
          <p:cNvSpPr/>
          <p:nvPr/>
        </p:nvSpPr>
        <p:spPr>
          <a:xfrm>
            <a:off x="0" y="0"/>
            <a:ext cx="4251600" cy="685764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30" name="Text 2"/>
          <p:cNvSpPr/>
          <p:nvPr/>
        </p:nvSpPr>
        <p:spPr>
          <a:xfrm>
            <a:off x="658440" y="105156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9d9e4"/>
                </a:solidFill>
                <a:latin typeface="Aptos"/>
              </a:rPr>
              <a:t>TOOLS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3"/>
          <p:cNvSpPr/>
          <p:nvPr/>
        </p:nvSpPr>
        <p:spPr>
          <a:xfrm>
            <a:off x="658440" y="1508760"/>
            <a:ext cx="1096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ptos"/>
              </a:rPr>
              <a:t>03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4"/>
          <p:cNvSpPr/>
          <p:nvPr/>
        </p:nvSpPr>
        <p:spPr>
          <a:xfrm>
            <a:off x="658440" y="2148840"/>
            <a:ext cx="32457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Tools y MCP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5"/>
          <p:cNvSpPr/>
          <p:nvPr/>
        </p:nvSpPr>
        <p:spPr>
          <a:xfrm>
            <a:off x="4892040" y="2331720"/>
            <a:ext cx="6217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72033"/>
                </a:solidFill>
                <a:latin typeface="Aptos"/>
              </a:rPr>
              <a:t>Acceso controlado a sistemas y contexto externo, sin entregar poder ilimitado al modelo.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6"/>
          <p:cNvSpPr/>
          <p:nvPr/>
        </p:nvSpPr>
        <p:spPr>
          <a:xfrm>
            <a:off x="4892040" y="3246120"/>
            <a:ext cx="4206240" cy="360"/>
          </a:xfrm>
          <a:prstGeom prst="line">
            <a:avLst/>
          </a:prstGeom>
          <a:ln w="1778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Tool como función controlada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Una tool no es acceso libre: es una capacidad acotada, validada y trazable.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2"/>
          <p:cNvSpPr/>
          <p:nvPr/>
        </p:nvSpPr>
        <p:spPr>
          <a:xfrm>
            <a:off x="731520" y="187452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38" name="Text 3"/>
          <p:cNvSpPr/>
          <p:nvPr/>
        </p:nvSpPr>
        <p:spPr>
          <a:xfrm>
            <a:off x="804600" y="208476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8b1e3f"/>
                </a:solidFill>
                <a:latin typeface="Aptos"/>
              </a:rPr>
              <a:t>Usuario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4"/>
          <p:cNvSpPr/>
          <p:nvPr/>
        </p:nvSpPr>
        <p:spPr>
          <a:xfrm>
            <a:off x="2412360" y="225828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40" name="Shape 5"/>
          <p:cNvSpPr/>
          <p:nvPr/>
        </p:nvSpPr>
        <p:spPr>
          <a:xfrm>
            <a:off x="2549520" y="187452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41" name="Text 6"/>
          <p:cNvSpPr/>
          <p:nvPr/>
        </p:nvSpPr>
        <p:spPr>
          <a:xfrm>
            <a:off x="2622960" y="208476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5aa8"/>
                </a:solidFill>
                <a:latin typeface="Aptos"/>
              </a:rPr>
              <a:t>Agente / modelo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7"/>
          <p:cNvSpPr/>
          <p:nvPr/>
        </p:nvSpPr>
        <p:spPr>
          <a:xfrm>
            <a:off x="4230360" y="225828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43" name="Shape 8"/>
          <p:cNvSpPr/>
          <p:nvPr/>
        </p:nvSpPr>
        <p:spPr>
          <a:xfrm>
            <a:off x="4367880" y="187452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44" name="Text 9"/>
          <p:cNvSpPr/>
          <p:nvPr/>
        </p:nvSpPr>
        <p:spPr>
          <a:xfrm>
            <a:off x="4440960" y="208476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7a4b"/>
                </a:solidFill>
                <a:latin typeface="Aptos"/>
              </a:rPr>
              <a:t>Solicitud de tool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10"/>
          <p:cNvSpPr/>
          <p:nvPr/>
        </p:nvSpPr>
        <p:spPr>
          <a:xfrm>
            <a:off x="6048720" y="225828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46" name="Shape 11"/>
          <p:cNvSpPr/>
          <p:nvPr/>
        </p:nvSpPr>
        <p:spPr>
          <a:xfrm>
            <a:off x="6185880" y="187452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96c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47" name="Text 12"/>
          <p:cNvSpPr/>
          <p:nvPr/>
        </p:nvSpPr>
        <p:spPr>
          <a:xfrm>
            <a:off x="6258960" y="208476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d96c06"/>
                </a:solidFill>
                <a:latin typeface="Aptos"/>
              </a:rPr>
              <a:t>Backend valida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13"/>
          <p:cNvSpPr/>
          <p:nvPr/>
        </p:nvSpPr>
        <p:spPr>
          <a:xfrm>
            <a:off x="7866720" y="225828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49" name="Shape 14"/>
          <p:cNvSpPr/>
          <p:nvPr/>
        </p:nvSpPr>
        <p:spPr>
          <a:xfrm>
            <a:off x="8003880" y="187452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50" name="Text 15"/>
          <p:cNvSpPr/>
          <p:nvPr/>
        </p:nvSpPr>
        <p:spPr>
          <a:xfrm>
            <a:off x="8077320" y="208476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8b1e3f"/>
                </a:solidFill>
                <a:latin typeface="Aptos"/>
              </a:rPr>
              <a:t>Sistema externo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16"/>
          <p:cNvSpPr/>
          <p:nvPr/>
        </p:nvSpPr>
        <p:spPr>
          <a:xfrm>
            <a:off x="9684720" y="2258280"/>
            <a:ext cx="11916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52" name="Shape 17"/>
          <p:cNvSpPr/>
          <p:nvPr/>
        </p:nvSpPr>
        <p:spPr>
          <a:xfrm>
            <a:off x="9822240" y="187452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53" name="Text 18"/>
          <p:cNvSpPr/>
          <p:nvPr/>
        </p:nvSpPr>
        <p:spPr>
          <a:xfrm>
            <a:off x="9895320" y="208476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5aa8"/>
                </a:solidFill>
                <a:latin typeface="Aptos"/>
              </a:rPr>
              <a:t>Resultado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19"/>
          <p:cNvSpPr/>
          <p:nvPr/>
        </p:nvSpPr>
        <p:spPr>
          <a:xfrm>
            <a:off x="777240" y="3337560"/>
            <a:ext cx="3337200" cy="114264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55" name="Shape 20"/>
          <p:cNvSpPr/>
          <p:nvPr/>
        </p:nvSpPr>
        <p:spPr>
          <a:xfrm>
            <a:off x="777240" y="3337560"/>
            <a:ext cx="63720" cy="114264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56" name="Text 21"/>
          <p:cNvSpPr/>
          <p:nvPr/>
        </p:nvSpPr>
        <p:spPr>
          <a:xfrm>
            <a:off x="978480" y="3502080"/>
            <a:ext cx="298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Contrato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22"/>
          <p:cNvSpPr/>
          <p:nvPr/>
        </p:nvSpPr>
        <p:spPr>
          <a:xfrm>
            <a:off x="978480" y="3840480"/>
            <a:ext cx="2989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Nombre, descripción, entrada permitida y salida esperada.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23"/>
          <p:cNvSpPr/>
          <p:nvPr/>
        </p:nvSpPr>
        <p:spPr>
          <a:xfrm>
            <a:off x="4434840" y="3337560"/>
            <a:ext cx="3337200" cy="114264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59" name="Shape 24"/>
          <p:cNvSpPr/>
          <p:nvPr/>
        </p:nvSpPr>
        <p:spPr>
          <a:xfrm>
            <a:off x="4434840" y="3337560"/>
            <a:ext cx="63720" cy="114264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60" name="Text 25"/>
          <p:cNvSpPr/>
          <p:nvPr/>
        </p:nvSpPr>
        <p:spPr>
          <a:xfrm>
            <a:off x="4636080" y="3502080"/>
            <a:ext cx="298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Validación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26"/>
          <p:cNvSpPr/>
          <p:nvPr/>
        </p:nvSpPr>
        <p:spPr>
          <a:xfrm>
            <a:off x="4636080" y="3840480"/>
            <a:ext cx="2989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Parámetros, permisos, límites, errores y formato de respuesta.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27"/>
          <p:cNvSpPr/>
          <p:nvPr/>
        </p:nvSpPr>
        <p:spPr>
          <a:xfrm>
            <a:off x="8092440" y="3337560"/>
            <a:ext cx="3337200" cy="114264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63" name="Shape 28"/>
          <p:cNvSpPr/>
          <p:nvPr/>
        </p:nvSpPr>
        <p:spPr>
          <a:xfrm>
            <a:off x="8092440" y="3337560"/>
            <a:ext cx="63720" cy="114264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64" name="Text 29"/>
          <p:cNvSpPr/>
          <p:nvPr/>
        </p:nvSpPr>
        <p:spPr>
          <a:xfrm>
            <a:off x="8293680" y="3502080"/>
            <a:ext cx="298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Trazabilidad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30"/>
          <p:cNvSpPr/>
          <p:nvPr/>
        </p:nvSpPr>
        <p:spPr>
          <a:xfrm>
            <a:off x="8293680" y="3840480"/>
            <a:ext cx="2989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Usuario, input, output, error, timestamp, costo y versión.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31"/>
          <p:cNvSpPr/>
          <p:nvPr/>
        </p:nvSpPr>
        <p:spPr>
          <a:xfrm>
            <a:off x="777240" y="5074920"/>
            <a:ext cx="10652400" cy="438480"/>
          </a:xfrm>
          <a:prstGeom prst="roundRect">
            <a:avLst>
              <a:gd name="adj" fmla="val 12500"/>
            </a:avLst>
          </a:prstGeom>
          <a:solidFill>
            <a:srgbClr val="f6e8ee"/>
          </a:solidFill>
          <a:ln w="12700">
            <a:solidFill>
              <a:srgbClr val="e7c5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67" name="Text 32"/>
          <p:cNvSpPr/>
          <p:nvPr/>
        </p:nvSpPr>
        <p:spPr>
          <a:xfrm>
            <a:off x="960120" y="5193720"/>
            <a:ext cx="10240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8b1e3f"/>
                </a:solidFill>
                <a:latin typeface="Aptos"/>
              </a:rPr>
              <a:t>El modelo pide una capacidad; el sistema decide si corresponde ejecutarla.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1"/>
          <p:cNvSpPr>
            <a:spLocks noGrp="1"/>
          </p:cNvSpPr>
          <p:nvPr>
            <p:ph type="sldNum" idx="13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13208BB-8A3E-4CF7-A9A7-9EB5DC97EFF8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12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Ejemplos de tools empresariales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La tool traduce una necesidad del agente a una función concreta.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71" name="Table 0"/>
          <p:cNvGraphicFramePr/>
          <p:nvPr/>
        </p:nvGraphicFramePr>
        <p:xfrm>
          <a:off x="621720" y="1417320"/>
          <a:ext cx="10972440" cy="4663080"/>
        </p:xfrm>
        <a:graphic>
          <a:graphicData uri="http://schemas.openxmlformats.org/drawingml/2006/table">
            <a:tbl>
              <a:tblPr/>
              <a:tblGrid>
                <a:gridCol w="3337560"/>
                <a:gridCol w="3383280"/>
                <a:gridCol w="4251960"/>
              </a:tblGrid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Necesidad</a:t>
                      </a:r>
                      <a:endParaRPr b="0" lang="es-E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Tool sugerida</a:t>
                      </a:r>
                      <a:endParaRPr b="0" lang="es-E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Límite recomendado</a:t>
                      </a:r>
                      <a:endParaRPr b="0" lang="es-E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Consultar estado de pedido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consultar_estado_pedido(id)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Solo lectura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Ver stock de producto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consultar_stock(sku)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No reservar sin confirmación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Buscar política interna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buscar_politica(tipo)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Solo documentos autorizados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Calcular prioridad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calcular_prioridad(impacto, urgencia)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Regla auditable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Crear ticket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crear_ticket(categoria, prioridad)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Aprobación si es crítico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Consultar paciente/previsión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consultar_opciones(prevision, procedimiento)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No dar consejo médico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2" name="PlaceHolder 1"/>
          <p:cNvSpPr>
            <a:spLocks noGrp="1"/>
          </p:cNvSpPr>
          <p:nvPr>
            <p:ph type="sldNum" idx="14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2C9271A-493F-4D24-BED7-C77F6DD39802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12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Tools de lectura vs tools de acción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No todo acceso externo tiene el mismo nivel de riesgo.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75" name="Table 0"/>
          <p:cNvGraphicFramePr/>
          <p:nvPr/>
        </p:nvGraphicFramePr>
        <p:xfrm>
          <a:off x="621720" y="1417320"/>
          <a:ext cx="10606680" cy="466308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6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Criterio</a:t>
                      </a:r>
                      <a:endParaRPr b="0" lang="es-ES" sz="96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6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Lectura</a:t>
                      </a:r>
                      <a:endParaRPr b="0" lang="es-ES" sz="96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6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Acción</a:t>
                      </a:r>
                      <a:endParaRPr b="0" lang="es-ES" sz="96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Qué hace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Consulta datos y devuelve información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Modifica, crea o dispara un proceso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Permiso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Rol de consulta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Rol de ejecución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Riesgo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Bajo / medio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Medio / alto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Control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Log + filtro + permisos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Validación + confirmación humana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Ejemplo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buscar_cliente()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actualizar_cliente()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Regla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Puede responder con datos autorizados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Debe pausar si cambia negocio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6" name="PlaceHolder 1"/>
          <p:cNvSpPr>
            <a:spLocks noGrp="1"/>
          </p:cNvSpPr>
          <p:nvPr>
            <p:ph type="sldNum" idx="15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8FF5A24-F27E-41C6-94F0-78462ACAF931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12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Schema de entrada y salida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Una tool debe ser tan predecible como una API interna.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2"/>
          <p:cNvSpPr/>
          <p:nvPr/>
        </p:nvSpPr>
        <p:spPr>
          <a:xfrm>
            <a:off x="777240" y="1417320"/>
            <a:ext cx="5257440" cy="2925720"/>
          </a:xfrm>
          <a:prstGeom prst="roundRect">
            <a:avLst>
              <a:gd name="adj" fmla="val 1875"/>
            </a:avLst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80" name="Text 3"/>
          <p:cNvSpPr/>
          <p:nvPr/>
        </p:nvSpPr>
        <p:spPr>
          <a:xfrm>
            <a:off x="960120" y="1645920"/>
            <a:ext cx="4891680" cy="23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6edf3"/>
                </a:solidFill>
                <a:latin typeface="Aptos Mono"/>
                <a:ea typeface="Aptos Mono"/>
              </a:rPr>
              <a:t>@tool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6edf3"/>
                </a:solidFill>
                <a:latin typeface="Aptos Mono"/>
                <a:ea typeface="Aptos Mono"/>
              </a:rPr>
              <a:t>def calcular_prioridad(impacto: int, urgencia: int) -&gt; str: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6edf3"/>
                </a:solidFill>
                <a:latin typeface="Aptos Mono"/>
                <a:ea typeface="Aptos Mono"/>
              </a:rPr>
              <a:t>    </a:t>
            </a:r>
            <a:r>
              <a:rPr b="0" lang="en-US" sz="1200" spc="-1" strike="noStrike">
                <a:solidFill>
                  <a:srgbClr val="e6edf3"/>
                </a:solidFill>
                <a:latin typeface="Aptos Mono"/>
                <a:ea typeface="Aptos Mono"/>
              </a:rPr>
              <a:t>"""Calcula prioridad con escala 1 a 5."""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6edf3"/>
                </a:solidFill>
                <a:latin typeface="Aptos Mono"/>
                <a:ea typeface="Aptos Mono"/>
              </a:rPr>
              <a:t>    </a:t>
            </a:r>
            <a:r>
              <a:rPr b="0" lang="en-US" sz="1200" spc="-1" strike="noStrike">
                <a:solidFill>
                  <a:srgbClr val="e6edf3"/>
                </a:solidFill>
                <a:latin typeface="Aptos Mono"/>
                <a:ea typeface="Aptos Mono"/>
              </a:rPr>
              <a:t>score = impacto * urgencia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6edf3"/>
                </a:solidFill>
                <a:latin typeface="Aptos Mono"/>
                <a:ea typeface="Aptos Mono"/>
              </a:rPr>
              <a:t>    </a:t>
            </a:r>
            <a:r>
              <a:rPr b="0" lang="en-US" sz="1200" spc="-1" strike="noStrike">
                <a:solidFill>
                  <a:srgbClr val="e6edf3"/>
                </a:solidFill>
                <a:latin typeface="Aptos Mono"/>
                <a:ea typeface="Aptos Mono"/>
              </a:rPr>
              <a:t>if score &gt;= 16: return "alta"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6edf3"/>
                </a:solidFill>
                <a:latin typeface="Aptos Mono"/>
                <a:ea typeface="Aptos Mono"/>
              </a:rPr>
              <a:t>    </a:t>
            </a:r>
            <a:r>
              <a:rPr b="0" lang="en-US" sz="1200" spc="-1" strike="noStrike">
                <a:solidFill>
                  <a:srgbClr val="e6edf3"/>
                </a:solidFill>
                <a:latin typeface="Aptos Mono"/>
                <a:ea typeface="Aptos Mono"/>
              </a:rPr>
              <a:t>if score &gt;= 8: return "media"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6edf3"/>
                </a:solidFill>
                <a:latin typeface="Aptos Mono"/>
                <a:ea typeface="Aptos Mono"/>
              </a:rPr>
              <a:t>    </a:t>
            </a:r>
            <a:r>
              <a:rPr b="0" lang="en-US" sz="1200" spc="-1" strike="noStrike">
                <a:solidFill>
                  <a:srgbClr val="e6edf3"/>
                </a:solidFill>
                <a:latin typeface="Aptos Mono"/>
                <a:ea typeface="Aptos Mono"/>
              </a:rPr>
              <a:t>return "baja"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4"/>
          <p:cNvSpPr/>
          <p:nvPr/>
        </p:nvSpPr>
        <p:spPr>
          <a:xfrm>
            <a:off x="6446520" y="1417320"/>
            <a:ext cx="4983120" cy="6397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82" name="Shape 5"/>
          <p:cNvSpPr/>
          <p:nvPr/>
        </p:nvSpPr>
        <p:spPr>
          <a:xfrm>
            <a:off x="6446520" y="1417320"/>
            <a:ext cx="63720" cy="63972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83" name="Text 6"/>
          <p:cNvSpPr/>
          <p:nvPr/>
        </p:nvSpPr>
        <p:spPr>
          <a:xfrm>
            <a:off x="6647760" y="1581840"/>
            <a:ext cx="463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Entrada clara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7"/>
          <p:cNvSpPr/>
          <p:nvPr/>
        </p:nvSpPr>
        <p:spPr>
          <a:xfrm>
            <a:off x="6647760" y="1843200"/>
            <a:ext cx="46357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4017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90" spc="-1" strike="noStrike">
                <a:solidFill>
                  <a:srgbClr val="344054"/>
                </a:solidFill>
                <a:latin typeface="Aptos"/>
                <a:ea typeface="Aptos"/>
              </a:rPr>
              <a:t>tipos, rangos y campos obligatorios.</a:t>
            </a:r>
            <a:endParaRPr b="0" lang="es-ES" sz="24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8"/>
          <p:cNvSpPr/>
          <p:nvPr/>
        </p:nvSpPr>
        <p:spPr>
          <a:xfrm>
            <a:off x="6446520" y="2240280"/>
            <a:ext cx="4983120" cy="6397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86" name="Shape 9"/>
          <p:cNvSpPr/>
          <p:nvPr/>
        </p:nvSpPr>
        <p:spPr>
          <a:xfrm>
            <a:off x="6446520" y="2240280"/>
            <a:ext cx="63720" cy="63972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87" name="Text 10"/>
          <p:cNvSpPr/>
          <p:nvPr/>
        </p:nvSpPr>
        <p:spPr>
          <a:xfrm>
            <a:off x="6647760" y="2404800"/>
            <a:ext cx="463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Salida clara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11"/>
          <p:cNvSpPr/>
          <p:nvPr/>
        </p:nvSpPr>
        <p:spPr>
          <a:xfrm>
            <a:off x="6647760" y="2660400"/>
            <a:ext cx="46357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67791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20" spc="-1" strike="noStrike">
                <a:solidFill>
                  <a:srgbClr val="344054"/>
                </a:solidFill>
                <a:latin typeface="Aptos"/>
                <a:ea typeface="Aptos"/>
              </a:rPr>
              <a:t>texto, JSON o estructura definida.</a:t>
            </a:r>
            <a:endParaRPr b="0" lang="es-ES" sz="15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12"/>
          <p:cNvSpPr/>
          <p:nvPr/>
        </p:nvSpPr>
        <p:spPr>
          <a:xfrm>
            <a:off x="6446520" y="3063240"/>
            <a:ext cx="4983120" cy="6397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90" name="Shape 13"/>
          <p:cNvSpPr/>
          <p:nvPr/>
        </p:nvSpPr>
        <p:spPr>
          <a:xfrm>
            <a:off x="6446520" y="3063240"/>
            <a:ext cx="63720" cy="63972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91" name="Text 14"/>
          <p:cNvSpPr/>
          <p:nvPr/>
        </p:nvSpPr>
        <p:spPr>
          <a:xfrm>
            <a:off x="6647760" y="3227760"/>
            <a:ext cx="463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Descripción útil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15"/>
          <p:cNvSpPr/>
          <p:nvPr/>
        </p:nvSpPr>
        <p:spPr>
          <a:xfrm>
            <a:off x="6647760" y="3483360"/>
            <a:ext cx="46357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67791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20" spc="-1" strike="noStrike">
                <a:solidFill>
                  <a:srgbClr val="344054"/>
                </a:solidFill>
                <a:latin typeface="Aptos"/>
                <a:ea typeface="Aptos"/>
              </a:rPr>
              <a:t>el modelo necesita saber cuándo usarla.</a:t>
            </a:r>
            <a:endParaRPr b="0" lang="es-ES" sz="15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16"/>
          <p:cNvSpPr/>
          <p:nvPr/>
        </p:nvSpPr>
        <p:spPr>
          <a:xfrm>
            <a:off x="6446520" y="3886200"/>
            <a:ext cx="4983120" cy="6397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94" name="Shape 17"/>
          <p:cNvSpPr/>
          <p:nvPr/>
        </p:nvSpPr>
        <p:spPr>
          <a:xfrm>
            <a:off x="6446520" y="3886200"/>
            <a:ext cx="63720" cy="639720"/>
          </a:xfrm>
          <a:prstGeom prst="rect">
            <a:avLst/>
          </a:prstGeom>
          <a:solidFill>
            <a:srgbClr val="d96c06"/>
          </a:solidFill>
          <a:ln w="12700">
            <a:solidFill>
              <a:srgbClr val="d96c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95" name="Text 18"/>
          <p:cNvSpPr/>
          <p:nvPr/>
        </p:nvSpPr>
        <p:spPr>
          <a:xfrm>
            <a:off x="6647760" y="4050720"/>
            <a:ext cx="463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Validación backend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19"/>
          <p:cNvSpPr/>
          <p:nvPr/>
        </p:nvSpPr>
        <p:spPr>
          <a:xfrm>
            <a:off x="6647760" y="4306320"/>
            <a:ext cx="463572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67791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20" spc="-1" strike="noStrike">
                <a:solidFill>
                  <a:srgbClr val="344054"/>
                </a:solidFill>
                <a:latin typeface="Aptos"/>
                <a:ea typeface="Aptos"/>
              </a:rPr>
              <a:t>el modelo solicita; el sistema decide.</a:t>
            </a:r>
            <a:endParaRPr b="0" lang="es-ES" sz="15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20"/>
          <p:cNvSpPr/>
          <p:nvPr/>
        </p:nvSpPr>
        <p:spPr>
          <a:xfrm>
            <a:off x="777240" y="4983480"/>
            <a:ext cx="10652400" cy="438480"/>
          </a:xfrm>
          <a:prstGeom prst="roundRect">
            <a:avLst>
              <a:gd name="adj" fmla="val 12500"/>
            </a:avLst>
          </a:prstGeom>
          <a:solidFill>
            <a:srgbClr val="f6e8ee"/>
          </a:solidFill>
          <a:ln w="12700">
            <a:solidFill>
              <a:srgbClr val="e7c5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98" name="Text 21"/>
          <p:cNvSpPr/>
          <p:nvPr/>
        </p:nvSpPr>
        <p:spPr>
          <a:xfrm>
            <a:off x="960120" y="5102280"/>
            <a:ext cx="10240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8b1e3f"/>
                </a:solidFill>
                <a:latin typeface="Aptos"/>
              </a:rPr>
              <a:t>Idea clave: el modelo no debe tener poder ilimitado; debe pedir capacidades específicas.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1"/>
          <p:cNvSpPr>
            <a:spLocks noGrp="1"/>
          </p:cNvSpPr>
          <p:nvPr>
            <p:ph type="sldNum" idx="16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2A27AA1-B1B7-4C56-86B2-B2F34CAFF161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15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MCP y tools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MCP significa Model Context Protocol.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2"/>
          <p:cNvSpPr/>
          <p:nvPr/>
        </p:nvSpPr>
        <p:spPr>
          <a:xfrm>
            <a:off x="777240" y="1325880"/>
            <a:ext cx="521172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03" name="Shape 3"/>
          <p:cNvSpPr/>
          <p:nvPr/>
        </p:nvSpPr>
        <p:spPr>
          <a:xfrm>
            <a:off x="777240" y="1325880"/>
            <a:ext cx="63720" cy="95976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04" name="Text 4"/>
          <p:cNvSpPr/>
          <p:nvPr/>
        </p:nvSpPr>
        <p:spPr>
          <a:xfrm>
            <a:off x="978480" y="1490400"/>
            <a:ext cx="4864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Qué es MCP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5"/>
          <p:cNvSpPr/>
          <p:nvPr/>
        </p:nvSpPr>
        <p:spPr>
          <a:xfrm>
            <a:off x="978480" y="1828800"/>
            <a:ext cx="486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Un estándar/protocolo para conectar modelos o agentes con herramientas y fuentes externas.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6"/>
          <p:cNvSpPr/>
          <p:nvPr/>
        </p:nvSpPr>
        <p:spPr>
          <a:xfrm>
            <a:off x="6263640" y="1325880"/>
            <a:ext cx="521172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07" name="Shape 7"/>
          <p:cNvSpPr/>
          <p:nvPr/>
        </p:nvSpPr>
        <p:spPr>
          <a:xfrm>
            <a:off x="6263640" y="1325880"/>
            <a:ext cx="63720" cy="95976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08" name="Text 8"/>
          <p:cNvSpPr/>
          <p:nvPr/>
        </p:nvSpPr>
        <p:spPr>
          <a:xfrm>
            <a:off x="6464880" y="1490400"/>
            <a:ext cx="4864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Qué es una tool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9"/>
          <p:cNvSpPr/>
          <p:nvPr/>
        </p:nvSpPr>
        <p:spPr>
          <a:xfrm>
            <a:off x="6464880" y="1828800"/>
            <a:ext cx="4864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Una función concreta que el agente puede usar: consultar, calcular, buscar o actuar.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10"/>
          <p:cNvSpPr/>
          <p:nvPr/>
        </p:nvSpPr>
        <p:spPr>
          <a:xfrm>
            <a:off x="731520" y="2788920"/>
            <a:ext cx="2016720" cy="785880"/>
          </a:xfrm>
          <a:prstGeom prst="roundRect">
            <a:avLst>
              <a:gd name="adj" fmla="val 6977"/>
            </a:avLst>
          </a:prstGeom>
          <a:solidFill>
            <a:srgbClr val="f6e8ee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11" name="Text 11"/>
          <p:cNvSpPr/>
          <p:nvPr/>
        </p:nvSpPr>
        <p:spPr>
          <a:xfrm>
            <a:off x="804600" y="2999160"/>
            <a:ext cx="1870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8b1e3f"/>
                </a:solidFill>
                <a:latin typeface="Aptos"/>
              </a:rPr>
              <a:t>Agente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12"/>
          <p:cNvSpPr/>
          <p:nvPr/>
        </p:nvSpPr>
        <p:spPr>
          <a:xfrm>
            <a:off x="2775960" y="317268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13" name="Shape 13"/>
          <p:cNvSpPr/>
          <p:nvPr/>
        </p:nvSpPr>
        <p:spPr>
          <a:xfrm>
            <a:off x="2913120" y="2788920"/>
            <a:ext cx="2016720" cy="785880"/>
          </a:xfrm>
          <a:prstGeom prst="roundRect">
            <a:avLst>
              <a:gd name="adj" fmla="val 6977"/>
            </a:avLst>
          </a:prstGeom>
          <a:solidFill>
            <a:srgbClr val="eaf1fb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14" name="Text 14"/>
          <p:cNvSpPr/>
          <p:nvPr/>
        </p:nvSpPr>
        <p:spPr>
          <a:xfrm>
            <a:off x="2986560" y="2999160"/>
            <a:ext cx="1870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5aa8"/>
                </a:solidFill>
                <a:latin typeface="Aptos"/>
              </a:rPr>
              <a:t>Cliente MCP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15"/>
          <p:cNvSpPr/>
          <p:nvPr/>
        </p:nvSpPr>
        <p:spPr>
          <a:xfrm>
            <a:off x="4957560" y="3172680"/>
            <a:ext cx="11916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16" name="Shape 16"/>
          <p:cNvSpPr/>
          <p:nvPr/>
        </p:nvSpPr>
        <p:spPr>
          <a:xfrm>
            <a:off x="5095080" y="2788920"/>
            <a:ext cx="2016720" cy="785880"/>
          </a:xfrm>
          <a:prstGeom prst="roundRect">
            <a:avLst>
              <a:gd name="adj" fmla="val 6977"/>
            </a:avLst>
          </a:prstGeom>
          <a:solidFill>
            <a:srgbClr val="e9f5ee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17" name="Text 17"/>
          <p:cNvSpPr/>
          <p:nvPr/>
        </p:nvSpPr>
        <p:spPr>
          <a:xfrm>
            <a:off x="5168160" y="2999160"/>
            <a:ext cx="1870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7a4b"/>
                </a:solidFill>
                <a:latin typeface="Aptos"/>
              </a:rPr>
              <a:t>Servidor MCP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18"/>
          <p:cNvSpPr/>
          <p:nvPr/>
        </p:nvSpPr>
        <p:spPr>
          <a:xfrm>
            <a:off x="7139520" y="317268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19" name="Shape 19"/>
          <p:cNvSpPr/>
          <p:nvPr/>
        </p:nvSpPr>
        <p:spPr>
          <a:xfrm>
            <a:off x="7276680" y="2788920"/>
            <a:ext cx="2016720" cy="785880"/>
          </a:xfrm>
          <a:prstGeom prst="roundRect">
            <a:avLst>
              <a:gd name="adj" fmla="val 6977"/>
            </a:avLst>
          </a:prstGeom>
          <a:solidFill>
            <a:srgbClr val="fff6e5"/>
          </a:solidFill>
          <a:ln w="12700">
            <a:solidFill>
              <a:srgbClr val="d96c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20" name="Text 20"/>
          <p:cNvSpPr/>
          <p:nvPr/>
        </p:nvSpPr>
        <p:spPr>
          <a:xfrm>
            <a:off x="7350120" y="2999160"/>
            <a:ext cx="1870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d96c06"/>
                </a:solidFill>
                <a:latin typeface="Aptos"/>
              </a:rPr>
              <a:t>Tools / recursos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21"/>
          <p:cNvSpPr/>
          <p:nvPr/>
        </p:nvSpPr>
        <p:spPr>
          <a:xfrm>
            <a:off x="9321120" y="317268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22" name="Shape 22"/>
          <p:cNvSpPr/>
          <p:nvPr/>
        </p:nvSpPr>
        <p:spPr>
          <a:xfrm>
            <a:off x="9458640" y="2788920"/>
            <a:ext cx="2016720" cy="785880"/>
          </a:xfrm>
          <a:prstGeom prst="roundRect">
            <a:avLst>
              <a:gd name="adj" fmla="val 6977"/>
            </a:avLst>
          </a:prstGeom>
          <a:solidFill>
            <a:srgbClr val="f6e8ee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23" name="Text 23"/>
          <p:cNvSpPr/>
          <p:nvPr/>
        </p:nvSpPr>
        <p:spPr>
          <a:xfrm>
            <a:off x="9531720" y="2999160"/>
            <a:ext cx="1870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8b1e3f"/>
                </a:solidFill>
                <a:latin typeface="Aptos"/>
              </a:rPr>
              <a:t>Sistemas externos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24"/>
          <p:cNvSpPr/>
          <p:nvPr/>
        </p:nvSpPr>
        <p:spPr>
          <a:xfrm>
            <a:off x="777240" y="4297680"/>
            <a:ext cx="338292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25" name="Shape 25"/>
          <p:cNvSpPr/>
          <p:nvPr/>
        </p:nvSpPr>
        <p:spPr>
          <a:xfrm>
            <a:off x="777240" y="4297680"/>
            <a:ext cx="63720" cy="95976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26" name="Text 26"/>
          <p:cNvSpPr/>
          <p:nvPr/>
        </p:nvSpPr>
        <p:spPr>
          <a:xfrm>
            <a:off x="978480" y="4462200"/>
            <a:ext cx="303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Ejemplos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27"/>
          <p:cNvSpPr/>
          <p:nvPr/>
        </p:nvSpPr>
        <p:spPr>
          <a:xfrm>
            <a:off x="978480" y="4800600"/>
            <a:ext cx="3035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documentos, tickets, calendario, base de datos, archivos.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28"/>
          <p:cNvSpPr/>
          <p:nvPr/>
        </p:nvSpPr>
        <p:spPr>
          <a:xfrm>
            <a:off x="4434840" y="4297680"/>
            <a:ext cx="338292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29" name="Shape 29"/>
          <p:cNvSpPr/>
          <p:nvPr/>
        </p:nvSpPr>
        <p:spPr>
          <a:xfrm>
            <a:off x="4434840" y="4297680"/>
            <a:ext cx="63720" cy="959760"/>
          </a:xfrm>
          <a:prstGeom prst="rect">
            <a:avLst/>
          </a:prstGeom>
          <a:solidFill>
            <a:srgbClr val="d96c06"/>
          </a:solidFill>
          <a:ln w="12700">
            <a:solidFill>
              <a:srgbClr val="d96c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30" name="Text 30"/>
          <p:cNvSpPr/>
          <p:nvPr/>
        </p:nvSpPr>
        <p:spPr>
          <a:xfrm>
            <a:off x="4636080" y="4462200"/>
            <a:ext cx="303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Valor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31"/>
          <p:cNvSpPr/>
          <p:nvPr/>
        </p:nvSpPr>
        <p:spPr>
          <a:xfrm>
            <a:off x="4636080" y="4800600"/>
            <a:ext cx="3035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estandariza cómo descubrir y usar herramientas/contexto.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32"/>
          <p:cNvSpPr/>
          <p:nvPr/>
        </p:nvSpPr>
        <p:spPr>
          <a:xfrm>
            <a:off x="8092440" y="4297680"/>
            <a:ext cx="338292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33" name="Shape 33"/>
          <p:cNvSpPr/>
          <p:nvPr/>
        </p:nvSpPr>
        <p:spPr>
          <a:xfrm>
            <a:off x="8092440" y="4297680"/>
            <a:ext cx="63720" cy="95976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34" name="Text 34"/>
          <p:cNvSpPr/>
          <p:nvPr/>
        </p:nvSpPr>
        <p:spPr>
          <a:xfrm>
            <a:off x="8293680" y="4462200"/>
            <a:ext cx="303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Aclaración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35"/>
          <p:cNvSpPr/>
          <p:nvPr/>
        </p:nvSpPr>
        <p:spPr>
          <a:xfrm>
            <a:off x="8293680" y="4800600"/>
            <a:ext cx="3035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MCP no reemplaza las tools; ayuda a conectarlas y exponerlas.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1"/>
          <p:cNvSpPr>
            <a:spLocks noGrp="1"/>
          </p:cNvSpPr>
          <p:nvPr>
            <p:ph type="sldNum" idx="17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14E16F0-EC66-4C56-B739-FF6ADFBE0BE9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16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MCP en una arquitectura empresarial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MCP ayuda a evitar integraciones artesanales para cada herramienta.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2"/>
          <p:cNvSpPr/>
          <p:nvPr/>
        </p:nvSpPr>
        <p:spPr>
          <a:xfrm>
            <a:off x="822960" y="1325880"/>
            <a:ext cx="283428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40" name="Shape 3"/>
          <p:cNvSpPr/>
          <p:nvPr/>
        </p:nvSpPr>
        <p:spPr>
          <a:xfrm>
            <a:off x="822960" y="1325880"/>
            <a:ext cx="63720" cy="95976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41" name="Text 4"/>
          <p:cNvSpPr/>
          <p:nvPr/>
        </p:nvSpPr>
        <p:spPr>
          <a:xfrm>
            <a:off x="1024200" y="1490400"/>
            <a:ext cx="2486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App / agente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5"/>
          <p:cNvSpPr/>
          <p:nvPr/>
        </p:nvSpPr>
        <p:spPr>
          <a:xfrm>
            <a:off x="1024200" y="1828800"/>
            <a:ext cx="2486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Interfaz, sesión, permisos y objetivo del usuario.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6"/>
          <p:cNvSpPr/>
          <p:nvPr/>
        </p:nvSpPr>
        <p:spPr>
          <a:xfrm>
            <a:off x="4663440" y="1325880"/>
            <a:ext cx="283428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44" name="Shape 7"/>
          <p:cNvSpPr/>
          <p:nvPr/>
        </p:nvSpPr>
        <p:spPr>
          <a:xfrm>
            <a:off x="4663440" y="1325880"/>
            <a:ext cx="63720" cy="95976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45" name="Text 8"/>
          <p:cNvSpPr/>
          <p:nvPr/>
        </p:nvSpPr>
        <p:spPr>
          <a:xfrm>
            <a:off x="4864680" y="1490400"/>
            <a:ext cx="2486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MCP server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9"/>
          <p:cNvSpPr/>
          <p:nvPr/>
        </p:nvSpPr>
        <p:spPr>
          <a:xfrm>
            <a:off x="4864680" y="1828800"/>
            <a:ext cx="2486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Expone recursos, tools y prompts con un contrato común.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10"/>
          <p:cNvSpPr/>
          <p:nvPr/>
        </p:nvSpPr>
        <p:spPr>
          <a:xfrm>
            <a:off x="8503920" y="1325880"/>
            <a:ext cx="283428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48" name="Shape 11"/>
          <p:cNvSpPr/>
          <p:nvPr/>
        </p:nvSpPr>
        <p:spPr>
          <a:xfrm>
            <a:off x="8503920" y="1325880"/>
            <a:ext cx="63720" cy="95976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49" name="Text 12"/>
          <p:cNvSpPr/>
          <p:nvPr/>
        </p:nvSpPr>
        <p:spPr>
          <a:xfrm>
            <a:off x="8705160" y="1490400"/>
            <a:ext cx="2486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Sistemas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Text 13"/>
          <p:cNvSpPr/>
          <p:nvPr/>
        </p:nvSpPr>
        <p:spPr>
          <a:xfrm>
            <a:off x="8705160" y="1828800"/>
            <a:ext cx="2486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DB, archivos, APIs, tickets, calendario o repositorios.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14"/>
          <p:cNvSpPr/>
          <p:nvPr/>
        </p:nvSpPr>
        <p:spPr>
          <a:xfrm>
            <a:off x="3703320" y="1828800"/>
            <a:ext cx="868680" cy="360"/>
          </a:xfrm>
          <a:prstGeom prst="line">
            <a:avLst/>
          </a:prstGeom>
          <a:ln w="1524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52" name="Shape 15"/>
          <p:cNvSpPr/>
          <p:nvPr/>
        </p:nvSpPr>
        <p:spPr>
          <a:xfrm>
            <a:off x="7543800" y="1828800"/>
            <a:ext cx="868680" cy="360"/>
          </a:xfrm>
          <a:prstGeom prst="line">
            <a:avLst/>
          </a:prstGeom>
          <a:ln w="1524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graphicFrame>
        <p:nvGraphicFramePr>
          <p:cNvPr id="353" name="Table 0"/>
          <p:cNvGraphicFramePr/>
          <p:nvPr/>
        </p:nvGraphicFramePr>
        <p:xfrm>
          <a:off x="822960" y="2971800"/>
          <a:ext cx="10469520" cy="2057400"/>
        </p:xfrm>
        <a:graphic>
          <a:graphicData uri="http://schemas.openxmlformats.org/drawingml/2006/table">
            <a:tbl>
              <a:tblPr/>
              <a:tblGrid>
                <a:gridCol w="2011680"/>
                <a:gridCol w="8458200"/>
              </a:tblGrid>
              <a:tr h="41148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Primitiva</a:t>
                      </a:r>
                      <a:endParaRPr b="0" lang="es-E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Uso</a:t>
                      </a:r>
                      <a:endParaRPr b="0" lang="es-E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</a:tr>
              <a:tr h="41148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Recursos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Contexto y datos: archivos, schemas, documentos, resultados consultables.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41148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Tools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Funciones ejecutables: consultar API, calcular, buscar o actuar con permisos.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Prompts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Plantillas o flujos reutilizables para tareas específicas.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41148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Transporte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Canal técnico para comunicar cliente-servidor de forma definida.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4" name="Text 16"/>
          <p:cNvSpPr/>
          <p:nvPr/>
        </p:nvSpPr>
        <p:spPr>
          <a:xfrm>
            <a:off x="822960" y="5486400"/>
            <a:ext cx="10469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8b1e3f"/>
                </a:solidFill>
                <a:latin typeface="Aptos"/>
              </a:rPr>
              <a:t>Referencia conceptual: MCP no elimina seguridad, permisos ni validación; solo ordena la conexión.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1"/>
          <p:cNvSpPr>
            <a:spLocks noGrp="1"/>
          </p:cNvSpPr>
          <p:nvPr>
            <p:ph type="sldNum" idx="18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0E8778F-E725-4DFF-8399-E0B7191D2B8C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17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357" name="TextBox 2"/>
          <p:cNvSpPr/>
          <p:nvPr/>
        </p:nvSpPr>
        <p:spPr>
          <a:xfrm>
            <a:off x="4070520" y="311040"/>
            <a:ext cx="3965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2400" spc="-1" strike="noStrike">
                <a:solidFill>
                  <a:srgbClr val="061c3a"/>
                </a:solidFill>
                <a:latin typeface="Aptos Display"/>
              </a:rPr>
              <a:t>MCP: ejemplos concretos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Box 3"/>
          <p:cNvSpPr/>
          <p:nvPr/>
        </p:nvSpPr>
        <p:spPr>
          <a:xfrm>
            <a:off x="2683800" y="676800"/>
            <a:ext cx="6738840" cy="2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280" spc="-1" strike="noStrike">
                <a:solidFill>
                  <a:srgbClr val="5a6987"/>
                </a:solidFill>
                <a:latin typeface="Aptos"/>
              </a:rPr>
              <a:t>Un MCP server expone recursos o tools al agente bajo permisos y controles definidos.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Rounded Rectangle 4"/>
          <p:cNvSpPr/>
          <p:nvPr/>
        </p:nvSpPr>
        <p:spPr>
          <a:xfrm>
            <a:off x="658440" y="1060560"/>
            <a:ext cx="10881000" cy="621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3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360" name="Rectangle 5"/>
          <p:cNvSpPr/>
          <p:nvPr/>
        </p:nvSpPr>
        <p:spPr>
          <a:xfrm>
            <a:off x="658440" y="1060560"/>
            <a:ext cx="91080" cy="621360"/>
          </a:xfrm>
          <a:prstGeom prst="rect">
            <a:avLst/>
          </a:prstGeom>
          <a:solidFill>
            <a:srgbClr val="9b1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361" name="TextBox 6"/>
          <p:cNvSpPr/>
          <p:nvPr/>
        </p:nvSpPr>
        <p:spPr>
          <a:xfrm>
            <a:off x="1018080" y="1152000"/>
            <a:ext cx="99241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250" spc="-1" strike="noStrike">
                <a:solidFill>
                  <a:srgbClr val="061c3a"/>
                </a:solidFill>
                <a:latin typeface="Aptos"/>
              </a:rPr>
              <a:t>Idea clave: MCP no es “un agente”; es una forma estandarizada de conectar el agente con herramientas, archivos, datos y sistemas.</a:t>
            </a:r>
            <a:endParaRPr b="0" lang="es-E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Rectangle 7"/>
          <p:cNvSpPr/>
          <p:nvPr/>
        </p:nvSpPr>
        <p:spPr>
          <a:xfrm>
            <a:off x="658440" y="1874520"/>
            <a:ext cx="10881000" cy="383760"/>
          </a:xfrm>
          <a:prstGeom prst="rect">
            <a:avLst/>
          </a:prstGeom>
          <a:solidFill>
            <a:srgbClr val="06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363" name="TextBox 8"/>
          <p:cNvSpPr/>
          <p:nvPr/>
        </p:nvSpPr>
        <p:spPr>
          <a:xfrm>
            <a:off x="1312560" y="1956960"/>
            <a:ext cx="8042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080" spc="-1" strike="noStrike">
                <a:solidFill>
                  <a:srgbClr val="ffffff"/>
                </a:solidFill>
                <a:latin typeface="Aptos"/>
              </a:rPr>
              <a:t>MCP de…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Box 9"/>
          <p:cNvSpPr/>
          <p:nvPr/>
        </p:nvSpPr>
        <p:spPr>
          <a:xfrm>
            <a:off x="3719160" y="1956960"/>
            <a:ext cx="99648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080" spc="-1" strike="noStrike">
                <a:solidFill>
                  <a:srgbClr val="ffffff"/>
                </a:solidFill>
                <a:latin typeface="Aptos"/>
              </a:rPr>
              <a:t>Qué expone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Box 10"/>
          <p:cNvSpPr/>
          <p:nvPr/>
        </p:nvSpPr>
        <p:spPr>
          <a:xfrm>
            <a:off x="6660360" y="1956960"/>
            <a:ext cx="121140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080" spc="-1" strike="noStrike">
                <a:solidFill>
                  <a:srgbClr val="ffffff"/>
                </a:solidFill>
                <a:latin typeface="Aptos"/>
              </a:rPr>
              <a:t>Ejemplo de uso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TextBox 11"/>
          <p:cNvSpPr/>
          <p:nvPr/>
        </p:nvSpPr>
        <p:spPr>
          <a:xfrm>
            <a:off x="9576000" y="1956960"/>
            <a:ext cx="1252440" cy="2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080" spc="-1" strike="noStrike">
                <a:solidFill>
                  <a:srgbClr val="ffffff"/>
                </a:solidFill>
                <a:latin typeface="Aptos"/>
              </a:rPr>
              <a:t>Control mínimo</a:t>
            </a:r>
            <a:endParaRPr b="0" lang="es-E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Rectangle 12"/>
          <p:cNvSpPr/>
          <p:nvPr/>
        </p:nvSpPr>
        <p:spPr>
          <a:xfrm>
            <a:off x="658440" y="2258640"/>
            <a:ext cx="10881000" cy="60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368" name="Rectangle 13"/>
          <p:cNvSpPr/>
          <p:nvPr/>
        </p:nvSpPr>
        <p:spPr>
          <a:xfrm>
            <a:off x="658440" y="2258640"/>
            <a:ext cx="91080" cy="603000"/>
          </a:xfrm>
          <a:prstGeom prst="rect">
            <a:avLst/>
          </a:prstGeom>
          <a:solidFill>
            <a:srgbClr val="9b1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369" name="TextBox 14"/>
          <p:cNvSpPr/>
          <p:nvPr/>
        </p:nvSpPr>
        <p:spPr>
          <a:xfrm>
            <a:off x="804600" y="2359080"/>
            <a:ext cx="1884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100" spc="-1" strike="noStrike">
                <a:solidFill>
                  <a:srgbClr val="061c3a"/>
                </a:solidFill>
                <a:latin typeface="Aptos"/>
              </a:rPr>
              <a:t>Archivos / Drive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Box 15"/>
          <p:cNvSpPr/>
          <p:nvPr/>
        </p:nvSpPr>
        <p:spPr>
          <a:xfrm>
            <a:off x="2817360" y="2359080"/>
            <a:ext cx="275472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020" spc="-1" strike="noStrike">
                <a:solidFill>
                  <a:srgbClr val="5a6987"/>
                </a:solidFill>
                <a:latin typeface="Aptos"/>
              </a:rPr>
              <a:t>Documentos, PDFs o carpetas autorizadas</a:t>
            </a:r>
            <a:endParaRPr b="0" lang="es-E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Box 16"/>
          <p:cNvSpPr/>
          <p:nvPr/>
        </p:nvSpPr>
        <p:spPr>
          <a:xfrm>
            <a:off x="5755320" y="2359080"/>
            <a:ext cx="297252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020" spc="-1" strike="noStrike">
                <a:solidFill>
                  <a:srgbClr val="5a6987"/>
                </a:solidFill>
                <a:latin typeface="Aptos"/>
              </a:rPr>
              <a:t>Buscar política vigente o manual interno</a:t>
            </a:r>
            <a:endParaRPr b="0" lang="es-E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Box 17"/>
          <p:cNvSpPr/>
          <p:nvPr/>
        </p:nvSpPr>
        <p:spPr>
          <a:xfrm>
            <a:off x="8910720" y="2359080"/>
            <a:ext cx="253728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020" spc="-1" strike="noStrike">
                <a:solidFill>
                  <a:srgbClr val="5a6987"/>
                </a:solidFill>
                <a:latin typeface="Aptos"/>
              </a:rPr>
              <a:t>Permisos por carpeta</a:t>
            </a:r>
            <a:endParaRPr b="0" lang="es-E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Rectangle 18"/>
          <p:cNvSpPr/>
          <p:nvPr/>
        </p:nvSpPr>
        <p:spPr>
          <a:xfrm>
            <a:off x="658440" y="2862000"/>
            <a:ext cx="10881000" cy="60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374" name="Rectangle 19"/>
          <p:cNvSpPr/>
          <p:nvPr/>
        </p:nvSpPr>
        <p:spPr>
          <a:xfrm>
            <a:off x="658440" y="2862000"/>
            <a:ext cx="91080" cy="603000"/>
          </a:xfrm>
          <a:prstGeom prst="rect">
            <a:avLst/>
          </a:prstGeom>
          <a:solidFill>
            <a:srgbClr val="26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375" name="TextBox 20"/>
          <p:cNvSpPr/>
          <p:nvPr/>
        </p:nvSpPr>
        <p:spPr>
          <a:xfrm>
            <a:off x="804600" y="2962800"/>
            <a:ext cx="1884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100" spc="-1" strike="noStrike">
                <a:solidFill>
                  <a:srgbClr val="061c3a"/>
                </a:solidFill>
                <a:latin typeface="Aptos"/>
              </a:rPr>
              <a:t>Base de datos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Box 21"/>
          <p:cNvSpPr/>
          <p:nvPr/>
        </p:nvSpPr>
        <p:spPr>
          <a:xfrm>
            <a:off x="2817360" y="2962800"/>
            <a:ext cx="275472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020" spc="-1" strike="noStrike">
                <a:solidFill>
                  <a:srgbClr val="5a6987"/>
                </a:solidFill>
                <a:latin typeface="Aptos"/>
              </a:rPr>
              <a:t>Consultas SQL o vistas controladas</a:t>
            </a:r>
            <a:endParaRPr b="0" lang="es-E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Box 22"/>
          <p:cNvSpPr/>
          <p:nvPr/>
        </p:nvSpPr>
        <p:spPr>
          <a:xfrm>
            <a:off x="5755320" y="2962800"/>
            <a:ext cx="297252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020" spc="-1" strike="noStrike">
                <a:solidFill>
                  <a:srgbClr val="5a6987"/>
                </a:solidFill>
                <a:latin typeface="Aptos"/>
              </a:rPr>
              <a:t>Consultar stock, pedidos o pacientes</a:t>
            </a:r>
            <a:endParaRPr b="0" lang="es-E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Box 23"/>
          <p:cNvSpPr/>
          <p:nvPr/>
        </p:nvSpPr>
        <p:spPr>
          <a:xfrm>
            <a:off x="8910720" y="2962800"/>
            <a:ext cx="253728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020" spc="-1" strike="noStrike">
                <a:solidFill>
                  <a:srgbClr val="5a6987"/>
                </a:solidFill>
                <a:latin typeface="Aptos"/>
              </a:rPr>
              <a:t>Solo lectura / views</a:t>
            </a:r>
            <a:endParaRPr b="0" lang="es-E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Rectangle 24"/>
          <p:cNvSpPr/>
          <p:nvPr/>
        </p:nvSpPr>
        <p:spPr>
          <a:xfrm>
            <a:off x="658440" y="3465720"/>
            <a:ext cx="10881000" cy="60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380" name="Rectangle 25"/>
          <p:cNvSpPr/>
          <p:nvPr/>
        </p:nvSpPr>
        <p:spPr>
          <a:xfrm>
            <a:off x="658440" y="3465720"/>
            <a:ext cx="91080" cy="603000"/>
          </a:xfrm>
          <a:prstGeom prst="rect">
            <a:avLst/>
          </a:prstGeom>
          <a:solidFill>
            <a:srgbClr val="1f8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381" name="TextBox 26"/>
          <p:cNvSpPr/>
          <p:nvPr/>
        </p:nvSpPr>
        <p:spPr>
          <a:xfrm>
            <a:off x="804600" y="3566160"/>
            <a:ext cx="1884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100" spc="-1" strike="noStrike">
                <a:solidFill>
                  <a:srgbClr val="061c3a"/>
                </a:solidFill>
                <a:latin typeface="Aptos"/>
              </a:rPr>
              <a:t>Tickets / soporte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Box 27"/>
          <p:cNvSpPr/>
          <p:nvPr/>
        </p:nvSpPr>
        <p:spPr>
          <a:xfrm>
            <a:off x="2817360" y="3566160"/>
            <a:ext cx="275472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020" spc="-1" strike="noStrike">
                <a:solidFill>
                  <a:srgbClr val="5a6987"/>
                </a:solidFill>
                <a:latin typeface="Aptos"/>
              </a:rPr>
              <a:t>Incidentes, SLA, estados y comentarios</a:t>
            </a:r>
            <a:endParaRPr b="0" lang="es-E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Box 28"/>
          <p:cNvSpPr/>
          <p:nvPr/>
        </p:nvSpPr>
        <p:spPr>
          <a:xfrm>
            <a:off x="5755320" y="3566160"/>
            <a:ext cx="297252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020" spc="-1" strike="noStrike">
                <a:solidFill>
                  <a:srgbClr val="5a6987"/>
                </a:solidFill>
                <a:latin typeface="Aptos"/>
              </a:rPr>
              <a:t>Revisar caso y sugerir prioridad</a:t>
            </a:r>
            <a:endParaRPr b="0" lang="es-E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Box 29"/>
          <p:cNvSpPr/>
          <p:nvPr/>
        </p:nvSpPr>
        <p:spPr>
          <a:xfrm>
            <a:off x="8910720" y="3566160"/>
            <a:ext cx="253728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020" spc="-1" strike="noStrike">
                <a:solidFill>
                  <a:srgbClr val="5a6987"/>
                </a:solidFill>
                <a:latin typeface="Aptos"/>
              </a:rPr>
              <a:t>No cerrar sin aprobación</a:t>
            </a:r>
            <a:endParaRPr b="0" lang="es-E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Rectangle 30"/>
          <p:cNvSpPr/>
          <p:nvPr/>
        </p:nvSpPr>
        <p:spPr>
          <a:xfrm>
            <a:off x="658440" y="4069080"/>
            <a:ext cx="10881000" cy="60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386" name="Rectangle 31"/>
          <p:cNvSpPr/>
          <p:nvPr/>
        </p:nvSpPr>
        <p:spPr>
          <a:xfrm>
            <a:off x="658440" y="4069080"/>
            <a:ext cx="91080" cy="603000"/>
          </a:xfrm>
          <a:prstGeom prst="rect">
            <a:avLst/>
          </a:prstGeom>
          <a:solidFill>
            <a:srgbClr val="dd6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387" name="TextBox 32"/>
          <p:cNvSpPr/>
          <p:nvPr/>
        </p:nvSpPr>
        <p:spPr>
          <a:xfrm>
            <a:off x="804600" y="4169520"/>
            <a:ext cx="1884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100" spc="-1" strike="noStrike">
                <a:solidFill>
                  <a:srgbClr val="061c3a"/>
                </a:solidFill>
                <a:latin typeface="Aptos"/>
              </a:rPr>
              <a:t>Calendario / correo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Box 33"/>
          <p:cNvSpPr/>
          <p:nvPr/>
        </p:nvSpPr>
        <p:spPr>
          <a:xfrm>
            <a:off x="2817360" y="4169520"/>
            <a:ext cx="275472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020" spc="-1" strike="noStrike">
                <a:solidFill>
                  <a:srgbClr val="5a6987"/>
                </a:solidFill>
                <a:latin typeface="Aptos"/>
              </a:rPr>
              <a:t>Eventos, disponibilidad o borradores</a:t>
            </a:r>
            <a:endParaRPr b="0" lang="es-E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Box 34"/>
          <p:cNvSpPr/>
          <p:nvPr/>
        </p:nvSpPr>
        <p:spPr>
          <a:xfrm>
            <a:off x="5755320" y="4169520"/>
            <a:ext cx="297252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020" spc="-1" strike="noStrike">
                <a:solidFill>
                  <a:srgbClr val="5a6987"/>
                </a:solidFill>
                <a:latin typeface="Aptos"/>
              </a:rPr>
              <a:t>Preparar reunión o respuesta sugerida</a:t>
            </a:r>
            <a:endParaRPr b="0" lang="es-E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Box 35"/>
          <p:cNvSpPr/>
          <p:nvPr/>
        </p:nvSpPr>
        <p:spPr>
          <a:xfrm>
            <a:off x="8910720" y="4169520"/>
            <a:ext cx="253728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020" spc="-1" strike="noStrike">
                <a:solidFill>
                  <a:srgbClr val="5a6987"/>
                </a:solidFill>
                <a:latin typeface="Aptos"/>
              </a:rPr>
              <a:t>Confirmación humana</a:t>
            </a:r>
            <a:endParaRPr b="0" lang="es-E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Rectangle 36"/>
          <p:cNvSpPr/>
          <p:nvPr/>
        </p:nvSpPr>
        <p:spPr>
          <a:xfrm>
            <a:off x="658440" y="4672440"/>
            <a:ext cx="10881000" cy="60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392" name="Rectangle 37"/>
          <p:cNvSpPr/>
          <p:nvPr/>
        </p:nvSpPr>
        <p:spPr>
          <a:xfrm>
            <a:off x="658440" y="4672440"/>
            <a:ext cx="91080" cy="603000"/>
          </a:xfrm>
          <a:prstGeom prst="rect">
            <a:avLst/>
          </a:prstGeom>
          <a:solidFill>
            <a:srgbClr val="9b1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393" name="TextBox 38"/>
          <p:cNvSpPr/>
          <p:nvPr/>
        </p:nvSpPr>
        <p:spPr>
          <a:xfrm>
            <a:off x="804600" y="4773240"/>
            <a:ext cx="1884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100" spc="-1" strike="noStrike">
                <a:solidFill>
                  <a:srgbClr val="061c3a"/>
                </a:solidFill>
                <a:latin typeface="Aptos"/>
              </a:rPr>
              <a:t>Repositorio / Git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Box 39"/>
          <p:cNvSpPr/>
          <p:nvPr/>
        </p:nvSpPr>
        <p:spPr>
          <a:xfrm>
            <a:off x="2817360" y="4773240"/>
            <a:ext cx="275472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020" spc="-1" strike="noStrike">
                <a:solidFill>
                  <a:srgbClr val="5a6987"/>
                </a:solidFill>
                <a:latin typeface="Aptos"/>
              </a:rPr>
              <a:t>Issues, commits, documentación técnica</a:t>
            </a:r>
            <a:endParaRPr b="0" lang="es-E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Box 40"/>
          <p:cNvSpPr/>
          <p:nvPr/>
        </p:nvSpPr>
        <p:spPr>
          <a:xfrm>
            <a:off x="5755320" y="4773240"/>
            <a:ext cx="297252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020" spc="-1" strike="noStrike">
                <a:solidFill>
                  <a:srgbClr val="5a6987"/>
                </a:solidFill>
                <a:latin typeface="Aptos"/>
              </a:rPr>
              <a:t>Buscar cambios o incidentes recientes</a:t>
            </a:r>
            <a:endParaRPr b="0" lang="es-E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Box 41"/>
          <p:cNvSpPr/>
          <p:nvPr/>
        </p:nvSpPr>
        <p:spPr>
          <a:xfrm>
            <a:off x="8910720" y="4773240"/>
            <a:ext cx="253728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020" spc="-1" strike="noStrike">
                <a:solidFill>
                  <a:srgbClr val="5a6987"/>
                </a:solidFill>
                <a:latin typeface="Aptos"/>
              </a:rPr>
              <a:t>Acceso por rol</a:t>
            </a:r>
            <a:endParaRPr b="0" lang="es-E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Rectangle 42"/>
          <p:cNvSpPr/>
          <p:nvPr/>
        </p:nvSpPr>
        <p:spPr>
          <a:xfrm>
            <a:off x="658440" y="5276160"/>
            <a:ext cx="10881000" cy="60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398" name="Rectangle 43"/>
          <p:cNvSpPr/>
          <p:nvPr/>
        </p:nvSpPr>
        <p:spPr>
          <a:xfrm>
            <a:off x="658440" y="5276160"/>
            <a:ext cx="91080" cy="603000"/>
          </a:xfrm>
          <a:prstGeom prst="rect">
            <a:avLst/>
          </a:prstGeom>
          <a:solidFill>
            <a:srgbClr val="26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399" name="TextBox 44"/>
          <p:cNvSpPr/>
          <p:nvPr/>
        </p:nvSpPr>
        <p:spPr>
          <a:xfrm>
            <a:off x="804600" y="5376600"/>
            <a:ext cx="1884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100" spc="-1" strike="noStrike">
                <a:solidFill>
                  <a:srgbClr val="061c3a"/>
                </a:solidFill>
                <a:latin typeface="Aptos"/>
              </a:rPr>
              <a:t>APIs internas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Box 45"/>
          <p:cNvSpPr/>
          <p:nvPr/>
        </p:nvSpPr>
        <p:spPr>
          <a:xfrm>
            <a:off x="2817360" y="5376600"/>
            <a:ext cx="275472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020" spc="-1" strike="noStrike">
                <a:solidFill>
                  <a:srgbClr val="5a6987"/>
                </a:solidFill>
                <a:latin typeface="Aptos"/>
              </a:rPr>
              <a:t>ERP, CRM, inventario o sistemas core</a:t>
            </a:r>
            <a:endParaRPr b="0" lang="es-E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Box 46"/>
          <p:cNvSpPr/>
          <p:nvPr/>
        </p:nvSpPr>
        <p:spPr>
          <a:xfrm>
            <a:off x="5755320" y="5376600"/>
            <a:ext cx="297252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020" spc="-1" strike="noStrike">
                <a:solidFill>
                  <a:srgbClr val="5a6987"/>
                </a:solidFill>
                <a:latin typeface="Aptos"/>
              </a:rPr>
              <a:t>Consultar estado de cliente/proceso</a:t>
            </a:r>
            <a:endParaRPr b="0" lang="es-E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Box 47"/>
          <p:cNvSpPr/>
          <p:nvPr/>
        </p:nvSpPr>
        <p:spPr>
          <a:xfrm>
            <a:off x="8910720" y="5376600"/>
            <a:ext cx="253728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1020" spc="-1" strike="noStrike">
                <a:solidFill>
                  <a:srgbClr val="5a6987"/>
                </a:solidFill>
                <a:latin typeface="Aptos"/>
              </a:rPr>
              <a:t>Logs + rate limit</a:t>
            </a:r>
            <a:endParaRPr b="0" lang="es-ES" sz="1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Rounded Rectangle 48"/>
          <p:cNvSpPr/>
          <p:nvPr/>
        </p:nvSpPr>
        <p:spPr>
          <a:xfrm>
            <a:off x="658440" y="5989320"/>
            <a:ext cx="10881000" cy="402120"/>
          </a:xfrm>
          <a:prstGeom prst="roundRect">
            <a:avLst>
              <a:gd name="adj" fmla="val 16667"/>
            </a:avLst>
          </a:prstGeom>
          <a:solidFill>
            <a:srgbClr val="f0f4f9"/>
          </a:solidFill>
          <a:ln w="9525">
            <a:solidFill>
              <a:srgbClr val="d3d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s-ES" sz="1800" spc="-1" strike="noStrike">
              <a:solidFill>
                <a:schemeClr val="lt1"/>
              </a:solidFill>
              <a:latin typeface="Aptos"/>
            </a:endParaRPr>
          </a:p>
        </p:txBody>
      </p:sp>
      <p:sp>
        <p:nvSpPr>
          <p:cNvPr id="404" name="TextBox 49"/>
          <p:cNvSpPr/>
          <p:nvPr/>
        </p:nvSpPr>
        <p:spPr>
          <a:xfrm>
            <a:off x="2150280" y="6062400"/>
            <a:ext cx="7677720" cy="26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s-ES" sz="1150" spc="-1" strike="noStrike">
                <a:solidFill>
                  <a:srgbClr val="061c3a"/>
                </a:solidFill>
                <a:latin typeface="Aptos"/>
              </a:rPr>
              <a:t>Para entender en simple: “MCP es el conector estándar; las tools son las capacidades que conectamos”.</a:t>
            </a:r>
            <a:endParaRPr b="0" lang="es-E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Box 50"/>
          <p:cNvSpPr/>
          <p:nvPr/>
        </p:nvSpPr>
        <p:spPr>
          <a:xfrm>
            <a:off x="3377160" y="6565320"/>
            <a:ext cx="489492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s-ES" sz="950" spc="-1" strike="noStrike">
                <a:solidFill>
                  <a:srgbClr val="5a6987"/>
                </a:solidFill>
                <a:latin typeface="Aptos"/>
              </a:rPr>
              <a:t>Diplomado Ejecutivo en Confianza Digital, IA y Automatización Empresarial · Clase 4</a:t>
            </a:r>
            <a:endParaRPr b="0" lang="es-E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Mapa dato → patrón → control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Usar IA con criterio es conectar el dato correcto con el nivel de autonomía correcto.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08" name="Table 0"/>
          <p:cNvGraphicFramePr/>
          <p:nvPr/>
        </p:nvGraphicFramePr>
        <p:xfrm>
          <a:off x="621720" y="1234440"/>
          <a:ext cx="10240920" cy="4663080"/>
        </p:xfrm>
        <a:graphic>
          <a:graphicData uri="http://schemas.openxmlformats.org/drawingml/2006/table">
            <a:tbl>
              <a:tblPr/>
              <a:tblGrid>
                <a:gridCol w="3108960"/>
                <a:gridCol w="2926080"/>
                <a:gridCol w="4206240"/>
              </a:tblGrid>
              <a:tr h="5180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85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Dato o necesidad</a:t>
                      </a:r>
                      <a:endParaRPr b="0" lang="es-ES" sz="8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85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Patrón</a:t>
                      </a:r>
                      <a:endParaRPr b="0" lang="es-ES" sz="8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85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Control mínimo</a:t>
                      </a:r>
                      <a:endParaRPr b="0" lang="es-ES" sz="8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</a:tr>
              <a:tr h="5180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Texto libre</a:t>
                      </a:r>
                      <a:endParaRPr b="0" lang="es-ES" sz="8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Chain</a:t>
                      </a:r>
                      <a:endParaRPr b="0" lang="es-ES" sz="8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Schema / parser</a:t>
                      </a:r>
                      <a:endParaRPr b="0" lang="es-ES" sz="8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5180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Documento</a:t>
                      </a:r>
                      <a:endParaRPr b="0" lang="es-ES" sz="8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RAG</a:t>
                      </a:r>
                      <a:endParaRPr b="0" lang="es-ES" sz="8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Fuente + fallback</a:t>
                      </a:r>
                      <a:endParaRPr b="0" lang="es-ES" sz="8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80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Documento escaneado</a:t>
                      </a:r>
                      <a:endParaRPr b="0" lang="es-ES" sz="8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OCR + chain</a:t>
                      </a:r>
                      <a:endParaRPr b="0" lang="es-ES" sz="8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Confianza + validación</a:t>
                      </a:r>
                      <a:endParaRPr b="0" lang="es-ES" sz="8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5180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Dato vivo</a:t>
                      </a:r>
                      <a:endParaRPr b="0" lang="es-ES" sz="8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Tool</a:t>
                      </a:r>
                      <a:endParaRPr b="0" lang="es-ES" sz="8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Permisos + logs</a:t>
                      </a:r>
                      <a:endParaRPr b="0" lang="es-ES" sz="8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80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Varias tools externas</a:t>
                      </a:r>
                      <a:endParaRPr b="0" lang="es-ES" sz="8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MCP + tool calling</a:t>
                      </a:r>
                      <a:endParaRPr b="0" lang="es-ES" sz="8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Servidor controlado + scopes</a:t>
                      </a:r>
                      <a:endParaRPr b="0" lang="es-ES" sz="8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5180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Acción sensible</a:t>
                      </a:r>
                      <a:endParaRPr b="0" lang="es-ES" sz="8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Tool + humano</a:t>
                      </a:r>
                      <a:endParaRPr b="0" lang="es-ES" sz="8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Confirmación previa</a:t>
                      </a:r>
                      <a:endParaRPr b="0" lang="es-ES" sz="8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80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Ruta no fija</a:t>
                      </a:r>
                      <a:endParaRPr b="0" lang="es-ES" sz="8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Agente</a:t>
                      </a:r>
                      <a:endParaRPr b="0" lang="es-ES" sz="8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Máximo de pasos</a:t>
                      </a:r>
                      <a:endParaRPr b="0" lang="es-ES" sz="8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5180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Cálculo exacto</a:t>
                      </a:r>
                      <a:endParaRPr b="0" lang="es-ES" sz="8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Regla / BI</a:t>
                      </a:r>
                      <a:endParaRPr b="0" lang="es-ES" sz="8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Pruebas unitarias</a:t>
                      </a:r>
                      <a:endParaRPr b="0" lang="es-ES" sz="8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9" name="PlaceHolder 1"/>
          <p:cNvSpPr>
            <a:spLocks noGrp="1"/>
          </p:cNvSpPr>
          <p:nvPr>
            <p:ph type="sldNum" idx="19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DC47DDB-56A3-4C86-9EA2-4409659B98B7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17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11" name="Shape 1"/>
          <p:cNvSpPr/>
          <p:nvPr/>
        </p:nvSpPr>
        <p:spPr>
          <a:xfrm>
            <a:off x="0" y="0"/>
            <a:ext cx="4251600" cy="685764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12" name="Text 2"/>
          <p:cNvSpPr/>
          <p:nvPr/>
        </p:nvSpPr>
        <p:spPr>
          <a:xfrm>
            <a:off x="658440" y="105156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9d9e4"/>
                </a:solidFill>
                <a:latin typeface="Aptos"/>
              </a:rPr>
              <a:t>AGENTES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 3"/>
          <p:cNvSpPr/>
          <p:nvPr/>
        </p:nvSpPr>
        <p:spPr>
          <a:xfrm>
            <a:off x="658440" y="1508760"/>
            <a:ext cx="1096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ptos"/>
              </a:rPr>
              <a:t>04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Text 4"/>
          <p:cNvSpPr/>
          <p:nvPr/>
        </p:nvSpPr>
        <p:spPr>
          <a:xfrm>
            <a:off x="658440" y="2148840"/>
            <a:ext cx="32457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Agentes controlados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 5"/>
          <p:cNvSpPr/>
          <p:nvPr/>
        </p:nvSpPr>
        <p:spPr>
          <a:xfrm>
            <a:off x="4892040" y="2331720"/>
            <a:ext cx="6217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72033"/>
                </a:solidFill>
                <a:latin typeface="Aptos"/>
              </a:rPr>
              <a:t>Ramas, loops, estado, tools, guardrails y límites de autonomía.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Shape 6"/>
          <p:cNvSpPr/>
          <p:nvPr/>
        </p:nvSpPr>
        <p:spPr>
          <a:xfrm>
            <a:off x="4892040" y="3246120"/>
            <a:ext cx="4206240" cy="360"/>
          </a:xfrm>
          <a:prstGeom prst="line">
            <a:avLst/>
          </a:prstGeom>
          <a:ln w="1778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Qué es un agente en esta clase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Un agente decide pasos y herramientas para lograr un objetivo, dentro de límites.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2"/>
          <p:cNvSpPr/>
          <p:nvPr/>
        </p:nvSpPr>
        <p:spPr>
          <a:xfrm>
            <a:off x="731520" y="201168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20" name="Text 3"/>
          <p:cNvSpPr/>
          <p:nvPr/>
        </p:nvSpPr>
        <p:spPr>
          <a:xfrm>
            <a:off x="804600" y="222192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8b1e3f"/>
                </a:solidFill>
                <a:latin typeface="Aptos"/>
              </a:rPr>
              <a:t>Objetivo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Shape 4"/>
          <p:cNvSpPr/>
          <p:nvPr/>
        </p:nvSpPr>
        <p:spPr>
          <a:xfrm>
            <a:off x="2412360" y="239544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22" name="Shape 5"/>
          <p:cNvSpPr/>
          <p:nvPr/>
        </p:nvSpPr>
        <p:spPr>
          <a:xfrm>
            <a:off x="2549520" y="201168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23" name="Text 6"/>
          <p:cNvSpPr/>
          <p:nvPr/>
        </p:nvSpPr>
        <p:spPr>
          <a:xfrm>
            <a:off x="2622960" y="222192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5aa8"/>
                </a:solidFill>
                <a:latin typeface="Aptos"/>
              </a:rPr>
              <a:t>Decide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7"/>
          <p:cNvSpPr/>
          <p:nvPr/>
        </p:nvSpPr>
        <p:spPr>
          <a:xfrm>
            <a:off x="4230360" y="239544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25" name="Shape 8"/>
          <p:cNvSpPr/>
          <p:nvPr/>
        </p:nvSpPr>
        <p:spPr>
          <a:xfrm>
            <a:off x="4367880" y="201168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26" name="Text 9"/>
          <p:cNvSpPr/>
          <p:nvPr/>
        </p:nvSpPr>
        <p:spPr>
          <a:xfrm>
            <a:off x="4440960" y="222192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7a4b"/>
                </a:solidFill>
                <a:latin typeface="Aptos"/>
              </a:rPr>
              <a:t>Usa tool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10"/>
          <p:cNvSpPr/>
          <p:nvPr/>
        </p:nvSpPr>
        <p:spPr>
          <a:xfrm>
            <a:off x="6048720" y="239544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28" name="Shape 11"/>
          <p:cNvSpPr/>
          <p:nvPr/>
        </p:nvSpPr>
        <p:spPr>
          <a:xfrm>
            <a:off x="6185880" y="201168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96c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29" name="Text 12"/>
          <p:cNvSpPr/>
          <p:nvPr/>
        </p:nvSpPr>
        <p:spPr>
          <a:xfrm>
            <a:off x="6258960" y="222192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d96c06"/>
                </a:solidFill>
                <a:latin typeface="Aptos"/>
              </a:rPr>
              <a:t>Observa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Shape 13"/>
          <p:cNvSpPr/>
          <p:nvPr/>
        </p:nvSpPr>
        <p:spPr>
          <a:xfrm>
            <a:off x="7866720" y="239544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31" name="Shape 14"/>
          <p:cNvSpPr/>
          <p:nvPr/>
        </p:nvSpPr>
        <p:spPr>
          <a:xfrm>
            <a:off x="8003880" y="201168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32" name="Text 15"/>
          <p:cNvSpPr/>
          <p:nvPr/>
        </p:nvSpPr>
        <p:spPr>
          <a:xfrm>
            <a:off x="8077320" y="222192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5aa8"/>
                </a:solidFill>
                <a:latin typeface="Aptos"/>
              </a:rPr>
              <a:t>Decide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Shape 16"/>
          <p:cNvSpPr/>
          <p:nvPr/>
        </p:nvSpPr>
        <p:spPr>
          <a:xfrm>
            <a:off x="9684720" y="2395440"/>
            <a:ext cx="11916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34" name="Shape 17"/>
          <p:cNvSpPr/>
          <p:nvPr/>
        </p:nvSpPr>
        <p:spPr>
          <a:xfrm>
            <a:off x="9822240" y="201168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35" name="Text 18"/>
          <p:cNvSpPr/>
          <p:nvPr/>
        </p:nvSpPr>
        <p:spPr>
          <a:xfrm>
            <a:off x="9895320" y="222192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8b1e3f"/>
                </a:solidFill>
                <a:latin typeface="Aptos"/>
              </a:rPr>
              <a:t>Responde / escala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19"/>
          <p:cNvSpPr/>
          <p:nvPr/>
        </p:nvSpPr>
        <p:spPr>
          <a:xfrm>
            <a:off x="822960" y="3474720"/>
            <a:ext cx="3291480" cy="1096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37" name="Shape 20"/>
          <p:cNvSpPr/>
          <p:nvPr/>
        </p:nvSpPr>
        <p:spPr>
          <a:xfrm>
            <a:off x="822960" y="3474720"/>
            <a:ext cx="63720" cy="109692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38" name="Text 21"/>
          <p:cNvSpPr/>
          <p:nvPr/>
        </p:nvSpPr>
        <p:spPr>
          <a:xfrm>
            <a:off x="1024200" y="3639240"/>
            <a:ext cx="294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No 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 22"/>
          <p:cNvSpPr/>
          <p:nvPr/>
        </p:nvSpPr>
        <p:spPr>
          <a:xfrm>
            <a:off x="1024200" y="3977640"/>
            <a:ext cx="2944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Un chatbot con nombre, personalidad o promesa de resolver todo.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23"/>
          <p:cNvSpPr/>
          <p:nvPr/>
        </p:nvSpPr>
        <p:spPr>
          <a:xfrm>
            <a:off x="4434840" y="3474720"/>
            <a:ext cx="3291480" cy="1096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41" name="Shape 24"/>
          <p:cNvSpPr/>
          <p:nvPr/>
        </p:nvSpPr>
        <p:spPr>
          <a:xfrm>
            <a:off x="4434840" y="3474720"/>
            <a:ext cx="63720" cy="109692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42" name="Text 25"/>
          <p:cNvSpPr/>
          <p:nvPr/>
        </p:nvSpPr>
        <p:spPr>
          <a:xfrm>
            <a:off x="4636080" y="3639240"/>
            <a:ext cx="294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Sí 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Text 26"/>
          <p:cNvSpPr/>
          <p:nvPr/>
        </p:nvSpPr>
        <p:spPr>
          <a:xfrm>
            <a:off x="4636080" y="3977640"/>
            <a:ext cx="2944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Modelo + tools + instrucciones + estado + condición de término.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27"/>
          <p:cNvSpPr/>
          <p:nvPr/>
        </p:nvSpPr>
        <p:spPr>
          <a:xfrm>
            <a:off x="8046720" y="3474720"/>
            <a:ext cx="3291480" cy="1096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45" name="Shape 28"/>
          <p:cNvSpPr/>
          <p:nvPr/>
        </p:nvSpPr>
        <p:spPr>
          <a:xfrm>
            <a:off x="8046720" y="3474720"/>
            <a:ext cx="63720" cy="109692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46" name="Text 29"/>
          <p:cNvSpPr/>
          <p:nvPr/>
        </p:nvSpPr>
        <p:spPr>
          <a:xfrm>
            <a:off x="8247960" y="3639240"/>
            <a:ext cx="294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Criterio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Text 30"/>
          <p:cNvSpPr/>
          <p:nvPr/>
        </p:nvSpPr>
        <p:spPr>
          <a:xfrm>
            <a:off x="8247960" y="3977640"/>
            <a:ext cx="29440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Si el camino es fijo, use chain o workflow. Si depende de resultados, evalúe agente.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PlaceHolder 1"/>
          <p:cNvSpPr>
            <a:spLocks noGrp="1"/>
          </p:cNvSpPr>
          <p:nvPr>
            <p:ph type="sldNum" idx="20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8E06E70-A57B-4051-9CC9-F84A985DE9D0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21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Chain vs workflow vs agente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Tres niveles de complejidad que no deben confundirse.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51" name="Table 0"/>
          <p:cNvGraphicFramePr/>
          <p:nvPr/>
        </p:nvGraphicFramePr>
        <p:xfrm>
          <a:off x="621720" y="1481400"/>
          <a:ext cx="10606680" cy="4663080"/>
        </p:xfrm>
        <a:graphic>
          <a:graphicData uri="http://schemas.openxmlformats.org/drawingml/2006/table">
            <a:tbl>
              <a:tblPr/>
              <a:tblGrid>
                <a:gridCol w="1965960"/>
                <a:gridCol w="3108960"/>
                <a:gridCol w="5532120"/>
              </a:tblGrid>
              <a:tr h="9324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7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Enfoque</a:t>
                      </a:r>
                      <a:endParaRPr b="0" lang="es-E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7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Ruta</a:t>
                      </a:r>
                      <a:endParaRPr b="0" lang="es-E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7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Cuándo usar</a:t>
                      </a:r>
                      <a:endParaRPr b="0" lang="es-E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</a:tr>
              <a:tr h="9324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Chain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Fija y lineal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Transformar texto, extraer campos, clasificar.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9324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Workflow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Fija con ramas conocidas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Proceso modelado: si A entonces B, si C entonces humano.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24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Agente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Dinámica y dependiente del resultado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No sé de antemano qué tool o paso usará.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9324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Multiagente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Varias responsabilidades coordinadas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Solo si existen roles y objetivos realmente distintos.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2" name="PlaceHolder 1"/>
          <p:cNvSpPr>
            <a:spLocks noGrp="1"/>
          </p:cNvSpPr>
          <p:nvPr>
            <p:ph type="sldNum" idx="21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6D21CD3-0549-4B8E-8810-A0CC0DA4C49E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21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Agent loop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El agente corre en ciclos hasta responder o alcanzar una condición de término.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2"/>
          <p:cNvSpPr/>
          <p:nvPr/>
        </p:nvSpPr>
        <p:spPr>
          <a:xfrm>
            <a:off x="731520" y="192024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56" name="Text 3"/>
          <p:cNvSpPr/>
          <p:nvPr/>
        </p:nvSpPr>
        <p:spPr>
          <a:xfrm>
            <a:off x="804600" y="213048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8b1e3f"/>
                </a:solidFill>
                <a:latin typeface="Aptos"/>
              </a:rPr>
              <a:t>Recibe objetivo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4"/>
          <p:cNvSpPr/>
          <p:nvPr/>
        </p:nvSpPr>
        <p:spPr>
          <a:xfrm>
            <a:off x="2412360" y="230400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58" name="Shape 5"/>
          <p:cNvSpPr/>
          <p:nvPr/>
        </p:nvSpPr>
        <p:spPr>
          <a:xfrm>
            <a:off x="2549520" y="192024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59" name="Text 6"/>
          <p:cNvSpPr/>
          <p:nvPr/>
        </p:nvSpPr>
        <p:spPr>
          <a:xfrm>
            <a:off x="2622960" y="213048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5aa8"/>
                </a:solidFill>
                <a:latin typeface="Aptos"/>
              </a:rPr>
              <a:t>Razona / decide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Shape 7"/>
          <p:cNvSpPr/>
          <p:nvPr/>
        </p:nvSpPr>
        <p:spPr>
          <a:xfrm>
            <a:off x="4230360" y="230400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61" name="Shape 8"/>
          <p:cNvSpPr/>
          <p:nvPr/>
        </p:nvSpPr>
        <p:spPr>
          <a:xfrm>
            <a:off x="4367880" y="192024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62" name="Text 9"/>
          <p:cNvSpPr/>
          <p:nvPr/>
        </p:nvSpPr>
        <p:spPr>
          <a:xfrm>
            <a:off x="4440960" y="213048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7a4b"/>
                </a:solidFill>
                <a:latin typeface="Aptos"/>
              </a:rPr>
              <a:t>Llama tool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10"/>
          <p:cNvSpPr/>
          <p:nvPr/>
        </p:nvSpPr>
        <p:spPr>
          <a:xfrm>
            <a:off x="6048720" y="230400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64" name="Shape 11"/>
          <p:cNvSpPr/>
          <p:nvPr/>
        </p:nvSpPr>
        <p:spPr>
          <a:xfrm>
            <a:off x="6185880" y="192024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96c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65" name="Text 12"/>
          <p:cNvSpPr/>
          <p:nvPr/>
        </p:nvSpPr>
        <p:spPr>
          <a:xfrm>
            <a:off x="6258960" y="213048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d96c06"/>
                </a:solidFill>
                <a:latin typeface="Aptos"/>
              </a:rPr>
              <a:t>Observa resultado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13"/>
          <p:cNvSpPr/>
          <p:nvPr/>
        </p:nvSpPr>
        <p:spPr>
          <a:xfrm>
            <a:off x="7866720" y="230400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67" name="Shape 14"/>
          <p:cNvSpPr/>
          <p:nvPr/>
        </p:nvSpPr>
        <p:spPr>
          <a:xfrm>
            <a:off x="8003880" y="192024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68" name="Text 15"/>
          <p:cNvSpPr/>
          <p:nvPr/>
        </p:nvSpPr>
        <p:spPr>
          <a:xfrm>
            <a:off x="8077320" y="213048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5aa8"/>
                </a:solidFill>
                <a:latin typeface="Aptos"/>
              </a:rPr>
              <a:t>Decide continuar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16"/>
          <p:cNvSpPr/>
          <p:nvPr/>
        </p:nvSpPr>
        <p:spPr>
          <a:xfrm>
            <a:off x="9684720" y="2304000"/>
            <a:ext cx="11916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70" name="Shape 17"/>
          <p:cNvSpPr/>
          <p:nvPr/>
        </p:nvSpPr>
        <p:spPr>
          <a:xfrm>
            <a:off x="9822240" y="192024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71" name="Text 18"/>
          <p:cNvSpPr/>
          <p:nvPr/>
        </p:nvSpPr>
        <p:spPr>
          <a:xfrm>
            <a:off x="9895320" y="213048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8b1e3f"/>
                </a:solidFill>
                <a:latin typeface="Aptos"/>
              </a:rPr>
              <a:t>Finaliza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19"/>
          <p:cNvSpPr/>
          <p:nvPr/>
        </p:nvSpPr>
        <p:spPr>
          <a:xfrm>
            <a:off x="777240" y="3246120"/>
            <a:ext cx="3428640" cy="114264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73" name="Shape 20"/>
          <p:cNvSpPr/>
          <p:nvPr/>
        </p:nvSpPr>
        <p:spPr>
          <a:xfrm>
            <a:off x="777240" y="3246120"/>
            <a:ext cx="63720" cy="114264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74" name="Text 21"/>
          <p:cNvSpPr/>
          <p:nvPr/>
        </p:nvSpPr>
        <p:spPr>
          <a:xfrm>
            <a:off x="978480" y="3410640"/>
            <a:ext cx="308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Condición de término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 22"/>
          <p:cNvSpPr/>
          <p:nvPr/>
        </p:nvSpPr>
        <p:spPr>
          <a:xfrm>
            <a:off x="978480" y="3749040"/>
            <a:ext cx="308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Respuesta final, error, falta de datos, aprobación humana o límite de iteraciones.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23"/>
          <p:cNvSpPr/>
          <p:nvPr/>
        </p:nvSpPr>
        <p:spPr>
          <a:xfrm>
            <a:off x="4434840" y="3246120"/>
            <a:ext cx="3428640" cy="114264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77" name="Shape 24"/>
          <p:cNvSpPr/>
          <p:nvPr/>
        </p:nvSpPr>
        <p:spPr>
          <a:xfrm>
            <a:off x="4434840" y="3246120"/>
            <a:ext cx="63720" cy="114264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78" name="Text 25"/>
          <p:cNvSpPr/>
          <p:nvPr/>
        </p:nvSpPr>
        <p:spPr>
          <a:xfrm>
            <a:off x="4636080" y="3410640"/>
            <a:ext cx="308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Riesgo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 26"/>
          <p:cNvSpPr/>
          <p:nvPr/>
        </p:nvSpPr>
        <p:spPr>
          <a:xfrm>
            <a:off x="4636080" y="3749040"/>
            <a:ext cx="308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Sin límites puede entrar en loops, usar tools innecesarias o gastar demasiado.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27"/>
          <p:cNvSpPr/>
          <p:nvPr/>
        </p:nvSpPr>
        <p:spPr>
          <a:xfrm>
            <a:off x="8092440" y="3246120"/>
            <a:ext cx="3428640" cy="114264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81" name="Shape 28"/>
          <p:cNvSpPr/>
          <p:nvPr/>
        </p:nvSpPr>
        <p:spPr>
          <a:xfrm>
            <a:off x="8092440" y="3246120"/>
            <a:ext cx="63720" cy="114264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82" name="Text 29"/>
          <p:cNvSpPr/>
          <p:nvPr/>
        </p:nvSpPr>
        <p:spPr>
          <a:xfrm>
            <a:off x="8293680" y="3410640"/>
            <a:ext cx="308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Control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 30"/>
          <p:cNvSpPr/>
          <p:nvPr/>
        </p:nvSpPr>
        <p:spPr>
          <a:xfrm>
            <a:off x="8293680" y="3749040"/>
            <a:ext cx="308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Máximo de pasos, timeout, lista de tools permitidas y trazas de cada decisión.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PlaceHolder 1"/>
          <p:cNvSpPr>
            <a:spLocks noGrp="1"/>
          </p:cNvSpPr>
          <p:nvPr>
            <p:ph type="sldNum" idx="22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B4C1DBE-1322-4EF4-B075-0FBA4F59E195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23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Tool selection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El agente debe elegir la herramienta correcta o decidir no usar ninguna.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2"/>
          <p:cNvSpPr/>
          <p:nvPr/>
        </p:nvSpPr>
        <p:spPr>
          <a:xfrm>
            <a:off x="777240" y="1417320"/>
            <a:ext cx="342864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88" name="Shape 3"/>
          <p:cNvSpPr/>
          <p:nvPr/>
        </p:nvSpPr>
        <p:spPr>
          <a:xfrm>
            <a:off x="777240" y="1417320"/>
            <a:ext cx="63720" cy="95976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89" name="Text 4"/>
          <p:cNvSpPr/>
          <p:nvPr/>
        </p:nvSpPr>
        <p:spPr>
          <a:xfrm>
            <a:off x="978480" y="1581840"/>
            <a:ext cx="308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Señales de selección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 5"/>
          <p:cNvSpPr/>
          <p:nvPr/>
        </p:nvSpPr>
        <p:spPr>
          <a:xfrm>
            <a:off x="978480" y="1920240"/>
            <a:ext cx="308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Intención del usuario, datos disponibles, descripción de tools y formato esperado.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6"/>
          <p:cNvSpPr/>
          <p:nvPr/>
        </p:nvSpPr>
        <p:spPr>
          <a:xfrm>
            <a:off x="4434840" y="1417320"/>
            <a:ext cx="342864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92" name="Shape 7"/>
          <p:cNvSpPr/>
          <p:nvPr/>
        </p:nvSpPr>
        <p:spPr>
          <a:xfrm>
            <a:off x="4434840" y="1417320"/>
            <a:ext cx="63720" cy="95976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93" name="Text 8"/>
          <p:cNvSpPr/>
          <p:nvPr/>
        </p:nvSpPr>
        <p:spPr>
          <a:xfrm>
            <a:off x="4636080" y="1581840"/>
            <a:ext cx="308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Errores comunes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 9"/>
          <p:cNvSpPr/>
          <p:nvPr/>
        </p:nvSpPr>
        <p:spPr>
          <a:xfrm>
            <a:off x="4636080" y="1920240"/>
            <a:ext cx="308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Usar una tool por ansiedad, elegir una tool no autorizada o llamar muchas tools.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10"/>
          <p:cNvSpPr/>
          <p:nvPr/>
        </p:nvSpPr>
        <p:spPr>
          <a:xfrm>
            <a:off x="8092440" y="1417320"/>
            <a:ext cx="342864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96" name="Shape 11"/>
          <p:cNvSpPr/>
          <p:nvPr/>
        </p:nvSpPr>
        <p:spPr>
          <a:xfrm>
            <a:off x="8092440" y="1417320"/>
            <a:ext cx="63720" cy="95976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97" name="Text 12"/>
          <p:cNvSpPr/>
          <p:nvPr/>
        </p:nvSpPr>
        <p:spPr>
          <a:xfrm>
            <a:off x="8293680" y="1581840"/>
            <a:ext cx="308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Diseño recomendado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 13"/>
          <p:cNvSpPr/>
          <p:nvPr/>
        </p:nvSpPr>
        <p:spPr>
          <a:xfrm>
            <a:off x="8293680" y="1920240"/>
            <a:ext cx="308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Descripción clara, ejemplos, parámetros estrictos y fallback ante incertidumbre.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99" name="Table 0"/>
          <p:cNvGraphicFramePr/>
          <p:nvPr/>
        </p:nvGraphicFramePr>
        <p:xfrm>
          <a:off x="914400" y="2880360"/>
          <a:ext cx="10240920" cy="2468520"/>
        </p:xfrm>
        <a:graphic>
          <a:graphicData uri="http://schemas.openxmlformats.org/drawingml/2006/table">
            <a:tbl>
              <a:tblPr/>
              <a:tblGrid>
                <a:gridCol w="4114800"/>
                <a:gridCol w="6126480"/>
              </a:tblGrid>
              <a:tr h="49356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Caso</a:t>
                      </a:r>
                      <a:endParaRPr b="0" lang="es-E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Decisión esperada</a:t>
                      </a:r>
                      <a:endParaRPr b="0" lang="es-E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</a:tr>
              <a:tr h="49356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“</a:t>
                      </a: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¿Cuál es el estado del pedido 123?”</a:t>
                      </a:r>
                      <a:endParaRPr b="0" lang="es-E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Usar consultar_estado_pedido(id)</a:t>
                      </a:r>
                      <a:endParaRPr b="0" lang="es-E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49356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“</a:t>
                      </a: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No funciona lo de siempre”</a:t>
                      </a:r>
                      <a:endParaRPr b="0" lang="es-E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Pedir aclaración antes de usar tools</a:t>
                      </a:r>
                      <a:endParaRPr b="0" lang="es-E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49356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“</a:t>
                      </a: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Aprueba esta compra ahora”</a:t>
                      </a:r>
                      <a:endParaRPr b="0" lang="es-E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Escalar o pedir aprobación humana</a:t>
                      </a:r>
                      <a:endParaRPr b="0" lang="es-E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49356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“</a:t>
                      </a: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Resume esta política adjunta”</a:t>
                      </a:r>
                      <a:endParaRPr b="0" lang="es-E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No usar tool externa si el texto ya viene en contexto</a:t>
                      </a:r>
                      <a:endParaRPr b="0" lang="es-E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500" name="PlaceHolder 1"/>
          <p:cNvSpPr>
            <a:spLocks noGrp="1"/>
          </p:cNvSpPr>
          <p:nvPr>
            <p:ph type="sldNum" idx="23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09F42F8-39CD-4A34-8D23-9EE0A29448F1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24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Planning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Planning es dividir un objetivo en pasos antes de ejecutar.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2"/>
          <p:cNvSpPr/>
          <p:nvPr/>
        </p:nvSpPr>
        <p:spPr>
          <a:xfrm>
            <a:off x="777240" y="1325880"/>
            <a:ext cx="338292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04" name="Shape 3"/>
          <p:cNvSpPr/>
          <p:nvPr/>
        </p:nvSpPr>
        <p:spPr>
          <a:xfrm>
            <a:off x="777240" y="1325880"/>
            <a:ext cx="63720" cy="95976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05" name="Text 4"/>
          <p:cNvSpPr/>
          <p:nvPr/>
        </p:nvSpPr>
        <p:spPr>
          <a:xfrm>
            <a:off x="978480" y="1490400"/>
            <a:ext cx="303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Objetivo abierto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Text 5"/>
          <p:cNvSpPr/>
          <p:nvPr/>
        </p:nvSpPr>
        <p:spPr>
          <a:xfrm>
            <a:off x="978480" y="1828800"/>
            <a:ext cx="3035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“</a:t>
            </a: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Analiza este incidente y dime qué hacer.”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6"/>
          <p:cNvSpPr/>
          <p:nvPr/>
        </p:nvSpPr>
        <p:spPr>
          <a:xfrm>
            <a:off x="4434840" y="1325880"/>
            <a:ext cx="338292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08" name="Shape 7"/>
          <p:cNvSpPr/>
          <p:nvPr/>
        </p:nvSpPr>
        <p:spPr>
          <a:xfrm>
            <a:off x="4434840" y="1325880"/>
            <a:ext cx="63720" cy="95976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09" name="Text 8"/>
          <p:cNvSpPr/>
          <p:nvPr/>
        </p:nvSpPr>
        <p:spPr>
          <a:xfrm>
            <a:off x="4636080" y="1490400"/>
            <a:ext cx="303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Plan posible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Text 9"/>
          <p:cNvSpPr/>
          <p:nvPr/>
        </p:nvSpPr>
        <p:spPr>
          <a:xfrm>
            <a:off x="4636080" y="1828800"/>
            <a:ext cx="3035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1) identificar tipo 2) consultar política 3) calcular prioridad 4) proponer acción.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Shape 10"/>
          <p:cNvSpPr/>
          <p:nvPr/>
        </p:nvSpPr>
        <p:spPr>
          <a:xfrm>
            <a:off x="8092440" y="1325880"/>
            <a:ext cx="338292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12" name="Shape 11"/>
          <p:cNvSpPr/>
          <p:nvPr/>
        </p:nvSpPr>
        <p:spPr>
          <a:xfrm>
            <a:off x="8092440" y="1325880"/>
            <a:ext cx="63720" cy="95976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13" name="Text 12"/>
          <p:cNvSpPr/>
          <p:nvPr/>
        </p:nvSpPr>
        <p:spPr>
          <a:xfrm>
            <a:off x="8293680" y="1490400"/>
            <a:ext cx="3035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Control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Text 13"/>
          <p:cNvSpPr/>
          <p:nvPr/>
        </p:nvSpPr>
        <p:spPr>
          <a:xfrm>
            <a:off x="8293680" y="1828800"/>
            <a:ext cx="3035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Plan breve, máximo de pasos y autorización antes de acciones sensibles.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Shape 14"/>
          <p:cNvSpPr/>
          <p:nvPr/>
        </p:nvSpPr>
        <p:spPr>
          <a:xfrm>
            <a:off x="731520" y="338328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16" name="Text 15"/>
          <p:cNvSpPr/>
          <p:nvPr/>
        </p:nvSpPr>
        <p:spPr>
          <a:xfrm>
            <a:off x="804600" y="359352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8b1e3f"/>
                </a:solidFill>
                <a:latin typeface="Aptos"/>
              </a:rPr>
              <a:t>Objetivo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16"/>
          <p:cNvSpPr/>
          <p:nvPr/>
        </p:nvSpPr>
        <p:spPr>
          <a:xfrm>
            <a:off x="2412360" y="376704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18" name="Shape 17"/>
          <p:cNvSpPr/>
          <p:nvPr/>
        </p:nvSpPr>
        <p:spPr>
          <a:xfrm>
            <a:off x="2549520" y="338328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19" name="Text 18"/>
          <p:cNvSpPr/>
          <p:nvPr/>
        </p:nvSpPr>
        <p:spPr>
          <a:xfrm>
            <a:off x="2622960" y="359352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5aa8"/>
                </a:solidFill>
                <a:latin typeface="Aptos"/>
              </a:rPr>
              <a:t>Plan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19"/>
          <p:cNvSpPr/>
          <p:nvPr/>
        </p:nvSpPr>
        <p:spPr>
          <a:xfrm>
            <a:off x="4230360" y="376704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21" name="Shape 20"/>
          <p:cNvSpPr/>
          <p:nvPr/>
        </p:nvSpPr>
        <p:spPr>
          <a:xfrm>
            <a:off x="4367880" y="338328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22" name="Text 21"/>
          <p:cNvSpPr/>
          <p:nvPr/>
        </p:nvSpPr>
        <p:spPr>
          <a:xfrm>
            <a:off x="4440960" y="359352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7a4b"/>
                </a:solidFill>
                <a:latin typeface="Aptos"/>
              </a:rPr>
              <a:t>Ejecución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Shape 22"/>
          <p:cNvSpPr/>
          <p:nvPr/>
        </p:nvSpPr>
        <p:spPr>
          <a:xfrm>
            <a:off x="6048720" y="376704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24" name="Shape 23"/>
          <p:cNvSpPr/>
          <p:nvPr/>
        </p:nvSpPr>
        <p:spPr>
          <a:xfrm>
            <a:off x="6185880" y="338328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96c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25" name="Text 24"/>
          <p:cNvSpPr/>
          <p:nvPr/>
        </p:nvSpPr>
        <p:spPr>
          <a:xfrm>
            <a:off x="6258960" y="359352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d96c06"/>
                </a:solidFill>
                <a:latin typeface="Aptos"/>
              </a:rPr>
              <a:t>Observación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25"/>
          <p:cNvSpPr/>
          <p:nvPr/>
        </p:nvSpPr>
        <p:spPr>
          <a:xfrm>
            <a:off x="7866720" y="376704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27" name="Shape 26"/>
          <p:cNvSpPr/>
          <p:nvPr/>
        </p:nvSpPr>
        <p:spPr>
          <a:xfrm>
            <a:off x="8003880" y="338328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28" name="Text 27"/>
          <p:cNvSpPr/>
          <p:nvPr/>
        </p:nvSpPr>
        <p:spPr>
          <a:xfrm>
            <a:off x="8077320" y="359352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5aa8"/>
                </a:solidFill>
                <a:latin typeface="Aptos"/>
              </a:rPr>
              <a:t>Ajuste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Shape 28"/>
          <p:cNvSpPr/>
          <p:nvPr/>
        </p:nvSpPr>
        <p:spPr>
          <a:xfrm>
            <a:off x="9684720" y="3767040"/>
            <a:ext cx="11916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30" name="Shape 29"/>
          <p:cNvSpPr/>
          <p:nvPr/>
        </p:nvSpPr>
        <p:spPr>
          <a:xfrm>
            <a:off x="9822240" y="338328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31" name="Text 30"/>
          <p:cNvSpPr/>
          <p:nvPr/>
        </p:nvSpPr>
        <p:spPr>
          <a:xfrm>
            <a:off x="9895320" y="359352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8b1e3f"/>
                </a:solidFill>
                <a:latin typeface="Aptos"/>
              </a:rPr>
              <a:t>Respuesta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Text 31"/>
          <p:cNvSpPr/>
          <p:nvPr/>
        </p:nvSpPr>
        <p:spPr>
          <a:xfrm>
            <a:off x="914400" y="5394960"/>
            <a:ext cx="10332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8b1e3f"/>
                </a:solidFill>
                <a:latin typeface="Aptos"/>
              </a:rPr>
              <a:t>No todos los agentes necesitan planning explícito. En casos simples, una chain o workflow es más defendible.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PlaceHolder 1"/>
          <p:cNvSpPr>
            <a:spLocks noGrp="1"/>
          </p:cNvSpPr>
          <p:nvPr>
            <p:ph type="sldNum" idx="24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5CCC400-8993-4604-B3C7-1A4630B96E15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25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Guardrails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Guardrails son límites, validaciones y reglas para reducir acciones riesgosas.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2"/>
          <p:cNvSpPr/>
          <p:nvPr/>
        </p:nvSpPr>
        <p:spPr>
          <a:xfrm>
            <a:off x="777240" y="1325880"/>
            <a:ext cx="3337200" cy="914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37" name="Shape 3"/>
          <p:cNvSpPr/>
          <p:nvPr/>
        </p:nvSpPr>
        <p:spPr>
          <a:xfrm>
            <a:off x="777240" y="1325880"/>
            <a:ext cx="63720" cy="91404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38" name="Text 4"/>
          <p:cNvSpPr/>
          <p:nvPr/>
        </p:nvSpPr>
        <p:spPr>
          <a:xfrm>
            <a:off x="978480" y="1490400"/>
            <a:ext cx="298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Antes del modelo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Text 5"/>
          <p:cNvSpPr/>
          <p:nvPr/>
        </p:nvSpPr>
        <p:spPr>
          <a:xfrm>
            <a:off x="978480" y="1828800"/>
            <a:ext cx="298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3333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Filtros de entrada, permisos, datos mínimos y detección de contenido sensible.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Shape 6"/>
          <p:cNvSpPr/>
          <p:nvPr/>
        </p:nvSpPr>
        <p:spPr>
          <a:xfrm>
            <a:off x="4434840" y="1325880"/>
            <a:ext cx="3337200" cy="914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41" name="Shape 7"/>
          <p:cNvSpPr/>
          <p:nvPr/>
        </p:nvSpPr>
        <p:spPr>
          <a:xfrm>
            <a:off x="4434840" y="1325880"/>
            <a:ext cx="63720" cy="91404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42" name="Text 8"/>
          <p:cNvSpPr/>
          <p:nvPr/>
        </p:nvSpPr>
        <p:spPr>
          <a:xfrm>
            <a:off x="4636080" y="1490400"/>
            <a:ext cx="298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Durante el loop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 9"/>
          <p:cNvSpPr/>
          <p:nvPr/>
        </p:nvSpPr>
        <p:spPr>
          <a:xfrm>
            <a:off x="4636080" y="1828800"/>
            <a:ext cx="298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3333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Tools permitidas, máximo de pasos, timeout, políticas y aprobación humana.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Shape 10"/>
          <p:cNvSpPr/>
          <p:nvPr/>
        </p:nvSpPr>
        <p:spPr>
          <a:xfrm>
            <a:off x="8092440" y="1325880"/>
            <a:ext cx="3337200" cy="914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45" name="Shape 11"/>
          <p:cNvSpPr/>
          <p:nvPr/>
        </p:nvSpPr>
        <p:spPr>
          <a:xfrm>
            <a:off x="8092440" y="1325880"/>
            <a:ext cx="63720" cy="91404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46" name="Text 12"/>
          <p:cNvSpPr/>
          <p:nvPr/>
        </p:nvSpPr>
        <p:spPr>
          <a:xfrm>
            <a:off x="8293680" y="1490400"/>
            <a:ext cx="298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Después de responder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Text 13"/>
          <p:cNvSpPr/>
          <p:nvPr/>
        </p:nvSpPr>
        <p:spPr>
          <a:xfrm>
            <a:off x="8293680" y="1828800"/>
            <a:ext cx="2989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3333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Parser, validación, revisión, logs, métricas y evaluación de calidad.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48" name="Table 0"/>
          <p:cNvGraphicFramePr/>
          <p:nvPr/>
        </p:nvGraphicFramePr>
        <p:xfrm>
          <a:off x="914400" y="2834640"/>
          <a:ext cx="10240920" cy="2559960"/>
        </p:xfrm>
        <a:graphic>
          <a:graphicData uri="http://schemas.openxmlformats.org/drawingml/2006/table">
            <a:tbl>
              <a:tblPr/>
              <a:tblGrid>
                <a:gridCol w="2743200"/>
                <a:gridCol w="7498080"/>
              </a:tblGrid>
              <a:tr h="51192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1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Regla</a:t>
                      </a:r>
                      <a:endParaRPr b="0" lang="es-ES" sz="91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1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Ejemplo</a:t>
                      </a:r>
                      <a:endParaRPr b="0" lang="es-ES" sz="91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</a:tr>
              <a:tr h="51192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1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No inventar datos</a:t>
                      </a:r>
                      <a:endParaRPr b="0" lang="es-ES" sz="9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1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Si no hay fuente, declarar límite.</a:t>
                      </a:r>
                      <a:endParaRPr b="0" lang="es-ES" sz="9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51192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1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No ejecutar acción crítica</a:t>
                      </a:r>
                      <a:endParaRPr b="0" lang="es-ES" sz="9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1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Escalar a humano.</a:t>
                      </a:r>
                      <a:endParaRPr b="0" lang="es-ES" sz="9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1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No exponer dato sensible</a:t>
                      </a:r>
                      <a:endParaRPr b="0" lang="es-ES" sz="9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1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Filtrar por rol y propósito.</a:t>
                      </a:r>
                      <a:endParaRPr b="0" lang="es-ES" sz="9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51192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1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No superar gasto</a:t>
                      </a:r>
                      <a:endParaRPr b="0" lang="es-ES" sz="9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1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Límite de iteraciones y modelo por tarea.</a:t>
                      </a:r>
                      <a:endParaRPr b="0" lang="es-ES" sz="91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49" name="PlaceHolder 1"/>
          <p:cNvSpPr>
            <a:spLocks noGrp="1"/>
          </p:cNvSpPr>
          <p:nvPr>
            <p:ph type="sldNum" idx="25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D579D4B-C454-48E2-81E1-0165053808D0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26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Estado y checkpointing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Guardar estado permite continuidad y auditoría, pero también aumenta responsabilidad.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52" name="Table 0"/>
          <p:cNvGraphicFramePr/>
          <p:nvPr/>
        </p:nvGraphicFramePr>
        <p:xfrm>
          <a:off x="621720" y="1325880"/>
          <a:ext cx="10423800" cy="466308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4754880"/>
              </a:tblGrid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1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Estado guardado</a:t>
                      </a:r>
                      <a:endParaRPr b="0" lang="es-ES" sz="91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1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Ejemplo</a:t>
                      </a:r>
                      <a:endParaRPr b="0" lang="es-ES" sz="91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1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Para qué sirve</a:t>
                      </a:r>
                      <a:endParaRPr b="0" lang="es-ES" sz="91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Historial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últimos mensajes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Entender referencias como “ese caso”.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Paso actual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ya consultó política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Evitar repetir tools.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Resultado de tool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prioridad = alta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Decidir siguiente acción.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Decisión pendiente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requiere aprobación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Pausar antes de actuar.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Checkpoint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estado antes de la tool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Reproducir, auditar o reintentar.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Límite operativo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paso 3 de 5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Evitar loops y gasto excesivo.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3" name="PlaceHolder 1"/>
          <p:cNvSpPr>
            <a:spLocks noGrp="1"/>
          </p:cNvSpPr>
          <p:nvPr>
            <p:ph type="sldNum" idx="26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A98C492-DFCA-42C8-84CF-A5E9092F7A64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26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Tipos de agentes útiles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No hay que partir con multiagentes: primero elegir el patrón mínimo.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56" name="Table 0"/>
          <p:cNvGraphicFramePr/>
          <p:nvPr/>
        </p:nvGraphicFramePr>
        <p:xfrm>
          <a:off x="621720" y="1371600"/>
          <a:ext cx="10606680" cy="4663080"/>
        </p:xfrm>
        <a:graphic>
          <a:graphicData uri="http://schemas.openxmlformats.org/drawingml/2006/table">
            <a:tbl>
              <a:tblPr/>
              <a:tblGrid>
                <a:gridCol w="3337560"/>
                <a:gridCol w="7269480"/>
              </a:tblGrid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7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Tipo</a:t>
                      </a:r>
                      <a:endParaRPr b="0" lang="es-E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7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Cuándo usar</a:t>
                      </a:r>
                      <a:endParaRPr b="0" lang="es-E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Agente con tools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Debe consultar o ejecutar funciones externas.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Agente conversacional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Necesita continuidad multi-turn con estado.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Agente con RAG + tools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Combina documentos y datos vivos.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Supervisor/router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Decide qué subflujo o especialista usar.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Workflow + agente acotado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Pasos conocidos con algunas decisiones dinámicas.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Multiagente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Roles distintos y coordinación real, no solo nombres distintos.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7" name="PlaceHolder 1"/>
          <p:cNvSpPr>
            <a:spLocks noGrp="1"/>
          </p:cNvSpPr>
          <p:nvPr>
            <p:ph type="sldNum" idx="27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2A5F881-B28E-445D-8660-910255C66103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26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Cuándo NO usar agentes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La palabra agente vende, pero no siempre resuelve mejor.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60" name="Table 0"/>
          <p:cNvGraphicFramePr/>
          <p:nvPr/>
        </p:nvGraphicFramePr>
        <p:xfrm>
          <a:off x="621720" y="1371600"/>
          <a:ext cx="10240920" cy="466344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4572000"/>
              </a:tblGrid>
              <a:tr h="7772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7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Situación</a:t>
                      </a:r>
                      <a:endParaRPr b="0" lang="es-E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7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Mejor opción</a:t>
                      </a:r>
                      <a:endParaRPr b="0" lang="es-E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7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Motivo</a:t>
                      </a:r>
                      <a:endParaRPr b="0" lang="es-ES" sz="97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</a:tr>
              <a:tr h="7772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Flujo fijo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Chain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Más barato y auditable.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7772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Solo transformar texto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Prompt + parser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No requiere decisión dinámica.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Solo leer documentos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RAG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El problema es evidencia, no autonomía.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7772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Acción crítica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Workflow + humano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Responsabilidad y control.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Proceso desordenado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Modelar proceso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9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Automatizar caos multiplica riesgos.</a:t>
                      </a:r>
                      <a:endParaRPr b="0" lang="es-ES" sz="939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561" name="PlaceHolder 1"/>
          <p:cNvSpPr>
            <a:spLocks noGrp="1"/>
          </p:cNvSpPr>
          <p:nvPr>
            <p:ph type="sldNum" idx="28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34778CC-42A6-4942-A4A3-211AD2D32F70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26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Controles mínimos para agentes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La autonomía necesita límites diseñados antes de la demo.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2"/>
          <p:cNvSpPr/>
          <p:nvPr/>
        </p:nvSpPr>
        <p:spPr>
          <a:xfrm>
            <a:off x="685800" y="132588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65" name="Shape 3"/>
          <p:cNvSpPr/>
          <p:nvPr/>
        </p:nvSpPr>
        <p:spPr>
          <a:xfrm>
            <a:off x="685800" y="1325880"/>
            <a:ext cx="63720" cy="52992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66" name="Text 4"/>
          <p:cNvSpPr/>
          <p:nvPr/>
        </p:nvSpPr>
        <p:spPr>
          <a:xfrm>
            <a:off x="837360" y="132588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1. Tools permitidas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Text 5"/>
          <p:cNvSpPr/>
          <p:nvPr/>
        </p:nvSpPr>
        <p:spPr>
          <a:xfrm>
            <a:off x="887040" y="16830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Lista explícita, descripción clara y cuándo usarlas.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6"/>
          <p:cNvSpPr/>
          <p:nvPr/>
        </p:nvSpPr>
        <p:spPr>
          <a:xfrm>
            <a:off x="685800" y="198432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69" name="Shape 7"/>
          <p:cNvSpPr/>
          <p:nvPr/>
        </p:nvSpPr>
        <p:spPr>
          <a:xfrm>
            <a:off x="685800" y="1984320"/>
            <a:ext cx="63720" cy="52992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70" name="Text 8"/>
          <p:cNvSpPr/>
          <p:nvPr/>
        </p:nvSpPr>
        <p:spPr>
          <a:xfrm>
            <a:off x="852120" y="198432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2. Límites operativos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Text 9"/>
          <p:cNvSpPr/>
          <p:nvPr/>
        </p:nvSpPr>
        <p:spPr>
          <a:xfrm>
            <a:off x="900000" y="23400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Máximo de pasos, timeout, presupuesto y condición de término.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10"/>
          <p:cNvSpPr/>
          <p:nvPr/>
        </p:nvSpPr>
        <p:spPr>
          <a:xfrm>
            <a:off x="685800" y="264276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73" name="Shape 11"/>
          <p:cNvSpPr/>
          <p:nvPr/>
        </p:nvSpPr>
        <p:spPr>
          <a:xfrm>
            <a:off x="685800" y="2642760"/>
            <a:ext cx="63720" cy="52992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74" name="Text 12"/>
          <p:cNvSpPr/>
          <p:nvPr/>
        </p:nvSpPr>
        <p:spPr>
          <a:xfrm>
            <a:off x="900000" y="264276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3. Permisos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Text 13"/>
          <p:cNvSpPr/>
          <p:nvPr/>
        </p:nvSpPr>
        <p:spPr>
          <a:xfrm>
            <a:off x="900000" y="29142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Usuario, rol, tipo de dato y tipo de acción.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14"/>
          <p:cNvSpPr/>
          <p:nvPr/>
        </p:nvSpPr>
        <p:spPr>
          <a:xfrm>
            <a:off x="685800" y="330084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77" name="Shape 15"/>
          <p:cNvSpPr/>
          <p:nvPr/>
        </p:nvSpPr>
        <p:spPr>
          <a:xfrm>
            <a:off x="685800" y="3300840"/>
            <a:ext cx="63720" cy="529920"/>
          </a:xfrm>
          <a:prstGeom prst="rect">
            <a:avLst/>
          </a:prstGeom>
          <a:solidFill>
            <a:srgbClr val="d96c06"/>
          </a:solidFill>
          <a:ln w="12700">
            <a:solidFill>
              <a:srgbClr val="d96c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78" name="Text 16"/>
          <p:cNvSpPr/>
          <p:nvPr/>
        </p:nvSpPr>
        <p:spPr>
          <a:xfrm>
            <a:off x="1032120" y="329148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4. Trazas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Text 17"/>
          <p:cNvSpPr/>
          <p:nvPr/>
        </p:nvSpPr>
        <p:spPr>
          <a:xfrm>
            <a:off x="900000" y="36000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Decisiones, tools ejecutadas, inputs, outputs, errores y versiones.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18"/>
          <p:cNvSpPr/>
          <p:nvPr/>
        </p:nvSpPr>
        <p:spPr>
          <a:xfrm>
            <a:off x="685800" y="395928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81" name="Shape 19"/>
          <p:cNvSpPr/>
          <p:nvPr/>
        </p:nvSpPr>
        <p:spPr>
          <a:xfrm>
            <a:off x="685800" y="3959280"/>
            <a:ext cx="63720" cy="52992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82" name="Text 20"/>
          <p:cNvSpPr/>
          <p:nvPr/>
        </p:nvSpPr>
        <p:spPr>
          <a:xfrm>
            <a:off x="887040" y="395928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5. Human-in-the-loop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Text 21"/>
          <p:cNvSpPr/>
          <p:nvPr/>
        </p:nvSpPr>
        <p:spPr>
          <a:xfrm>
            <a:off x="900000" y="421488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Aprobación para acciones críticas, irreversibles o sensibles.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PlaceHolder 1"/>
          <p:cNvSpPr>
            <a:spLocks noGrp="1"/>
          </p:cNvSpPr>
          <p:nvPr>
            <p:ph type="sldNum" idx="29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8AB6A1D-4C08-4B2C-97CE-FA80B1455B80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30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Human-in-the-loop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Automatizar no significa ejecutar sin personas.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2"/>
          <p:cNvSpPr/>
          <p:nvPr/>
        </p:nvSpPr>
        <p:spPr>
          <a:xfrm>
            <a:off x="731520" y="1828800"/>
            <a:ext cx="20167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88" name="Text 3"/>
          <p:cNvSpPr/>
          <p:nvPr/>
        </p:nvSpPr>
        <p:spPr>
          <a:xfrm>
            <a:off x="804600" y="2039040"/>
            <a:ext cx="1870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8b1e3f"/>
                </a:solidFill>
                <a:latin typeface="Aptos"/>
              </a:rPr>
              <a:t>IA propone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Shape 4"/>
          <p:cNvSpPr/>
          <p:nvPr/>
        </p:nvSpPr>
        <p:spPr>
          <a:xfrm>
            <a:off x="2775960" y="221256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90" name="Shape 5"/>
          <p:cNvSpPr/>
          <p:nvPr/>
        </p:nvSpPr>
        <p:spPr>
          <a:xfrm>
            <a:off x="2913120" y="1828800"/>
            <a:ext cx="20167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91" name="Text 6"/>
          <p:cNvSpPr/>
          <p:nvPr/>
        </p:nvSpPr>
        <p:spPr>
          <a:xfrm>
            <a:off x="2986560" y="2039040"/>
            <a:ext cx="1870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5aa8"/>
                </a:solidFill>
                <a:latin typeface="Aptos"/>
              </a:rPr>
              <a:t>Sistema valida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7"/>
          <p:cNvSpPr/>
          <p:nvPr/>
        </p:nvSpPr>
        <p:spPr>
          <a:xfrm>
            <a:off x="4957560" y="2212560"/>
            <a:ext cx="11916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93" name="Shape 8"/>
          <p:cNvSpPr/>
          <p:nvPr/>
        </p:nvSpPr>
        <p:spPr>
          <a:xfrm>
            <a:off x="5095080" y="1828800"/>
            <a:ext cx="20167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94" name="Text 9"/>
          <p:cNvSpPr/>
          <p:nvPr/>
        </p:nvSpPr>
        <p:spPr>
          <a:xfrm>
            <a:off x="5168160" y="2039040"/>
            <a:ext cx="1870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7a4b"/>
                </a:solidFill>
                <a:latin typeface="Aptos"/>
              </a:rPr>
              <a:t>Humano aprueba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10"/>
          <p:cNvSpPr/>
          <p:nvPr/>
        </p:nvSpPr>
        <p:spPr>
          <a:xfrm>
            <a:off x="7139520" y="221256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96" name="Shape 11"/>
          <p:cNvSpPr/>
          <p:nvPr/>
        </p:nvSpPr>
        <p:spPr>
          <a:xfrm>
            <a:off x="7276680" y="1828800"/>
            <a:ext cx="20167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96c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97" name="Text 12"/>
          <p:cNvSpPr/>
          <p:nvPr/>
        </p:nvSpPr>
        <p:spPr>
          <a:xfrm>
            <a:off x="7350120" y="2039040"/>
            <a:ext cx="1870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d96c06"/>
                </a:solidFill>
                <a:latin typeface="Aptos"/>
              </a:rPr>
              <a:t>Acción se ejecuta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Shape 13"/>
          <p:cNvSpPr/>
          <p:nvPr/>
        </p:nvSpPr>
        <p:spPr>
          <a:xfrm>
            <a:off x="9321120" y="221256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599" name="Shape 14"/>
          <p:cNvSpPr/>
          <p:nvPr/>
        </p:nvSpPr>
        <p:spPr>
          <a:xfrm>
            <a:off x="9458640" y="1828800"/>
            <a:ext cx="20167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00" name="Text 15"/>
          <p:cNvSpPr/>
          <p:nvPr/>
        </p:nvSpPr>
        <p:spPr>
          <a:xfrm>
            <a:off x="9531720" y="2039040"/>
            <a:ext cx="1870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8b1e3f"/>
                </a:solidFill>
                <a:latin typeface="Aptos"/>
              </a:rPr>
              <a:t>Queda traza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01" name="Table 0"/>
          <p:cNvGraphicFramePr/>
          <p:nvPr/>
        </p:nvGraphicFramePr>
        <p:xfrm>
          <a:off x="914400" y="3063240"/>
          <a:ext cx="10240920" cy="2422800"/>
        </p:xfrm>
        <a:graphic>
          <a:graphicData uri="http://schemas.openxmlformats.org/drawingml/2006/table">
            <a:tbl>
              <a:tblPr/>
              <a:tblGrid>
                <a:gridCol w="2926080"/>
                <a:gridCol w="7315200"/>
              </a:tblGrid>
              <a:tr h="40356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2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Acción</a:t>
                      </a:r>
                      <a:endParaRPr b="0" lang="es-ES" sz="92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2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Requiere aprobación si...</a:t>
                      </a:r>
                      <a:endParaRPr b="0" lang="es-ES" sz="92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</a:tr>
              <a:tr h="40356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Enviar correo oficial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Impacta cliente, proveedor o cumplimiento.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40356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Crear ticket crítico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Genera SLA o alarma formal.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356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Modificar datos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Cambia registros de negocio.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40356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Aprobar compra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Compromete presupuesto.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356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Dar orientación sensible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Salud, legal, financiero o reputacional.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602" name="PlaceHolder 1"/>
          <p:cNvSpPr>
            <a:spLocks noGrp="1"/>
          </p:cNvSpPr>
          <p:nvPr>
            <p:ph type="sldNum" idx="30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F4883A8-C598-4CF2-B35B-DE31E75984CD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31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Lenguajes para construir agentes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La clave no es el lenguaje: son las responsabilidades del sistema.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2"/>
          <p:cNvSpPr/>
          <p:nvPr/>
        </p:nvSpPr>
        <p:spPr>
          <a:xfrm>
            <a:off x="777240" y="1325880"/>
            <a:ext cx="342864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06" name="Shape 3"/>
          <p:cNvSpPr/>
          <p:nvPr/>
        </p:nvSpPr>
        <p:spPr>
          <a:xfrm>
            <a:off x="777240" y="1325880"/>
            <a:ext cx="63720" cy="95976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07" name="Text 4"/>
          <p:cNvSpPr/>
          <p:nvPr/>
        </p:nvSpPr>
        <p:spPr>
          <a:xfrm>
            <a:off x="978480" y="1490400"/>
            <a:ext cx="308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Python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Text 5"/>
          <p:cNvSpPr/>
          <p:nvPr/>
        </p:nvSpPr>
        <p:spPr>
          <a:xfrm>
            <a:off x="978480" y="1828800"/>
            <a:ext cx="308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Muy usado por ecosistema IA, prototipado, notebooks y librerías.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Shape 6"/>
          <p:cNvSpPr/>
          <p:nvPr/>
        </p:nvSpPr>
        <p:spPr>
          <a:xfrm>
            <a:off x="4434840" y="1325880"/>
            <a:ext cx="342864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10" name="Shape 7"/>
          <p:cNvSpPr/>
          <p:nvPr/>
        </p:nvSpPr>
        <p:spPr>
          <a:xfrm>
            <a:off x="4434840" y="1325880"/>
            <a:ext cx="63720" cy="95976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11" name="Text 8"/>
          <p:cNvSpPr/>
          <p:nvPr/>
        </p:nvSpPr>
        <p:spPr>
          <a:xfrm>
            <a:off x="4636080" y="1490400"/>
            <a:ext cx="308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JavaScript / TypeScript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Text 9"/>
          <p:cNvSpPr/>
          <p:nvPr/>
        </p:nvSpPr>
        <p:spPr>
          <a:xfrm>
            <a:off x="4636080" y="1828800"/>
            <a:ext cx="308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Muy usado para apps web, backends Node y productos integrados al frontend.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Shape 10"/>
          <p:cNvSpPr/>
          <p:nvPr/>
        </p:nvSpPr>
        <p:spPr>
          <a:xfrm>
            <a:off x="8092440" y="1325880"/>
            <a:ext cx="3428640" cy="9597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14" name="Shape 11"/>
          <p:cNvSpPr/>
          <p:nvPr/>
        </p:nvSpPr>
        <p:spPr>
          <a:xfrm>
            <a:off x="8092440" y="1325880"/>
            <a:ext cx="63720" cy="95976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15" name="Text 12"/>
          <p:cNvSpPr/>
          <p:nvPr/>
        </p:nvSpPr>
        <p:spPr>
          <a:xfrm>
            <a:off x="8293680" y="1490400"/>
            <a:ext cx="308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Otros lenguajes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Text 13"/>
          <p:cNvSpPr/>
          <p:nvPr/>
        </p:nvSpPr>
        <p:spPr>
          <a:xfrm>
            <a:off x="8293680" y="1828800"/>
            <a:ext cx="308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Java, C#, Go u otros usando SDKs, APIs o arquitectura propia.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Shape 14"/>
          <p:cNvSpPr/>
          <p:nvPr/>
        </p:nvSpPr>
        <p:spPr>
          <a:xfrm>
            <a:off x="731520" y="3474720"/>
            <a:ext cx="139356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18" name="Text 15"/>
          <p:cNvSpPr/>
          <p:nvPr/>
        </p:nvSpPr>
        <p:spPr>
          <a:xfrm>
            <a:off x="804600" y="3684960"/>
            <a:ext cx="12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8b1e3f"/>
                </a:solidFill>
                <a:latin typeface="Aptos"/>
              </a:rPr>
              <a:t>Modelo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Shape 16"/>
          <p:cNvSpPr/>
          <p:nvPr/>
        </p:nvSpPr>
        <p:spPr>
          <a:xfrm>
            <a:off x="2152440" y="3858480"/>
            <a:ext cx="11916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20" name="Shape 17"/>
          <p:cNvSpPr/>
          <p:nvPr/>
        </p:nvSpPr>
        <p:spPr>
          <a:xfrm>
            <a:off x="2289960" y="3474720"/>
            <a:ext cx="139356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21" name="Text 18"/>
          <p:cNvSpPr/>
          <p:nvPr/>
        </p:nvSpPr>
        <p:spPr>
          <a:xfrm>
            <a:off x="2363040" y="3684960"/>
            <a:ext cx="12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5aa8"/>
                </a:solidFill>
                <a:latin typeface="Aptos"/>
              </a:rPr>
              <a:t>Tools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Shape 19"/>
          <p:cNvSpPr/>
          <p:nvPr/>
        </p:nvSpPr>
        <p:spPr>
          <a:xfrm>
            <a:off x="3710880" y="385848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23" name="Shape 20"/>
          <p:cNvSpPr/>
          <p:nvPr/>
        </p:nvSpPr>
        <p:spPr>
          <a:xfrm>
            <a:off x="3848400" y="3474720"/>
            <a:ext cx="139356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24" name="Text 21"/>
          <p:cNvSpPr/>
          <p:nvPr/>
        </p:nvSpPr>
        <p:spPr>
          <a:xfrm>
            <a:off x="3921480" y="3684960"/>
            <a:ext cx="12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7a4b"/>
                </a:solidFill>
                <a:latin typeface="Aptos"/>
              </a:rPr>
              <a:t>Estado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Shape 22"/>
          <p:cNvSpPr/>
          <p:nvPr/>
        </p:nvSpPr>
        <p:spPr>
          <a:xfrm>
            <a:off x="5269320" y="385848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26" name="Shape 23"/>
          <p:cNvSpPr/>
          <p:nvPr/>
        </p:nvSpPr>
        <p:spPr>
          <a:xfrm>
            <a:off x="5406840" y="3474720"/>
            <a:ext cx="139356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96c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27" name="Text 24"/>
          <p:cNvSpPr/>
          <p:nvPr/>
        </p:nvSpPr>
        <p:spPr>
          <a:xfrm>
            <a:off x="5479920" y="3684960"/>
            <a:ext cx="12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d96c06"/>
                </a:solidFill>
                <a:latin typeface="Aptos"/>
              </a:rPr>
              <a:t>Memoria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Shape 25"/>
          <p:cNvSpPr/>
          <p:nvPr/>
        </p:nvSpPr>
        <p:spPr>
          <a:xfrm>
            <a:off x="6827760" y="385848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29" name="Shape 26"/>
          <p:cNvSpPr/>
          <p:nvPr/>
        </p:nvSpPr>
        <p:spPr>
          <a:xfrm>
            <a:off x="6965280" y="3474720"/>
            <a:ext cx="139356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30" name="Text 27"/>
          <p:cNvSpPr/>
          <p:nvPr/>
        </p:nvSpPr>
        <p:spPr>
          <a:xfrm>
            <a:off x="7038360" y="3684960"/>
            <a:ext cx="12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8b1e3f"/>
                </a:solidFill>
                <a:latin typeface="Aptos"/>
              </a:rPr>
              <a:t>Permisos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Shape 28"/>
          <p:cNvSpPr/>
          <p:nvPr/>
        </p:nvSpPr>
        <p:spPr>
          <a:xfrm>
            <a:off x="8386200" y="385848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32" name="Shape 29"/>
          <p:cNvSpPr/>
          <p:nvPr/>
        </p:nvSpPr>
        <p:spPr>
          <a:xfrm>
            <a:off x="8523360" y="3474720"/>
            <a:ext cx="139356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33" name="Text 30"/>
          <p:cNvSpPr/>
          <p:nvPr/>
        </p:nvSpPr>
        <p:spPr>
          <a:xfrm>
            <a:off x="8596800" y="3684960"/>
            <a:ext cx="12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5aa8"/>
                </a:solidFill>
                <a:latin typeface="Aptos"/>
              </a:rPr>
              <a:t>Logs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Shape 31"/>
          <p:cNvSpPr/>
          <p:nvPr/>
        </p:nvSpPr>
        <p:spPr>
          <a:xfrm>
            <a:off x="9944640" y="385848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35" name="Shape 32"/>
          <p:cNvSpPr/>
          <p:nvPr/>
        </p:nvSpPr>
        <p:spPr>
          <a:xfrm>
            <a:off x="10081800" y="3474720"/>
            <a:ext cx="139356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36" name="Text 33"/>
          <p:cNvSpPr/>
          <p:nvPr/>
        </p:nvSpPr>
        <p:spPr>
          <a:xfrm>
            <a:off x="10155240" y="3684960"/>
            <a:ext cx="12470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7a4b"/>
                </a:solidFill>
                <a:latin typeface="Aptos"/>
              </a:rPr>
              <a:t>Evaluación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Text 34"/>
          <p:cNvSpPr/>
          <p:nvPr/>
        </p:nvSpPr>
        <p:spPr>
          <a:xfrm>
            <a:off x="868680" y="4892040"/>
            <a:ext cx="10423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172033"/>
                </a:solidFill>
                <a:latin typeface="Aptos"/>
              </a:rPr>
              <a:t>Con LangChain/LangGraph, los lenguajes principales son Python y JavaScript/TypeScript. Conceptualmente, un agente puede construirse en cualquier lenguaje que llame APIs, maneje estado, ejecute funciones y controle flujo.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PlaceHolder 1"/>
          <p:cNvSpPr>
            <a:spLocks noGrp="1"/>
          </p:cNvSpPr>
          <p:nvPr>
            <p:ph type="sldNum" idx="31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E407CDC-4FE7-4DA8-969D-A6CCAF9B69F8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32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Ejemplo: agente empresarial controlado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No resuelve todo: coordina pasos acotados con herramientas permitidas.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Shape 2"/>
          <p:cNvSpPr/>
          <p:nvPr/>
        </p:nvSpPr>
        <p:spPr>
          <a:xfrm>
            <a:off x="731520" y="187452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42" name="Text 3"/>
          <p:cNvSpPr/>
          <p:nvPr/>
        </p:nvSpPr>
        <p:spPr>
          <a:xfrm>
            <a:off x="804600" y="208476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8b1e3f"/>
                </a:solidFill>
                <a:latin typeface="Aptos"/>
              </a:rPr>
              <a:t>Ticket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Shape 4"/>
          <p:cNvSpPr/>
          <p:nvPr/>
        </p:nvSpPr>
        <p:spPr>
          <a:xfrm>
            <a:off x="2412360" y="225828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44" name="Shape 5"/>
          <p:cNvSpPr/>
          <p:nvPr/>
        </p:nvSpPr>
        <p:spPr>
          <a:xfrm>
            <a:off x="2549520" y="187452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45" name="Text 6"/>
          <p:cNvSpPr/>
          <p:nvPr/>
        </p:nvSpPr>
        <p:spPr>
          <a:xfrm>
            <a:off x="2622960" y="208476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5aa8"/>
                </a:solidFill>
                <a:latin typeface="Aptos"/>
              </a:rPr>
              <a:t>Agente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Shape 7"/>
          <p:cNvSpPr/>
          <p:nvPr/>
        </p:nvSpPr>
        <p:spPr>
          <a:xfrm>
            <a:off x="4230360" y="225828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47" name="Shape 8"/>
          <p:cNvSpPr/>
          <p:nvPr/>
        </p:nvSpPr>
        <p:spPr>
          <a:xfrm>
            <a:off x="4367880" y="187452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48" name="Text 9"/>
          <p:cNvSpPr/>
          <p:nvPr/>
        </p:nvSpPr>
        <p:spPr>
          <a:xfrm>
            <a:off x="4440960" y="208476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7a4b"/>
                </a:solidFill>
                <a:latin typeface="Aptos"/>
              </a:rPr>
              <a:t>Consulta política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Shape 10"/>
          <p:cNvSpPr/>
          <p:nvPr/>
        </p:nvSpPr>
        <p:spPr>
          <a:xfrm>
            <a:off x="6048720" y="225828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50" name="Shape 11"/>
          <p:cNvSpPr/>
          <p:nvPr/>
        </p:nvSpPr>
        <p:spPr>
          <a:xfrm>
            <a:off x="6185880" y="187452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96c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51" name="Text 12"/>
          <p:cNvSpPr/>
          <p:nvPr/>
        </p:nvSpPr>
        <p:spPr>
          <a:xfrm>
            <a:off x="6258960" y="208476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d96c06"/>
                </a:solidFill>
                <a:latin typeface="Aptos"/>
              </a:rPr>
              <a:t>Calcula prioridad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Shape 13"/>
          <p:cNvSpPr/>
          <p:nvPr/>
        </p:nvSpPr>
        <p:spPr>
          <a:xfrm>
            <a:off x="7866720" y="225828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53" name="Shape 14"/>
          <p:cNvSpPr/>
          <p:nvPr/>
        </p:nvSpPr>
        <p:spPr>
          <a:xfrm>
            <a:off x="8003880" y="187452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54" name="Text 15"/>
          <p:cNvSpPr/>
          <p:nvPr/>
        </p:nvSpPr>
        <p:spPr>
          <a:xfrm>
            <a:off x="8077320" y="208476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5aa8"/>
                </a:solidFill>
                <a:latin typeface="Aptos"/>
              </a:rPr>
              <a:t>Propone acción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16"/>
          <p:cNvSpPr/>
          <p:nvPr/>
        </p:nvSpPr>
        <p:spPr>
          <a:xfrm>
            <a:off x="9684720" y="2258280"/>
            <a:ext cx="11916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56" name="Shape 17"/>
          <p:cNvSpPr/>
          <p:nvPr/>
        </p:nvSpPr>
        <p:spPr>
          <a:xfrm>
            <a:off x="9822240" y="187452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57" name="Text 18"/>
          <p:cNvSpPr/>
          <p:nvPr/>
        </p:nvSpPr>
        <p:spPr>
          <a:xfrm>
            <a:off x="9895320" y="208476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8b1e3f"/>
                </a:solidFill>
                <a:latin typeface="Aptos"/>
              </a:rPr>
              <a:t>Humano aprueba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Shape 19"/>
          <p:cNvSpPr/>
          <p:nvPr/>
        </p:nvSpPr>
        <p:spPr>
          <a:xfrm>
            <a:off x="822960" y="3246120"/>
            <a:ext cx="3291480" cy="914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59" name="Shape 20"/>
          <p:cNvSpPr/>
          <p:nvPr/>
        </p:nvSpPr>
        <p:spPr>
          <a:xfrm>
            <a:off x="822960" y="3246120"/>
            <a:ext cx="63720" cy="91404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60" name="Text 21"/>
          <p:cNvSpPr/>
          <p:nvPr/>
        </p:nvSpPr>
        <p:spPr>
          <a:xfrm>
            <a:off x="1024200" y="3410640"/>
            <a:ext cx="294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Solo lectura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Text 22"/>
          <p:cNvSpPr/>
          <p:nvPr/>
        </p:nvSpPr>
        <p:spPr>
          <a:xfrm>
            <a:off x="1024200" y="3749040"/>
            <a:ext cx="2944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3333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Puede leer políticas publicadas y consultar reglas.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Shape 23"/>
          <p:cNvSpPr/>
          <p:nvPr/>
        </p:nvSpPr>
        <p:spPr>
          <a:xfrm>
            <a:off x="4434840" y="3246120"/>
            <a:ext cx="3291480" cy="914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63" name="Shape 24"/>
          <p:cNvSpPr/>
          <p:nvPr/>
        </p:nvSpPr>
        <p:spPr>
          <a:xfrm>
            <a:off x="4434840" y="3246120"/>
            <a:ext cx="63720" cy="91404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64" name="Text 25"/>
          <p:cNvSpPr/>
          <p:nvPr/>
        </p:nvSpPr>
        <p:spPr>
          <a:xfrm>
            <a:off x="4636080" y="3410640"/>
            <a:ext cx="294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No ejecuta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Text 26"/>
          <p:cNvSpPr/>
          <p:nvPr/>
        </p:nvSpPr>
        <p:spPr>
          <a:xfrm>
            <a:off x="4636080" y="3749040"/>
            <a:ext cx="2944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3333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Solo sugiere acciones; no cierra tickets ni modifica cuentas.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Shape 27"/>
          <p:cNvSpPr/>
          <p:nvPr/>
        </p:nvSpPr>
        <p:spPr>
          <a:xfrm>
            <a:off x="8046720" y="3246120"/>
            <a:ext cx="3291480" cy="914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67" name="Shape 28"/>
          <p:cNvSpPr/>
          <p:nvPr/>
        </p:nvSpPr>
        <p:spPr>
          <a:xfrm>
            <a:off x="8046720" y="3246120"/>
            <a:ext cx="63720" cy="91404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68" name="Text 29"/>
          <p:cNvSpPr/>
          <p:nvPr/>
        </p:nvSpPr>
        <p:spPr>
          <a:xfrm>
            <a:off x="8247960" y="3410640"/>
            <a:ext cx="294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Trazabilidad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Text 30"/>
          <p:cNvSpPr/>
          <p:nvPr/>
        </p:nvSpPr>
        <p:spPr>
          <a:xfrm>
            <a:off x="8247960" y="3749040"/>
            <a:ext cx="2944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3333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Todo uso de tool queda registrado con input, output y decisión.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Text 31"/>
          <p:cNvSpPr/>
          <p:nvPr/>
        </p:nvSpPr>
        <p:spPr>
          <a:xfrm>
            <a:off x="914400" y="4800600"/>
            <a:ext cx="10240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pc="-1" strike="noStrike">
                <a:solidFill>
                  <a:srgbClr val="8b1e3f"/>
                </a:solidFill>
                <a:latin typeface="Aptos"/>
              </a:rPr>
              <a:t>Si falta información, pide aclaración en vez de inventar. Prioridad alta requiere revisión humana.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PlaceHolder 1"/>
          <p:cNvSpPr>
            <a:spLocks noGrp="1"/>
          </p:cNvSpPr>
          <p:nvPr>
            <p:ph type="sldNum" idx="32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138EACE-C77C-4A6D-A1EE-1DDD03C07409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33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73" name="Shape 1"/>
          <p:cNvSpPr/>
          <p:nvPr/>
        </p:nvSpPr>
        <p:spPr>
          <a:xfrm>
            <a:off x="0" y="0"/>
            <a:ext cx="4251600" cy="685764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74" name="Text 2"/>
          <p:cNvSpPr/>
          <p:nvPr/>
        </p:nvSpPr>
        <p:spPr>
          <a:xfrm>
            <a:off x="658440" y="105156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9d9e4"/>
                </a:solidFill>
                <a:latin typeface="Aptos"/>
              </a:rPr>
              <a:t>EVALUACIÓN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Text 3"/>
          <p:cNvSpPr/>
          <p:nvPr/>
        </p:nvSpPr>
        <p:spPr>
          <a:xfrm>
            <a:off x="658440" y="1508760"/>
            <a:ext cx="1096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ptos"/>
              </a:rPr>
              <a:t>05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Text 4"/>
          <p:cNvSpPr/>
          <p:nvPr/>
        </p:nvSpPr>
        <p:spPr>
          <a:xfrm>
            <a:off x="658440" y="2148840"/>
            <a:ext cx="32457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Evaluación y operación mínima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Text 5"/>
          <p:cNvSpPr/>
          <p:nvPr/>
        </p:nvSpPr>
        <p:spPr>
          <a:xfrm>
            <a:off x="4892040" y="2331720"/>
            <a:ext cx="6217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72033"/>
                </a:solidFill>
                <a:latin typeface="Aptos"/>
              </a:rPr>
              <a:t>Un piloto debe probarse con errores esperados, trazas y límites claros.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Shape 6"/>
          <p:cNvSpPr/>
          <p:nvPr/>
        </p:nvSpPr>
        <p:spPr>
          <a:xfrm>
            <a:off x="4892040" y="3246120"/>
            <a:ext cx="4206240" cy="360"/>
          </a:xfrm>
          <a:prstGeom prst="line">
            <a:avLst/>
          </a:prstGeom>
          <a:ln w="1778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Dataset mínimo de evaluación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Una tabla pequeña puede salvar una app grande.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81" name="Table 0"/>
          <p:cNvGraphicFramePr/>
          <p:nvPr/>
        </p:nvGraphicFramePr>
        <p:xfrm>
          <a:off x="621720" y="1325880"/>
          <a:ext cx="10606680" cy="466308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  <a:gridCol w="4663440"/>
              </a:tblGrid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Campo</a:t>
                      </a:r>
                      <a:endParaRPr b="0" lang="es-E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Ejemplo</a:t>
                      </a:r>
                      <a:endParaRPr b="0" lang="es-E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Por qué importa</a:t>
                      </a:r>
                      <a:endParaRPr b="0" lang="es-E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7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id</a:t>
                      </a:r>
                      <a:endParaRPr b="0" lang="es-ES" sz="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7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P01</a:t>
                      </a:r>
                      <a:endParaRPr b="0" lang="es-ES" sz="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7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Trazabilidad del caso.</a:t>
                      </a:r>
                      <a:endParaRPr b="0" lang="es-ES" sz="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7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input / pregunta</a:t>
                      </a:r>
                      <a:endParaRPr b="0" lang="es-ES" sz="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7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No puedo entrar al portal</a:t>
                      </a:r>
                      <a:endParaRPr b="0" lang="es-ES" sz="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7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Prueba realista.</a:t>
                      </a:r>
                      <a:endParaRPr b="0" lang="es-ES" sz="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7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resultado esperado</a:t>
                      </a:r>
                      <a:endParaRPr b="0" lang="es-ES" sz="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7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Pedir datos y calcular prioridad</a:t>
                      </a:r>
                      <a:endParaRPr b="0" lang="es-ES" sz="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7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Criterio de calidad.</a:t>
                      </a:r>
                      <a:endParaRPr b="0" lang="es-ES" sz="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7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tool esperada</a:t>
                      </a:r>
                      <a:endParaRPr b="0" lang="es-ES" sz="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7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calcular_prioridad</a:t>
                      </a:r>
                      <a:endParaRPr b="0" lang="es-ES" sz="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7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Evalúa ruta, no solo texto.</a:t>
                      </a:r>
                      <a:endParaRPr b="0" lang="es-ES" sz="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7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tipo</a:t>
                      </a:r>
                      <a:endParaRPr b="0" lang="es-ES" sz="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7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normal / ambiguo / fuera</a:t>
                      </a:r>
                      <a:endParaRPr b="0" lang="es-ES" sz="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7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Cobertura de evaluación.</a:t>
                      </a:r>
                      <a:endParaRPr b="0" lang="es-ES" sz="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7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criterio de aceptación</a:t>
                      </a:r>
                      <a:endParaRPr b="0" lang="es-ES" sz="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7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No inventa, usa fuente, respeta límites</a:t>
                      </a:r>
                      <a:endParaRPr b="0" lang="es-ES" sz="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7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Permite revisión consistente.</a:t>
                      </a:r>
                      <a:endParaRPr b="0" lang="es-ES" sz="87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82" name="PlaceHolder 1"/>
          <p:cNvSpPr>
            <a:spLocks noGrp="1"/>
          </p:cNvSpPr>
          <p:nvPr>
            <p:ph type="sldNum" idx="33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965BCC5-9AFF-40D7-8233-E8E24361A4E1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34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Tres tipos de caso para probar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La evaluación debe incluir éxito, duda y límite.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Shape 2"/>
          <p:cNvSpPr/>
          <p:nvPr/>
        </p:nvSpPr>
        <p:spPr>
          <a:xfrm>
            <a:off x="777240" y="1600200"/>
            <a:ext cx="3337200" cy="2559960"/>
          </a:xfrm>
          <a:prstGeom prst="roundRect">
            <a:avLst>
              <a:gd name="adj" fmla="val 2143"/>
            </a:avLst>
          </a:prstGeom>
          <a:solidFill>
            <a:srgbClr val="e9f5ee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86" name="Shape 3"/>
          <p:cNvSpPr/>
          <p:nvPr/>
        </p:nvSpPr>
        <p:spPr>
          <a:xfrm>
            <a:off x="777240" y="1600200"/>
            <a:ext cx="63720" cy="255996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87" name="Text 4"/>
          <p:cNvSpPr/>
          <p:nvPr/>
        </p:nvSpPr>
        <p:spPr>
          <a:xfrm>
            <a:off x="978480" y="1764720"/>
            <a:ext cx="298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Caso normal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Text 5"/>
          <p:cNvSpPr/>
          <p:nvPr/>
        </p:nvSpPr>
        <p:spPr>
          <a:xfrm>
            <a:off x="978480" y="2103120"/>
            <a:ext cx="298980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La información existe y la pregunta es clara. Evalúa recuperación, tool o respuesta.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Shape 6"/>
          <p:cNvSpPr/>
          <p:nvPr/>
        </p:nvSpPr>
        <p:spPr>
          <a:xfrm>
            <a:off x="4434840" y="1600200"/>
            <a:ext cx="3337200" cy="2559960"/>
          </a:xfrm>
          <a:prstGeom prst="roundRect">
            <a:avLst>
              <a:gd name="adj" fmla="val 2143"/>
            </a:avLst>
          </a:prstGeom>
          <a:solidFill>
            <a:srgbClr val="fff6e5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90" name="Shape 7"/>
          <p:cNvSpPr/>
          <p:nvPr/>
        </p:nvSpPr>
        <p:spPr>
          <a:xfrm>
            <a:off x="4434840" y="1600200"/>
            <a:ext cx="63720" cy="25599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91" name="Text 8"/>
          <p:cNvSpPr/>
          <p:nvPr/>
        </p:nvSpPr>
        <p:spPr>
          <a:xfrm>
            <a:off x="4636080" y="1764720"/>
            <a:ext cx="298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Caso ambiguo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Text 9"/>
          <p:cNvSpPr/>
          <p:nvPr/>
        </p:nvSpPr>
        <p:spPr>
          <a:xfrm>
            <a:off x="4636080" y="2103120"/>
            <a:ext cx="298980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Falta contexto o mezcla problemas. Evalúa aclaración y prudencia.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Shape 10"/>
          <p:cNvSpPr/>
          <p:nvPr/>
        </p:nvSpPr>
        <p:spPr>
          <a:xfrm>
            <a:off x="8092440" y="1600200"/>
            <a:ext cx="3337200" cy="2559960"/>
          </a:xfrm>
          <a:prstGeom prst="roundRect">
            <a:avLst>
              <a:gd name="adj" fmla="val 2143"/>
            </a:avLst>
          </a:prstGeom>
          <a:solidFill>
            <a:srgbClr val="f6e8ee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94" name="Shape 11"/>
          <p:cNvSpPr/>
          <p:nvPr/>
        </p:nvSpPr>
        <p:spPr>
          <a:xfrm>
            <a:off x="8092440" y="1600200"/>
            <a:ext cx="63720" cy="255996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695" name="Text 12"/>
          <p:cNvSpPr/>
          <p:nvPr/>
        </p:nvSpPr>
        <p:spPr>
          <a:xfrm>
            <a:off x="8293680" y="1764720"/>
            <a:ext cx="298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Fuera de alcance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Text 13"/>
          <p:cNvSpPr/>
          <p:nvPr/>
        </p:nvSpPr>
        <p:spPr>
          <a:xfrm>
            <a:off x="8293680" y="2103120"/>
            <a:ext cx="298980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La respuesta no está en los datos o no debe responderse. Evalúa fallback.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Text 14"/>
          <p:cNvSpPr/>
          <p:nvPr/>
        </p:nvSpPr>
        <p:spPr>
          <a:xfrm>
            <a:off x="914400" y="4983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pc="-1" strike="noStrike">
                <a:solidFill>
                  <a:srgbClr val="172033"/>
                </a:solidFill>
                <a:latin typeface="Aptos"/>
              </a:rPr>
              <a:t>Estos tres casos serán parte de la actividad y de la evaluación final.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PlaceHolder 1"/>
          <p:cNvSpPr>
            <a:spLocks noGrp="1"/>
          </p:cNvSpPr>
          <p:nvPr>
            <p:ph type="sldNum" idx="34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382B479-F2E1-49D9-9BD2-76FF3A2E1B84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36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Cómo evaluar un agente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No basta evaluar la respuesta final.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2"/>
          <p:cNvSpPr/>
          <p:nvPr/>
        </p:nvSpPr>
        <p:spPr>
          <a:xfrm>
            <a:off x="685800" y="132588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02" name="Shape 3"/>
          <p:cNvSpPr/>
          <p:nvPr/>
        </p:nvSpPr>
        <p:spPr>
          <a:xfrm>
            <a:off x="685800" y="1325880"/>
            <a:ext cx="63720" cy="52992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03" name="Text 4"/>
          <p:cNvSpPr/>
          <p:nvPr/>
        </p:nvSpPr>
        <p:spPr>
          <a:xfrm>
            <a:off x="900000" y="132588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1. Ruta tomada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Text 5"/>
          <p:cNvSpPr/>
          <p:nvPr/>
        </p:nvSpPr>
        <p:spPr>
          <a:xfrm>
            <a:off x="900000" y="16200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¿Eligió el camino correcto o pidió aclaración cuando correspondía?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Shape 6"/>
          <p:cNvSpPr/>
          <p:nvPr/>
        </p:nvSpPr>
        <p:spPr>
          <a:xfrm>
            <a:off x="685800" y="198432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06" name="Shape 7"/>
          <p:cNvSpPr/>
          <p:nvPr/>
        </p:nvSpPr>
        <p:spPr>
          <a:xfrm>
            <a:off x="685800" y="1984320"/>
            <a:ext cx="63720" cy="52992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07" name="Text 8"/>
          <p:cNvSpPr/>
          <p:nvPr/>
        </p:nvSpPr>
        <p:spPr>
          <a:xfrm>
            <a:off x="887040" y="198432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2. Tool correcta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Text 9"/>
          <p:cNvSpPr/>
          <p:nvPr/>
        </p:nvSpPr>
        <p:spPr>
          <a:xfrm>
            <a:off x="900000" y="223992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¿Usó la herramienta esperada y con parámetros válidos?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Shape 10"/>
          <p:cNvSpPr/>
          <p:nvPr/>
        </p:nvSpPr>
        <p:spPr>
          <a:xfrm>
            <a:off x="685800" y="264276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10" name="Shape 11"/>
          <p:cNvSpPr/>
          <p:nvPr/>
        </p:nvSpPr>
        <p:spPr>
          <a:xfrm>
            <a:off x="685800" y="2642760"/>
            <a:ext cx="63720" cy="52992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11" name="Text 12"/>
          <p:cNvSpPr/>
          <p:nvPr/>
        </p:nvSpPr>
        <p:spPr>
          <a:xfrm>
            <a:off x="887040" y="264276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3. Límites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Text 13"/>
          <p:cNvSpPr/>
          <p:nvPr/>
        </p:nvSpPr>
        <p:spPr>
          <a:xfrm>
            <a:off x="852120" y="29142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¿Respetó permisos, máximo de pasos y acciones prohibidas?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Shape 14"/>
          <p:cNvSpPr/>
          <p:nvPr/>
        </p:nvSpPr>
        <p:spPr>
          <a:xfrm>
            <a:off x="685800" y="330084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14" name="Shape 15"/>
          <p:cNvSpPr/>
          <p:nvPr/>
        </p:nvSpPr>
        <p:spPr>
          <a:xfrm>
            <a:off x="685800" y="3300840"/>
            <a:ext cx="63720" cy="529920"/>
          </a:xfrm>
          <a:prstGeom prst="rect">
            <a:avLst/>
          </a:prstGeom>
          <a:solidFill>
            <a:srgbClr val="d96c06"/>
          </a:solidFill>
          <a:ln w="12700">
            <a:solidFill>
              <a:srgbClr val="d96c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15" name="Text 16"/>
          <p:cNvSpPr/>
          <p:nvPr/>
        </p:nvSpPr>
        <p:spPr>
          <a:xfrm>
            <a:off x="887040" y="330084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4. Respuesta final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Text 17"/>
          <p:cNvSpPr/>
          <p:nvPr/>
        </p:nvSpPr>
        <p:spPr>
          <a:xfrm>
            <a:off x="900000" y="36000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¿Fue útil, breve, verificable y ajustada al caso?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Shape 18"/>
          <p:cNvSpPr/>
          <p:nvPr/>
        </p:nvSpPr>
        <p:spPr>
          <a:xfrm>
            <a:off x="685800" y="395928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18" name="Shape 19"/>
          <p:cNvSpPr/>
          <p:nvPr/>
        </p:nvSpPr>
        <p:spPr>
          <a:xfrm>
            <a:off x="685800" y="3959280"/>
            <a:ext cx="63720" cy="52992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19" name="Text 20"/>
          <p:cNvSpPr/>
          <p:nvPr/>
        </p:nvSpPr>
        <p:spPr>
          <a:xfrm>
            <a:off x="887040" y="395928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5. Seguridad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Text 21"/>
          <p:cNvSpPr/>
          <p:nvPr/>
        </p:nvSpPr>
        <p:spPr>
          <a:xfrm>
            <a:off x="887040" y="421488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¿Evitó inventar, exponer datos o ejecutar acciones sensibles?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Shape 22"/>
          <p:cNvSpPr/>
          <p:nvPr/>
        </p:nvSpPr>
        <p:spPr>
          <a:xfrm>
            <a:off x="685800" y="5596200"/>
            <a:ext cx="10835280" cy="438480"/>
          </a:xfrm>
          <a:prstGeom prst="roundRect">
            <a:avLst>
              <a:gd name="adj" fmla="val 12500"/>
            </a:avLst>
          </a:prstGeom>
          <a:solidFill>
            <a:srgbClr val="f6e8ee"/>
          </a:solidFill>
          <a:ln w="12700">
            <a:solidFill>
              <a:srgbClr val="e7c5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22" name="Text 23"/>
          <p:cNvSpPr/>
          <p:nvPr/>
        </p:nvSpPr>
        <p:spPr>
          <a:xfrm>
            <a:off x="868680" y="5715000"/>
            <a:ext cx="10469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8b1e3f"/>
                </a:solidFill>
                <a:latin typeface="Aptos"/>
              </a:rPr>
              <a:t>Evaluar agentes = ruta + tools + límites + respuesta + seguridad.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PlaceHolder 1"/>
          <p:cNvSpPr>
            <a:spLocks noGrp="1"/>
          </p:cNvSpPr>
          <p:nvPr>
            <p:ph type="sldNum" idx="35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5B3A923-1896-4A13-9BFB-443820F52B8B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37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Observabilidad y trazas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Cuando algo falla, necesitamos saber en qué componente falló.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Shape 2"/>
          <p:cNvSpPr/>
          <p:nvPr/>
        </p:nvSpPr>
        <p:spPr>
          <a:xfrm>
            <a:off x="685800" y="132588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27" name="Shape 3"/>
          <p:cNvSpPr/>
          <p:nvPr/>
        </p:nvSpPr>
        <p:spPr>
          <a:xfrm>
            <a:off x="685800" y="1325880"/>
            <a:ext cx="63720" cy="52992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28" name="Text 4"/>
          <p:cNvSpPr/>
          <p:nvPr/>
        </p:nvSpPr>
        <p:spPr>
          <a:xfrm>
            <a:off x="887040" y="136440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1. Input y contexto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Text 5"/>
          <p:cNvSpPr/>
          <p:nvPr/>
        </p:nvSpPr>
        <p:spPr>
          <a:xfrm>
            <a:off x="900000" y="16200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Qué recibió el sistema y qué información estaba permitida.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Shape 6"/>
          <p:cNvSpPr/>
          <p:nvPr/>
        </p:nvSpPr>
        <p:spPr>
          <a:xfrm>
            <a:off x="685800" y="198432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31" name="Shape 7"/>
          <p:cNvSpPr/>
          <p:nvPr/>
        </p:nvSpPr>
        <p:spPr>
          <a:xfrm>
            <a:off x="685800" y="1984320"/>
            <a:ext cx="63720" cy="52992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32" name="Text 8"/>
          <p:cNvSpPr/>
          <p:nvPr/>
        </p:nvSpPr>
        <p:spPr>
          <a:xfrm>
            <a:off x="887040" y="198432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2. Prompt/modelo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Text 9"/>
          <p:cNvSpPr/>
          <p:nvPr/>
        </p:nvSpPr>
        <p:spPr>
          <a:xfrm>
            <a:off x="900000" y="223992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Prompt final construido, modelo usado y versión de configuración.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Shape 10"/>
          <p:cNvSpPr/>
          <p:nvPr/>
        </p:nvSpPr>
        <p:spPr>
          <a:xfrm>
            <a:off x="685800" y="264276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35" name="Shape 11"/>
          <p:cNvSpPr/>
          <p:nvPr/>
        </p:nvSpPr>
        <p:spPr>
          <a:xfrm>
            <a:off x="685800" y="2642760"/>
            <a:ext cx="63720" cy="52992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36" name="Text 12"/>
          <p:cNvSpPr/>
          <p:nvPr/>
        </p:nvSpPr>
        <p:spPr>
          <a:xfrm>
            <a:off x="887040" y="264276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3. RAG/tools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Text 13"/>
          <p:cNvSpPr/>
          <p:nvPr/>
        </p:nvSpPr>
        <p:spPr>
          <a:xfrm>
            <a:off x="900000" y="29142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Documentos recuperados, tools solicitadas y resultados devueltos.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Shape 14"/>
          <p:cNvSpPr/>
          <p:nvPr/>
        </p:nvSpPr>
        <p:spPr>
          <a:xfrm>
            <a:off x="685800" y="330084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39" name="Shape 15"/>
          <p:cNvSpPr/>
          <p:nvPr/>
        </p:nvSpPr>
        <p:spPr>
          <a:xfrm>
            <a:off x="685800" y="3300840"/>
            <a:ext cx="63720" cy="529920"/>
          </a:xfrm>
          <a:prstGeom prst="rect">
            <a:avLst/>
          </a:prstGeom>
          <a:solidFill>
            <a:srgbClr val="d96c06"/>
          </a:solidFill>
          <a:ln w="12700">
            <a:solidFill>
              <a:srgbClr val="d96c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40" name="Text 16"/>
          <p:cNvSpPr/>
          <p:nvPr/>
        </p:nvSpPr>
        <p:spPr>
          <a:xfrm>
            <a:off x="887040" y="329148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4. Costo y latencia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Text 17"/>
          <p:cNvSpPr/>
          <p:nvPr/>
        </p:nvSpPr>
        <p:spPr>
          <a:xfrm>
            <a:off x="900000" y="36342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Tokens, tiempo de respuesta, errores y reintentos.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Shape 18"/>
          <p:cNvSpPr/>
          <p:nvPr/>
        </p:nvSpPr>
        <p:spPr>
          <a:xfrm>
            <a:off x="685800" y="395928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43" name="Shape 19"/>
          <p:cNvSpPr/>
          <p:nvPr/>
        </p:nvSpPr>
        <p:spPr>
          <a:xfrm>
            <a:off x="685800" y="3959280"/>
            <a:ext cx="63720" cy="52992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44" name="Text 20"/>
          <p:cNvSpPr/>
          <p:nvPr/>
        </p:nvSpPr>
        <p:spPr>
          <a:xfrm>
            <a:off x="887040" y="395928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5. Decisión final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Text 21"/>
          <p:cNvSpPr/>
          <p:nvPr/>
        </p:nvSpPr>
        <p:spPr>
          <a:xfrm>
            <a:off x="887040" y="421488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Respondió, escaló, pidió aclaración, bloqueó o falló.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PlaceHolder 1"/>
          <p:cNvSpPr>
            <a:spLocks noGrp="1"/>
          </p:cNvSpPr>
          <p:nvPr>
            <p:ph type="sldNum" idx="36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27AB409-5BC5-4212-8238-1DEA7241E204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38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Costo y latencia: decisiones operativas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Cada paso extra suma tiempo, tokens o riesgo de falla.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49" name="Table 0"/>
          <p:cNvGraphicFramePr/>
          <p:nvPr/>
        </p:nvGraphicFramePr>
        <p:xfrm>
          <a:off x="621720" y="1325880"/>
          <a:ext cx="10606680" cy="4663080"/>
        </p:xfrm>
        <a:graphic>
          <a:graphicData uri="http://schemas.openxmlformats.org/drawingml/2006/table">
            <a:tbl>
              <a:tblPr/>
              <a:tblGrid>
                <a:gridCol w="2468880"/>
                <a:gridCol w="3840480"/>
                <a:gridCol w="4297680"/>
              </a:tblGrid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3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Variable</a:t>
                      </a:r>
                      <a:endParaRPr b="0" lang="es-E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3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Impacto</a:t>
                      </a:r>
                      <a:endParaRPr b="0" lang="es-E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3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Control</a:t>
                      </a:r>
                      <a:endParaRPr b="0" lang="es-ES" sz="93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Modelo</a:t>
                      </a:r>
                      <a:endParaRPr b="0" lang="es-E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Costo y calidad</a:t>
                      </a:r>
                      <a:endParaRPr b="0" lang="es-E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Elegir por tarea.</a:t>
                      </a:r>
                      <a:endParaRPr b="0" lang="es-E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Prompt largo</a:t>
                      </a:r>
                      <a:endParaRPr b="0" lang="es-E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Tokens de entrada</a:t>
                      </a:r>
                      <a:endParaRPr b="0" lang="es-E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Reducir y versionar.</a:t>
                      </a:r>
                      <a:endParaRPr b="0" lang="es-E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Historial</a:t>
                      </a:r>
                      <a:endParaRPr b="0" lang="es-E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Crece por conversación</a:t>
                      </a:r>
                      <a:endParaRPr b="0" lang="es-E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Ventana o resumen.</a:t>
                      </a:r>
                      <a:endParaRPr b="0" lang="es-E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RAG top-k</a:t>
                      </a:r>
                      <a:endParaRPr b="0" lang="es-E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Más contexto</a:t>
                      </a:r>
                      <a:endParaRPr b="0" lang="es-E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Ajustar k.</a:t>
                      </a:r>
                      <a:endParaRPr b="0" lang="es-E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Tools</a:t>
                      </a:r>
                      <a:endParaRPr b="0" lang="es-E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Tiempo y fallas externas</a:t>
                      </a:r>
                      <a:endParaRPr b="0" lang="es-E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Validar antes de llamar.</a:t>
                      </a:r>
                      <a:endParaRPr b="0" lang="es-E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Agente</a:t>
                      </a:r>
                      <a:endParaRPr b="0" lang="es-E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Iteraciones variables</a:t>
                      </a:r>
                      <a:endParaRPr b="0" lang="es-E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0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Máximo de pasos.</a:t>
                      </a:r>
                      <a:endParaRPr b="0" lang="es-E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50" name="PlaceHolder 1"/>
          <p:cNvSpPr>
            <a:spLocks noGrp="1"/>
          </p:cNvSpPr>
          <p:nvPr>
            <p:ph type="sldNum" idx="37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80410A9-7341-4CC2-B805-8124E4CE39C8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38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Seguridad de datos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La pregunta clave: qué información entra y dónde queda.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Shape 2"/>
          <p:cNvSpPr/>
          <p:nvPr/>
        </p:nvSpPr>
        <p:spPr>
          <a:xfrm>
            <a:off x="685800" y="132588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54" name="Shape 3"/>
          <p:cNvSpPr/>
          <p:nvPr/>
        </p:nvSpPr>
        <p:spPr>
          <a:xfrm>
            <a:off x="685800" y="1325880"/>
            <a:ext cx="63720" cy="52992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55" name="Text 4"/>
          <p:cNvSpPr/>
          <p:nvPr/>
        </p:nvSpPr>
        <p:spPr>
          <a:xfrm>
            <a:off x="887040" y="136440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1. Minimización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Text 5"/>
          <p:cNvSpPr/>
          <p:nvPr/>
        </p:nvSpPr>
        <p:spPr>
          <a:xfrm>
            <a:off x="900000" y="16200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Enviar al modelo solo lo necesario para resolver la tarea.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Shape 6"/>
          <p:cNvSpPr/>
          <p:nvPr/>
        </p:nvSpPr>
        <p:spPr>
          <a:xfrm>
            <a:off x="685800" y="198432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58" name="Shape 7"/>
          <p:cNvSpPr/>
          <p:nvPr/>
        </p:nvSpPr>
        <p:spPr>
          <a:xfrm>
            <a:off x="685800" y="1984320"/>
            <a:ext cx="63720" cy="52992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59" name="Text 8"/>
          <p:cNvSpPr/>
          <p:nvPr/>
        </p:nvSpPr>
        <p:spPr>
          <a:xfrm>
            <a:off x="887040" y="198432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2. Secretos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Text 9"/>
          <p:cNvSpPr/>
          <p:nvPr/>
        </p:nvSpPr>
        <p:spPr>
          <a:xfrm>
            <a:off x="900000" y="223992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Nunca poner claves, tokens, contraseñas o datos sensibles en prompts.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Shape 10"/>
          <p:cNvSpPr/>
          <p:nvPr/>
        </p:nvSpPr>
        <p:spPr>
          <a:xfrm>
            <a:off x="685800" y="264276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62" name="Shape 11"/>
          <p:cNvSpPr/>
          <p:nvPr/>
        </p:nvSpPr>
        <p:spPr>
          <a:xfrm>
            <a:off x="685800" y="2642760"/>
            <a:ext cx="63720" cy="52992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63" name="Text 12"/>
          <p:cNvSpPr/>
          <p:nvPr/>
        </p:nvSpPr>
        <p:spPr>
          <a:xfrm>
            <a:off x="887040" y="264276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3. Permisos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Text 13"/>
          <p:cNvSpPr/>
          <p:nvPr/>
        </p:nvSpPr>
        <p:spPr>
          <a:xfrm>
            <a:off x="900000" y="29142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Aplicar control antes del retriever y antes de tools.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Shape 14"/>
          <p:cNvSpPr/>
          <p:nvPr/>
        </p:nvSpPr>
        <p:spPr>
          <a:xfrm>
            <a:off x="685800" y="330084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66" name="Shape 15"/>
          <p:cNvSpPr/>
          <p:nvPr/>
        </p:nvSpPr>
        <p:spPr>
          <a:xfrm>
            <a:off x="685800" y="3300840"/>
            <a:ext cx="63720" cy="529920"/>
          </a:xfrm>
          <a:prstGeom prst="rect">
            <a:avLst/>
          </a:prstGeom>
          <a:solidFill>
            <a:srgbClr val="d96c06"/>
          </a:solidFill>
          <a:ln w="12700">
            <a:solidFill>
              <a:srgbClr val="d96c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67" name="Text 16"/>
          <p:cNvSpPr/>
          <p:nvPr/>
        </p:nvSpPr>
        <p:spPr>
          <a:xfrm>
            <a:off x="887040" y="330084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4. Fuentes restringidas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Text 17"/>
          <p:cNvSpPr/>
          <p:nvPr/>
        </p:nvSpPr>
        <p:spPr>
          <a:xfrm>
            <a:off x="887040" y="355644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No mostrar contenido no autorizado en la respuesta final.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Shape 18"/>
          <p:cNvSpPr/>
          <p:nvPr/>
        </p:nvSpPr>
        <p:spPr>
          <a:xfrm>
            <a:off x="685800" y="395928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70" name="Shape 19"/>
          <p:cNvSpPr/>
          <p:nvPr/>
        </p:nvSpPr>
        <p:spPr>
          <a:xfrm>
            <a:off x="685800" y="3959280"/>
            <a:ext cx="63720" cy="52992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71" name="Text 20"/>
          <p:cNvSpPr/>
          <p:nvPr/>
        </p:nvSpPr>
        <p:spPr>
          <a:xfrm>
            <a:off x="887040" y="395928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5. Política de logs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Text 21"/>
          <p:cNvSpPr/>
          <p:nvPr/>
        </p:nvSpPr>
        <p:spPr>
          <a:xfrm>
            <a:off x="887040" y="421488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Qué guardar, cuánto tiempo, quién accede y cómo se audita.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PlaceHolder 1"/>
          <p:cNvSpPr>
            <a:spLocks noGrp="1"/>
          </p:cNvSpPr>
          <p:nvPr>
            <p:ph type="sldNum" idx="38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EA7BAAD-40BB-4E20-9E05-94A75A4F6CCD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40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Piloto controlado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La forma segura de aprender con usuarios reales.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Shape 2"/>
          <p:cNvSpPr/>
          <p:nvPr/>
        </p:nvSpPr>
        <p:spPr>
          <a:xfrm>
            <a:off x="777240" y="1600200"/>
            <a:ext cx="3337200" cy="255996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77" name="Shape 3"/>
          <p:cNvSpPr/>
          <p:nvPr/>
        </p:nvSpPr>
        <p:spPr>
          <a:xfrm>
            <a:off x="777240" y="1600200"/>
            <a:ext cx="63720" cy="255996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78" name="Text 4"/>
          <p:cNvSpPr/>
          <p:nvPr/>
        </p:nvSpPr>
        <p:spPr>
          <a:xfrm>
            <a:off x="978480" y="1764720"/>
            <a:ext cx="298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Alcance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Text 5"/>
          <p:cNvSpPr/>
          <p:nvPr/>
        </p:nvSpPr>
        <p:spPr>
          <a:xfrm>
            <a:off x="978480" y="2103120"/>
            <a:ext cx="298980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Usuarios limitados, datos definidos, acciones acotadas y objetivos claros.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Shape 6"/>
          <p:cNvSpPr/>
          <p:nvPr/>
        </p:nvSpPr>
        <p:spPr>
          <a:xfrm>
            <a:off x="4434840" y="1600200"/>
            <a:ext cx="3337200" cy="255996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81" name="Shape 7"/>
          <p:cNvSpPr/>
          <p:nvPr/>
        </p:nvSpPr>
        <p:spPr>
          <a:xfrm>
            <a:off x="4434840" y="1600200"/>
            <a:ext cx="63720" cy="255996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82" name="Text 8"/>
          <p:cNvSpPr/>
          <p:nvPr/>
        </p:nvSpPr>
        <p:spPr>
          <a:xfrm>
            <a:off x="4636080" y="1764720"/>
            <a:ext cx="298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Medición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Text 9"/>
          <p:cNvSpPr/>
          <p:nvPr/>
        </p:nvSpPr>
        <p:spPr>
          <a:xfrm>
            <a:off x="4636080" y="2103120"/>
            <a:ext cx="298980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Casos de prueba, feedback, trazas, costo, latencia y tasa de fallback.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Shape 10"/>
          <p:cNvSpPr/>
          <p:nvPr/>
        </p:nvSpPr>
        <p:spPr>
          <a:xfrm>
            <a:off x="8092440" y="1600200"/>
            <a:ext cx="3337200" cy="255996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85" name="Shape 11"/>
          <p:cNvSpPr/>
          <p:nvPr/>
        </p:nvSpPr>
        <p:spPr>
          <a:xfrm>
            <a:off x="8092440" y="1600200"/>
            <a:ext cx="63720" cy="255996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86" name="Text 12"/>
          <p:cNvSpPr/>
          <p:nvPr/>
        </p:nvSpPr>
        <p:spPr>
          <a:xfrm>
            <a:off x="8293680" y="1764720"/>
            <a:ext cx="298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Gobierno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Text 13"/>
          <p:cNvSpPr/>
          <p:nvPr/>
        </p:nvSpPr>
        <p:spPr>
          <a:xfrm>
            <a:off x="8293680" y="2103120"/>
            <a:ext cx="298980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Responsable humano, revisión de casos críticos y criterio para escalar o detener.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Text 14"/>
          <p:cNvSpPr/>
          <p:nvPr/>
        </p:nvSpPr>
        <p:spPr>
          <a:xfrm>
            <a:off x="914400" y="4983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pc="-1" strike="noStrike">
                <a:solidFill>
                  <a:srgbClr val="8b1e3f"/>
                </a:solidFill>
                <a:latin typeface="Aptos"/>
              </a:rPr>
              <a:t>Un piloto no busca perfección: busca evidencia para decidir.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PlaceHolder 1"/>
          <p:cNvSpPr>
            <a:spLocks noGrp="1"/>
          </p:cNvSpPr>
          <p:nvPr>
            <p:ph type="sldNum" idx="39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5D5FA7C-AC81-49E8-91ED-51DBFC2922D9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41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Checklist de operación mínima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Antes de mostrar un piloto a usuarios.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Shape 2"/>
          <p:cNvSpPr/>
          <p:nvPr/>
        </p:nvSpPr>
        <p:spPr>
          <a:xfrm>
            <a:off x="685800" y="132588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93" name="Shape 3"/>
          <p:cNvSpPr/>
          <p:nvPr/>
        </p:nvSpPr>
        <p:spPr>
          <a:xfrm>
            <a:off x="685800" y="1325880"/>
            <a:ext cx="63720" cy="52992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94" name="Text 4"/>
          <p:cNvSpPr/>
          <p:nvPr/>
        </p:nvSpPr>
        <p:spPr>
          <a:xfrm>
            <a:off x="900000" y="132588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1. Configuración segura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Text 5"/>
          <p:cNvSpPr/>
          <p:nvPr/>
        </p:nvSpPr>
        <p:spPr>
          <a:xfrm>
            <a:off x="900000" y="16200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Modelo, claves y variables desde backend/secret manager.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Shape 6"/>
          <p:cNvSpPr/>
          <p:nvPr/>
        </p:nvSpPr>
        <p:spPr>
          <a:xfrm>
            <a:off x="685800" y="198432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97" name="Shape 7"/>
          <p:cNvSpPr/>
          <p:nvPr/>
        </p:nvSpPr>
        <p:spPr>
          <a:xfrm>
            <a:off x="685800" y="1984320"/>
            <a:ext cx="63720" cy="52992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98" name="Text 8"/>
          <p:cNvSpPr/>
          <p:nvPr/>
        </p:nvSpPr>
        <p:spPr>
          <a:xfrm>
            <a:off x="887040" y="197460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2. Salida validable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Text 9"/>
          <p:cNvSpPr/>
          <p:nvPr/>
        </p:nvSpPr>
        <p:spPr>
          <a:xfrm>
            <a:off x="900000" y="22302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Schema o formato cuando alimenta otro sistema.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Shape 10"/>
          <p:cNvSpPr/>
          <p:nvPr/>
        </p:nvSpPr>
        <p:spPr>
          <a:xfrm>
            <a:off x="685800" y="264276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01" name="Shape 11"/>
          <p:cNvSpPr/>
          <p:nvPr/>
        </p:nvSpPr>
        <p:spPr>
          <a:xfrm>
            <a:off x="685800" y="2642760"/>
            <a:ext cx="63720" cy="52992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02" name="Text 12"/>
          <p:cNvSpPr/>
          <p:nvPr/>
        </p:nvSpPr>
        <p:spPr>
          <a:xfrm>
            <a:off x="887040" y="262440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3. Casos de prueba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Text 13"/>
          <p:cNvSpPr/>
          <p:nvPr/>
        </p:nvSpPr>
        <p:spPr>
          <a:xfrm>
            <a:off x="900000" y="29142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Normal, ambiguo y fuera de alcance.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Shape 14"/>
          <p:cNvSpPr/>
          <p:nvPr/>
        </p:nvSpPr>
        <p:spPr>
          <a:xfrm>
            <a:off x="685800" y="330084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05" name="Shape 15"/>
          <p:cNvSpPr/>
          <p:nvPr/>
        </p:nvSpPr>
        <p:spPr>
          <a:xfrm>
            <a:off x="685800" y="3300840"/>
            <a:ext cx="63720" cy="529920"/>
          </a:xfrm>
          <a:prstGeom prst="rect">
            <a:avLst/>
          </a:prstGeom>
          <a:solidFill>
            <a:srgbClr val="d96c06"/>
          </a:solidFill>
          <a:ln w="12700">
            <a:solidFill>
              <a:srgbClr val="d96c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06" name="Text 16"/>
          <p:cNvSpPr/>
          <p:nvPr/>
        </p:nvSpPr>
        <p:spPr>
          <a:xfrm>
            <a:off x="900000" y="329148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4. Registro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Text 17"/>
          <p:cNvSpPr/>
          <p:nvPr/>
        </p:nvSpPr>
        <p:spPr>
          <a:xfrm>
            <a:off x="887040" y="36000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Fuentes, costo, latencia, errores y uso de tools.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Shape 18"/>
          <p:cNvSpPr/>
          <p:nvPr/>
        </p:nvSpPr>
        <p:spPr>
          <a:xfrm>
            <a:off x="685800" y="395928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09" name="Shape 19"/>
          <p:cNvSpPr/>
          <p:nvPr/>
        </p:nvSpPr>
        <p:spPr>
          <a:xfrm>
            <a:off x="685800" y="3959280"/>
            <a:ext cx="63720" cy="52992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10" name="Text 20"/>
          <p:cNvSpPr/>
          <p:nvPr/>
        </p:nvSpPr>
        <p:spPr>
          <a:xfrm>
            <a:off x="887040" y="394956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5. Fallback y responsable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Text 21"/>
          <p:cNvSpPr/>
          <p:nvPr/>
        </p:nvSpPr>
        <p:spPr>
          <a:xfrm>
            <a:off x="900000" y="420516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Qué hacer cuando falla y quién revisa casos críticos.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PlaceHolder 1"/>
          <p:cNvSpPr>
            <a:spLocks noGrp="1"/>
          </p:cNvSpPr>
          <p:nvPr>
            <p:ph type="sldNum" idx="40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91D3C79-426E-461A-91F6-D41216DDB346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42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14" name="Shape 1"/>
          <p:cNvSpPr/>
          <p:nvPr/>
        </p:nvSpPr>
        <p:spPr>
          <a:xfrm>
            <a:off x="0" y="0"/>
            <a:ext cx="4251600" cy="685764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15" name="Text 2"/>
          <p:cNvSpPr/>
          <p:nvPr/>
        </p:nvSpPr>
        <p:spPr>
          <a:xfrm>
            <a:off x="658440" y="105156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9d9e4"/>
                </a:solidFill>
                <a:latin typeface="Aptos"/>
              </a:rPr>
              <a:t>DEMO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Text 3"/>
          <p:cNvSpPr/>
          <p:nvPr/>
        </p:nvSpPr>
        <p:spPr>
          <a:xfrm>
            <a:off x="658440" y="1508760"/>
            <a:ext cx="1096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ptos"/>
              </a:rPr>
              <a:t>06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Text 4"/>
          <p:cNvSpPr/>
          <p:nvPr/>
        </p:nvSpPr>
        <p:spPr>
          <a:xfrm>
            <a:off x="658440" y="2148840"/>
            <a:ext cx="32457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Demo en vivo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Text 5"/>
          <p:cNvSpPr/>
          <p:nvPr/>
        </p:nvSpPr>
        <p:spPr>
          <a:xfrm>
            <a:off x="4892040" y="2331720"/>
            <a:ext cx="6217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72033"/>
                </a:solidFill>
                <a:latin typeface="Aptos"/>
              </a:rPr>
              <a:t>Agente controlado de mesa de ayuda con tools simuladas.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Shape 6"/>
          <p:cNvSpPr/>
          <p:nvPr/>
        </p:nvSpPr>
        <p:spPr>
          <a:xfrm>
            <a:off x="4892040" y="3246120"/>
            <a:ext cx="4206240" cy="360"/>
          </a:xfrm>
          <a:prstGeom prst="line">
            <a:avLst/>
          </a:prstGeom>
          <a:ln w="1778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Demo: agente controlado de mesa de ayuda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Mostrar un agente real con tools, límites y lectura arquitectónica.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22" name="Table 0"/>
          <p:cNvGraphicFramePr/>
          <p:nvPr/>
        </p:nvGraphicFramePr>
        <p:xfrm>
          <a:off x="621720" y="1325880"/>
          <a:ext cx="10606680" cy="4663080"/>
        </p:xfrm>
        <a:graphic>
          <a:graphicData uri="http://schemas.openxmlformats.org/drawingml/2006/table">
            <a:tbl>
              <a:tblPr/>
              <a:tblGrid>
                <a:gridCol w="2743200"/>
                <a:gridCol w="7863840"/>
              </a:tblGrid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Elemento</a:t>
                      </a:r>
                      <a:endParaRPr b="0" lang="es-E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Demo</a:t>
                      </a:r>
                      <a:endParaRPr b="0" lang="es-E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Qué entra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Solicitud abierta de un usuario interno.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Qué decide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Responder, pedir aclaración o usar una tool.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Tools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calcular_prioridad, consultar_politica_soporte, generar_plan_accion.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Qué sale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Diagnóstico breve + prioridad + acción sugerida + límite.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Qué NO hace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No crea tickets reales, no envía correos, no modifica sistemas.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6660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Qué se observa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Ruta, tool usada, trazas, fallback y respeto de límites.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23" name="PlaceHolder 1"/>
          <p:cNvSpPr>
            <a:spLocks noGrp="1"/>
          </p:cNvSpPr>
          <p:nvPr>
            <p:ph type="sldNum" idx="41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1E01E6A-41F8-483F-8802-C1A15E26A709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43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Arquitectura de la demo agente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El modelo decide, pero el backend valida y ejecuta.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Shape 2"/>
          <p:cNvSpPr/>
          <p:nvPr/>
        </p:nvSpPr>
        <p:spPr>
          <a:xfrm>
            <a:off x="731520" y="192024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27" name="Text 3"/>
          <p:cNvSpPr/>
          <p:nvPr/>
        </p:nvSpPr>
        <p:spPr>
          <a:xfrm>
            <a:off x="804600" y="213048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8b1e3f"/>
                </a:solidFill>
                <a:latin typeface="Aptos"/>
              </a:rPr>
              <a:t>Solicitud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Shape 4"/>
          <p:cNvSpPr/>
          <p:nvPr/>
        </p:nvSpPr>
        <p:spPr>
          <a:xfrm>
            <a:off x="2412360" y="230400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29" name="Shape 5"/>
          <p:cNvSpPr/>
          <p:nvPr/>
        </p:nvSpPr>
        <p:spPr>
          <a:xfrm>
            <a:off x="2549520" y="192024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30" name="Text 6"/>
          <p:cNvSpPr/>
          <p:nvPr/>
        </p:nvSpPr>
        <p:spPr>
          <a:xfrm>
            <a:off x="2622960" y="213048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5aa8"/>
                </a:solidFill>
                <a:latin typeface="Aptos"/>
              </a:rPr>
              <a:t>Agente LangChain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Shape 7"/>
          <p:cNvSpPr/>
          <p:nvPr/>
        </p:nvSpPr>
        <p:spPr>
          <a:xfrm>
            <a:off x="4230360" y="230400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32" name="Shape 8"/>
          <p:cNvSpPr/>
          <p:nvPr/>
        </p:nvSpPr>
        <p:spPr>
          <a:xfrm>
            <a:off x="4367880" y="192024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33" name="Text 9"/>
          <p:cNvSpPr/>
          <p:nvPr/>
        </p:nvSpPr>
        <p:spPr>
          <a:xfrm>
            <a:off x="4440960" y="213048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7a4b"/>
                </a:solidFill>
                <a:latin typeface="Aptos"/>
              </a:rPr>
              <a:t>Tool prioridad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Shape 10"/>
          <p:cNvSpPr/>
          <p:nvPr/>
        </p:nvSpPr>
        <p:spPr>
          <a:xfrm>
            <a:off x="6048720" y="230400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35" name="Shape 11"/>
          <p:cNvSpPr/>
          <p:nvPr/>
        </p:nvSpPr>
        <p:spPr>
          <a:xfrm>
            <a:off x="6185880" y="192024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96c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36" name="Text 12"/>
          <p:cNvSpPr/>
          <p:nvPr/>
        </p:nvSpPr>
        <p:spPr>
          <a:xfrm>
            <a:off x="6258960" y="213048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d96c06"/>
                </a:solidFill>
                <a:latin typeface="Aptos"/>
              </a:rPr>
              <a:t>Tool política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Shape 13"/>
          <p:cNvSpPr/>
          <p:nvPr/>
        </p:nvSpPr>
        <p:spPr>
          <a:xfrm>
            <a:off x="7866720" y="2304000"/>
            <a:ext cx="11880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38" name="Shape 14"/>
          <p:cNvSpPr/>
          <p:nvPr/>
        </p:nvSpPr>
        <p:spPr>
          <a:xfrm>
            <a:off x="8003880" y="192024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39" name="Text 15"/>
          <p:cNvSpPr/>
          <p:nvPr/>
        </p:nvSpPr>
        <p:spPr>
          <a:xfrm>
            <a:off x="8077320" y="213048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e7a4b"/>
                </a:solidFill>
                <a:latin typeface="Aptos"/>
              </a:rPr>
              <a:t>Tool plan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Shape 16"/>
          <p:cNvSpPr/>
          <p:nvPr/>
        </p:nvSpPr>
        <p:spPr>
          <a:xfrm>
            <a:off x="9684720" y="2304000"/>
            <a:ext cx="119160" cy="360"/>
          </a:xfrm>
          <a:prstGeom prst="line">
            <a:avLst/>
          </a:prstGeom>
          <a:ln w="13970">
            <a:solidFill>
              <a:srgbClr val="6670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41" name="Shape 17"/>
          <p:cNvSpPr/>
          <p:nvPr/>
        </p:nvSpPr>
        <p:spPr>
          <a:xfrm>
            <a:off x="9822240" y="1920240"/>
            <a:ext cx="1653120" cy="78588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42" name="Text 18"/>
          <p:cNvSpPr/>
          <p:nvPr/>
        </p:nvSpPr>
        <p:spPr>
          <a:xfrm>
            <a:off x="9895320" y="2130480"/>
            <a:ext cx="15069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8b1e3f"/>
                </a:solidFill>
                <a:latin typeface="Aptos"/>
              </a:rPr>
              <a:t>Respuesta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Shape 19"/>
          <p:cNvSpPr/>
          <p:nvPr/>
        </p:nvSpPr>
        <p:spPr>
          <a:xfrm>
            <a:off x="822960" y="3246120"/>
            <a:ext cx="3291480" cy="10054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44" name="Shape 20"/>
          <p:cNvSpPr/>
          <p:nvPr/>
        </p:nvSpPr>
        <p:spPr>
          <a:xfrm>
            <a:off x="822960" y="3246120"/>
            <a:ext cx="63720" cy="100548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45" name="Text 21"/>
          <p:cNvSpPr/>
          <p:nvPr/>
        </p:nvSpPr>
        <p:spPr>
          <a:xfrm>
            <a:off x="1024200" y="3410640"/>
            <a:ext cx="294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Estado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Text 22"/>
          <p:cNvSpPr/>
          <p:nvPr/>
        </p:nvSpPr>
        <p:spPr>
          <a:xfrm>
            <a:off x="1024200" y="3749040"/>
            <a:ext cx="294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Historial de pasos, resultados de tools y decisión pendiente.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Shape 23"/>
          <p:cNvSpPr/>
          <p:nvPr/>
        </p:nvSpPr>
        <p:spPr>
          <a:xfrm>
            <a:off x="4434840" y="3246120"/>
            <a:ext cx="3291480" cy="10054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48" name="Shape 24"/>
          <p:cNvSpPr/>
          <p:nvPr/>
        </p:nvSpPr>
        <p:spPr>
          <a:xfrm>
            <a:off x="4434840" y="3246120"/>
            <a:ext cx="63720" cy="100548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49" name="Text 25"/>
          <p:cNvSpPr/>
          <p:nvPr/>
        </p:nvSpPr>
        <p:spPr>
          <a:xfrm>
            <a:off x="4636080" y="3410640"/>
            <a:ext cx="294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Controles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Text 26"/>
          <p:cNvSpPr/>
          <p:nvPr/>
        </p:nvSpPr>
        <p:spPr>
          <a:xfrm>
            <a:off x="4636080" y="3749040"/>
            <a:ext cx="294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Máximo de pasos, tools permitidas, sin acciones reales.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Shape 27"/>
          <p:cNvSpPr/>
          <p:nvPr/>
        </p:nvSpPr>
        <p:spPr>
          <a:xfrm>
            <a:off x="8046720" y="3246120"/>
            <a:ext cx="3291480" cy="10054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52" name="Shape 28"/>
          <p:cNvSpPr/>
          <p:nvPr/>
        </p:nvSpPr>
        <p:spPr>
          <a:xfrm>
            <a:off x="8046720" y="3246120"/>
            <a:ext cx="63720" cy="100548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53" name="Text 29"/>
          <p:cNvSpPr/>
          <p:nvPr/>
        </p:nvSpPr>
        <p:spPr>
          <a:xfrm>
            <a:off x="8247960" y="3410640"/>
            <a:ext cx="2944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Trazas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Text 30"/>
          <p:cNvSpPr/>
          <p:nvPr/>
        </p:nvSpPr>
        <p:spPr>
          <a:xfrm>
            <a:off x="8247960" y="3749040"/>
            <a:ext cx="294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Qué tool pidió, qué devolvió y por qué respondió.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PlaceHolder 1"/>
          <p:cNvSpPr>
            <a:spLocks noGrp="1"/>
          </p:cNvSpPr>
          <p:nvPr>
            <p:ph type="sldNum" idx="42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28BDF13-C222-47EA-97BE-46F39903692C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45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Tools de la demo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Todas son simuladas, controladas y seguras para clase.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58" name="Table 0"/>
          <p:cNvGraphicFramePr/>
          <p:nvPr/>
        </p:nvGraphicFramePr>
        <p:xfrm>
          <a:off x="621720" y="1508760"/>
          <a:ext cx="10606680" cy="4663080"/>
        </p:xfrm>
        <a:graphic>
          <a:graphicData uri="http://schemas.openxmlformats.org/drawingml/2006/table">
            <a:tbl>
              <a:tblPr/>
              <a:tblGrid>
                <a:gridCol w="3840480"/>
                <a:gridCol w="4023360"/>
                <a:gridCol w="2743200"/>
              </a:tblGrid>
              <a:tr h="116568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6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Tool</a:t>
                      </a:r>
                      <a:endParaRPr b="0" lang="es-ES" sz="96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6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Qué hace</a:t>
                      </a:r>
                      <a:endParaRPr b="0" lang="es-ES" sz="96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6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Riesgo</a:t>
                      </a:r>
                      <a:endParaRPr b="0" lang="es-ES" sz="96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</a:tr>
              <a:tr h="116568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calcular_prioridad(impacto, urgencia)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Devuelve baja / media / alta.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Bajo: regla determinística.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116568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consultar_politica_soporte(tipo)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Devuelve una política ficticia.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Bajo: solo lectura.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6568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generar_plan_accion(categoria, prioridad)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Sugiere pasos de atención.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Medio: debe ser revisado.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859" name="PlaceHolder 1"/>
          <p:cNvSpPr>
            <a:spLocks noGrp="1"/>
          </p:cNvSpPr>
          <p:nvPr>
            <p:ph type="sldNum" idx="43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6E52BC6-F2D5-4136-BCCB-8326A1C22533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45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Demo · Paso 1: imports y modelo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Configurar el agente con modelo y tools.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Shape 2"/>
          <p:cNvSpPr/>
          <p:nvPr/>
        </p:nvSpPr>
        <p:spPr>
          <a:xfrm>
            <a:off x="777240" y="1417320"/>
            <a:ext cx="5668920" cy="3017160"/>
          </a:xfrm>
          <a:prstGeom prst="roundRect">
            <a:avLst>
              <a:gd name="adj" fmla="val 1818"/>
            </a:avLst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63" name="Text 3"/>
          <p:cNvSpPr/>
          <p:nvPr/>
        </p:nvSpPr>
        <p:spPr>
          <a:xfrm>
            <a:off x="960120" y="1645920"/>
            <a:ext cx="5303160" cy="23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import os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from langchain_openai import ChatOpenAI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from langchain.agents import create_agent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from langchain_core.tools import tool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9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model = ChatOpenAI(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    </a:t>
            </a: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model=os.getenv("OPENAI_MODEL", "gpt-4.1-mini"),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    </a:t>
            </a: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temperature=0.2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)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Shape 4"/>
          <p:cNvSpPr/>
          <p:nvPr/>
        </p:nvSpPr>
        <p:spPr>
          <a:xfrm>
            <a:off x="6812280" y="1508760"/>
            <a:ext cx="4434480" cy="10054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65" name="Shape 5"/>
          <p:cNvSpPr/>
          <p:nvPr/>
        </p:nvSpPr>
        <p:spPr>
          <a:xfrm>
            <a:off x="6812280" y="1508760"/>
            <a:ext cx="63720" cy="100548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66" name="Text 6"/>
          <p:cNvSpPr/>
          <p:nvPr/>
        </p:nvSpPr>
        <p:spPr>
          <a:xfrm>
            <a:off x="7013520" y="1673280"/>
            <a:ext cx="408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Lectura arquitectónica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Text 7"/>
          <p:cNvSpPr/>
          <p:nvPr/>
        </p:nvSpPr>
        <p:spPr>
          <a:xfrm>
            <a:off x="7013520" y="2011680"/>
            <a:ext cx="408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El modelo viene desde configuración; no desde código fijo.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Shape 8"/>
          <p:cNvSpPr/>
          <p:nvPr/>
        </p:nvSpPr>
        <p:spPr>
          <a:xfrm>
            <a:off x="6812280" y="2788920"/>
            <a:ext cx="4434480" cy="10054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69" name="Shape 9"/>
          <p:cNvSpPr/>
          <p:nvPr/>
        </p:nvSpPr>
        <p:spPr>
          <a:xfrm>
            <a:off x="6812280" y="2788920"/>
            <a:ext cx="63720" cy="100548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70" name="Text 10"/>
          <p:cNvSpPr/>
          <p:nvPr/>
        </p:nvSpPr>
        <p:spPr>
          <a:xfrm>
            <a:off x="7013520" y="2953440"/>
            <a:ext cx="408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Punto de control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Text 11"/>
          <p:cNvSpPr/>
          <p:nvPr/>
        </p:nvSpPr>
        <p:spPr>
          <a:xfrm>
            <a:off x="7013520" y="3291840"/>
            <a:ext cx="408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Temperatura baja para reducir variabilidad en mesa de ayuda.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Shape 12"/>
          <p:cNvSpPr/>
          <p:nvPr/>
        </p:nvSpPr>
        <p:spPr>
          <a:xfrm>
            <a:off x="6812280" y="4069080"/>
            <a:ext cx="4434480" cy="10054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73" name="Shape 13"/>
          <p:cNvSpPr/>
          <p:nvPr/>
        </p:nvSpPr>
        <p:spPr>
          <a:xfrm>
            <a:off x="6812280" y="4069080"/>
            <a:ext cx="63720" cy="100548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74" name="Text 14"/>
          <p:cNvSpPr/>
          <p:nvPr/>
        </p:nvSpPr>
        <p:spPr>
          <a:xfrm>
            <a:off x="7013520" y="4233600"/>
            <a:ext cx="408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Operación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Text 15"/>
          <p:cNvSpPr/>
          <p:nvPr/>
        </p:nvSpPr>
        <p:spPr>
          <a:xfrm>
            <a:off x="7013520" y="4572000"/>
            <a:ext cx="408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En producción se registran modelo, costo, latencia y errores.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PlaceHolder 1"/>
          <p:cNvSpPr>
            <a:spLocks noGrp="1"/>
          </p:cNvSpPr>
          <p:nvPr>
            <p:ph type="sldNum" idx="44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ABF7948-81A5-43FF-9A38-9962B8DC2A60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47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Demo · Paso 2: definir tools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Cada tool tiene una responsabilidad pequeña y validable.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Shape 2"/>
          <p:cNvSpPr/>
          <p:nvPr/>
        </p:nvSpPr>
        <p:spPr>
          <a:xfrm>
            <a:off x="777240" y="1325880"/>
            <a:ext cx="10652400" cy="3794400"/>
          </a:xfrm>
          <a:prstGeom prst="roundRect">
            <a:avLst>
              <a:gd name="adj" fmla="val 1446"/>
            </a:avLst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80" name="Text 3"/>
          <p:cNvSpPr/>
          <p:nvPr/>
        </p:nvSpPr>
        <p:spPr>
          <a:xfrm>
            <a:off x="1005840" y="1572840"/>
            <a:ext cx="101952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@tool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def calcular_prioridad(impacto: int, urgencia: int) -&gt; str: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    </a:t>
            </a: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"""Calcula prioridad con escala 1 a 5."""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    </a:t>
            </a: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score = impacto * urgencia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    </a:t>
            </a: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if score &gt;= 16: return "alta"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    </a:t>
            </a: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if score &gt;= 8: return "media"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    </a:t>
            </a: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return "baja"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92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@tool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def consultar_politica_soporte(tipo: str) -&gt; str: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    </a:t>
            </a: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"""Consulta política ficticia de soporte interno."""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    </a:t>
            </a: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return POLITICAS.get(tipo, "No hay política específica.")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Text 4"/>
          <p:cNvSpPr/>
          <p:nvPr/>
        </p:nvSpPr>
        <p:spPr>
          <a:xfrm>
            <a:off x="914400" y="5513760"/>
            <a:ext cx="10240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8b1e3f"/>
                </a:solidFill>
                <a:latin typeface="Aptos"/>
              </a:rPr>
              <a:t>Lectura: una tool debería ser fácil de probar sin modelo. Si no se puede testear sola, probablemente está mal diseñada.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PlaceHolder 1"/>
          <p:cNvSpPr>
            <a:spLocks noGrp="1"/>
          </p:cNvSpPr>
          <p:nvPr>
            <p:ph type="sldNum" idx="45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299A666-16BF-4A2F-A289-97E172AE14A9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48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Demo · Paso 3: crear agente controlado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El system prompt define límites y comportamiento esperado.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Shape 2"/>
          <p:cNvSpPr/>
          <p:nvPr/>
        </p:nvSpPr>
        <p:spPr>
          <a:xfrm>
            <a:off x="777240" y="1234440"/>
            <a:ext cx="10652400" cy="4297320"/>
          </a:xfrm>
          <a:prstGeom prst="roundRect">
            <a:avLst>
              <a:gd name="adj" fmla="val 1277"/>
            </a:avLst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86" name="Text 3"/>
          <p:cNvSpPr/>
          <p:nvPr/>
        </p:nvSpPr>
        <p:spPr>
          <a:xfrm>
            <a:off x="1005840" y="1481400"/>
            <a:ext cx="10195200" cy="37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agent = create_agent(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    </a:t>
            </a: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model=model,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tools=[calcular_prioridad, consultar_politica_soporte, generar_plan_accion]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    </a:t>
            </a: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system_prompt="""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Eres un agente de mesa de ayuda.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Usa tools solo si aportan valor.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Si falta información, pide aclaración.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No cierres tickets ni ejecutes acciones reales.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Prioridad alta requiere revisión humana.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Responde breve y con plan de acción.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"""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)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PlaceHolder 1"/>
          <p:cNvSpPr>
            <a:spLocks noGrp="1"/>
          </p:cNvSpPr>
          <p:nvPr>
            <p:ph type="sldNum" idx="46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069E2A1-529C-4896-B56C-90F75BD2F60E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49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Demo · Paso 4: ejecutar una solicitud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El input es una solicitud abierta; el agente decide si usa tools.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Shape 2"/>
          <p:cNvSpPr/>
          <p:nvPr/>
        </p:nvSpPr>
        <p:spPr>
          <a:xfrm>
            <a:off x="777240" y="1280160"/>
            <a:ext cx="6400440" cy="3611520"/>
          </a:xfrm>
          <a:prstGeom prst="roundRect">
            <a:avLst>
              <a:gd name="adj" fmla="val 1519"/>
            </a:avLst>
          </a:prstGeom>
          <a:solidFill>
            <a:srgbClr val="161b22"/>
          </a:solidFill>
          <a:ln w="12700">
            <a:solidFill>
              <a:srgbClr val="161b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91" name="Text 3"/>
          <p:cNvSpPr/>
          <p:nvPr/>
        </p:nvSpPr>
        <p:spPr>
          <a:xfrm>
            <a:off x="1005840" y="1527120"/>
            <a:ext cx="5988960" cy="30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respuesta = agent.invoke({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    </a:t>
            </a: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"messages": [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        </a:t>
            </a: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{"role": "user", "content": """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No puedo entrar al portal de ventas.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Tengo que cerrar una propuesta antes de las 12:00.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El sistema dice credenciales inválidas.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"""}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    </a:t>
            </a: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]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})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91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6edf3"/>
                </a:solidFill>
                <a:latin typeface="Aptos Mono"/>
                <a:ea typeface="Aptos Mono"/>
              </a:rPr>
              <a:t>print(respuesta)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Shape 4"/>
          <p:cNvSpPr/>
          <p:nvPr/>
        </p:nvSpPr>
        <p:spPr>
          <a:xfrm>
            <a:off x="7635240" y="1371600"/>
            <a:ext cx="3611520" cy="914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93" name="Shape 5"/>
          <p:cNvSpPr/>
          <p:nvPr/>
        </p:nvSpPr>
        <p:spPr>
          <a:xfrm>
            <a:off x="7635240" y="1371600"/>
            <a:ext cx="63720" cy="91404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94" name="Text 6"/>
          <p:cNvSpPr/>
          <p:nvPr/>
        </p:nvSpPr>
        <p:spPr>
          <a:xfrm>
            <a:off x="7836480" y="1536120"/>
            <a:ext cx="3264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Qué observar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5" name="Text 7"/>
          <p:cNvSpPr/>
          <p:nvPr/>
        </p:nvSpPr>
        <p:spPr>
          <a:xfrm>
            <a:off x="7836480" y="1874520"/>
            <a:ext cx="326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3333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¿Calculó prioridad? ¿Consultó política? ¿Pide más datos?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Shape 8"/>
          <p:cNvSpPr/>
          <p:nvPr/>
        </p:nvSpPr>
        <p:spPr>
          <a:xfrm>
            <a:off x="7635240" y="2560320"/>
            <a:ext cx="3611520" cy="914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97" name="Shape 9"/>
          <p:cNvSpPr/>
          <p:nvPr/>
        </p:nvSpPr>
        <p:spPr>
          <a:xfrm>
            <a:off x="7635240" y="2560320"/>
            <a:ext cx="63720" cy="91404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98" name="Text 10"/>
          <p:cNvSpPr/>
          <p:nvPr/>
        </p:nvSpPr>
        <p:spPr>
          <a:xfrm>
            <a:off x="7836480" y="2724840"/>
            <a:ext cx="3264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Qué evitar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9" name="Text 11"/>
          <p:cNvSpPr/>
          <p:nvPr/>
        </p:nvSpPr>
        <p:spPr>
          <a:xfrm>
            <a:off x="7836480" y="3063240"/>
            <a:ext cx="326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3333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Que cierre ticket, cambie cuenta o prometa solución.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Shape 12"/>
          <p:cNvSpPr/>
          <p:nvPr/>
        </p:nvSpPr>
        <p:spPr>
          <a:xfrm>
            <a:off x="7635240" y="3749040"/>
            <a:ext cx="3611520" cy="914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01" name="Shape 13"/>
          <p:cNvSpPr/>
          <p:nvPr/>
        </p:nvSpPr>
        <p:spPr>
          <a:xfrm>
            <a:off x="7635240" y="3749040"/>
            <a:ext cx="63720" cy="91404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02" name="Text 14"/>
          <p:cNvSpPr/>
          <p:nvPr/>
        </p:nvSpPr>
        <p:spPr>
          <a:xfrm>
            <a:off x="7836480" y="3913560"/>
            <a:ext cx="3264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Qué registrar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Text 15"/>
          <p:cNvSpPr/>
          <p:nvPr/>
        </p:nvSpPr>
        <p:spPr>
          <a:xfrm>
            <a:off x="7836480" y="4251960"/>
            <a:ext cx="326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6666" lnSpcReduction="10000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344054"/>
                </a:solidFill>
                <a:latin typeface="Aptos"/>
                <a:ea typeface="Aptos"/>
              </a:rPr>
              <a:t>Tool usada, respuesta, costo, latencia y fallback.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PlaceHolder 1"/>
          <p:cNvSpPr>
            <a:spLocks noGrp="1"/>
          </p:cNvSpPr>
          <p:nvPr>
            <p:ph type="sldNum" idx="47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CE42718-2641-4A52-AD8C-68D8A0186309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50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Demo · Resultado esperado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La respuesta debe mostrar criterio, no solo texto bonito.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Shape 2"/>
          <p:cNvSpPr/>
          <p:nvPr/>
        </p:nvSpPr>
        <p:spPr>
          <a:xfrm>
            <a:off x="685800" y="132588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08" name="Shape 3"/>
          <p:cNvSpPr/>
          <p:nvPr/>
        </p:nvSpPr>
        <p:spPr>
          <a:xfrm>
            <a:off x="685800" y="1325880"/>
            <a:ext cx="63720" cy="52992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09" name="Text 4"/>
          <p:cNvSpPr/>
          <p:nvPr/>
        </p:nvSpPr>
        <p:spPr>
          <a:xfrm>
            <a:off x="900000" y="136440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1. Prioridad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Text 5"/>
          <p:cNvSpPr/>
          <p:nvPr/>
        </p:nvSpPr>
        <p:spPr>
          <a:xfrm>
            <a:off x="900000" y="16200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Alta, por impacto comercial y plazo cercano.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Shape 6"/>
          <p:cNvSpPr/>
          <p:nvPr/>
        </p:nvSpPr>
        <p:spPr>
          <a:xfrm>
            <a:off x="685800" y="198432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12" name="Shape 7"/>
          <p:cNvSpPr/>
          <p:nvPr/>
        </p:nvSpPr>
        <p:spPr>
          <a:xfrm>
            <a:off x="685800" y="1984320"/>
            <a:ext cx="63720" cy="52992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13" name="Text 8"/>
          <p:cNvSpPr/>
          <p:nvPr/>
        </p:nvSpPr>
        <p:spPr>
          <a:xfrm>
            <a:off x="900000" y="198432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2. Acción sugerida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Text 9"/>
          <p:cNvSpPr/>
          <p:nvPr/>
        </p:nvSpPr>
        <p:spPr>
          <a:xfrm>
            <a:off x="900000" y="223992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Revisar credenciales, bloqueo de cuenta y acceso al portal.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Shape 10"/>
          <p:cNvSpPr/>
          <p:nvPr/>
        </p:nvSpPr>
        <p:spPr>
          <a:xfrm>
            <a:off x="685800" y="264276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16" name="Shape 11"/>
          <p:cNvSpPr/>
          <p:nvPr/>
        </p:nvSpPr>
        <p:spPr>
          <a:xfrm>
            <a:off x="685800" y="2642760"/>
            <a:ext cx="63720" cy="52992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17" name="Text 12"/>
          <p:cNvSpPr/>
          <p:nvPr/>
        </p:nvSpPr>
        <p:spPr>
          <a:xfrm>
            <a:off x="887040" y="263304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3. Política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Text 13"/>
          <p:cNvSpPr/>
          <p:nvPr/>
        </p:nvSpPr>
        <p:spPr>
          <a:xfrm>
            <a:off x="900000" y="29142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Derivar a soporte TI si afecta operación crítica.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Shape 14"/>
          <p:cNvSpPr/>
          <p:nvPr/>
        </p:nvSpPr>
        <p:spPr>
          <a:xfrm>
            <a:off x="685800" y="330084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20" name="Shape 15"/>
          <p:cNvSpPr/>
          <p:nvPr/>
        </p:nvSpPr>
        <p:spPr>
          <a:xfrm>
            <a:off x="685800" y="3300840"/>
            <a:ext cx="63720" cy="529920"/>
          </a:xfrm>
          <a:prstGeom prst="rect">
            <a:avLst/>
          </a:prstGeom>
          <a:solidFill>
            <a:srgbClr val="d96c06"/>
          </a:solidFill>
          <a:ln w="12700">
            <a:solidFill>
              <a:srgbClr val="d96c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21" name="Text 16"/>
          <p:cNvSpPr/>
          <p:nvPr/>
        </p:nvSpPr>
        <p:spPr>
          <a:xfrm>
            <a:off x="887040" y="334440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4. Límite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Text 17"/>
          <p:cNvSpPr/>
          <p:nvPr/>
        </p:nvSpPr>
        <p:spPr>
          <a:xfrm>
            <a:off x="887040" y="36000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No cerrar ni modificar cuenta automáticamente.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Shape 18"/>
          <p:cNvSpPr/>
          <p:nvPr/>
        </p:nvSpPr>
        <p:spPr>
          <a:xfrm>
            <a:off x="685800" y="395928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24" name="Shape 19"/>
          <p:cNvSpPr/>
          <p:nvPr/>
        </p:nvSpPr>
        <p:spPr>
          <a:xfrm>
            <a:off x="685800" y="3959280"/>
            <a:ext cx="63720" cy="52992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25" name="Text 20"/>
          <p:cNvSpPr/>
          <p:nvPr/>
        </p:nvSpPr>
        <p:spPr>
          <a:xfrm>
            <a:off x="887040" y="395928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5. Control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" name="Text 21"/>
          <p:cNvSpPr/>
          <p:nvPr/>
        </p:nvSpPr>
        <p:spPr>
          <a:xfrm>
            <a:off x="900000" y="421488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Revisión humana o escalamiento si no se resuelve antes del plazo.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7" name="Shape 22"/>
          <p:cNvSpPr/>
          <p:nvPr/>
        </p:nvSpPr>
        <p:spPr>
          <a:xfrm>
            <a:off x="685800" y="5596200"/>
            <a:ext cx="10835280" cy="438480"/>
          </a:xfrm>
          <a:prstGeom prst="roundRect">
            <a:avLst>
              <a:gd name="adj" fmla="val 12500"/>
            </a:avLst>
          </a:prstGeom>
          <a:solidFill>
            <a:srgbClr val="f6e8ee"/>
          </a:solidFill>
          <a:ln w="12700">
            <a:solidFill>
              <a:srgbClr val="e7c5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28" name="Text 23"/>
          <p:cNvSpPr/>
          <p:nvPr/>
        </p:nvSpPr>
        <p:spPr>
          <a:xfrm>
            <a:off x="868680" y="5715000"/>
            <a:ext cx="10469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8b1e3f"/>
                </a:solidFill>
                <a:latin typeface="Aptos"/>
              </a:rPr>
              <a:t>Lo importante es ver agent loop + tools + límites + trazabilidad.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9" name="PlaceHolder 1"/>
          <p:cNvSpPr>
            <a:spLocks noGrp="1"/>
          </p:cNvSpPr>
          <p:nvPr>
            <p:ph type="sldNum" idx="48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6261E50-75CF-4CBF-A4B3-0C5F99C6906D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51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Demo · Casos para probar límites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1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Una buena demo muestra éxito, ambigüedad y fuera de alcance.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32" name="Table 0"/>
          <p:cNvGraphicFramePr/>
          <p:nvPr/>
        </p:nvGraphicFramePr>
        <p:xfrm>
          <a:off x="621720" y="1371600"/>
          <a:ext cx="10606680" cy="4663080"/>
        </p:xfrm>
        <a:graphic>
          <a:graphicData uri="http://schemas.openxmlformats.org/drawingml/2006/table">
            <a:tbl>
              <a:tblPr/>
              <a:tblGrid>
                <a:gridCol w="1828800"/>
                <a:gridCol w="4937760"/>
                <a:gridCol w="3840480"/>
              </a:tblGrid>
              <a:tr h="9324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1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Caso</a:t>
                      </a:r>
                      <a:endParaRPr b="0" lang="es-ES" sz="91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1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Input</a:t>
                      </a:r>
                      <a:endParaRPr b="0" lang="es-ES" sz="91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1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Resultado esperado</a:t>
                      </a:r>
                      <a:endParaRPr b="0" lang="es-ES" sz="91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</a:tr>
              <a:tr h="9324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Normal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No puedo entrar al portal de ventas antes de las 12:00.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Prioridad alta + plan + revisión.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9324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Ambiguo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No me funciona lo de siempre.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Pedir aclaración.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24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Fuera de alcance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Cambia mi sueldo en el sistema.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Bloquear / escalar.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9324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Tool fallida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Tipo de política inexistente.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88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Declarar límite y sugerir soporte.</a:t>
                      </a:r>
                      <a:endParaRPr b="0" lang="es-ES" sz="88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33" name="PlaceHolder 1"/>
          <p:cNvSpPr>
            <a:spLocks noGrp="1"/>
          </p:cNvSpPr>
          <p:nvPr>
            <p:ph type="sldNum" idx="49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A4DB8FF-96DA-4BDD-B79C-C1714686B3DF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51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35" name="Shape 1"/>
          <p:cNvSpPr/>
          <p:nvPr/>
        </p:nvSpPr>
        <p:spPr>
          <a:xfrm>
            <a:off x="0" y="0"/>
            <a:ext cx="4251600" cy="685764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36" name="Text 2"/>
          <p:cNvSpPr/>
          <p:nvPr/>
        </p:nvSpPr>
        <p:spPr>
          <a:xfrm>
            <a:off x="658440" y="105156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9d9e4"/>
                </a:solidFill>
                <a:latin typeface="Aptos"/>
              </a:rPr>
              <a:t>ACTIVIDAD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" name="Text 3"/>
          <p:cNvSpPr/>
          <p:nvPr/>
        </p:nvSpPr>
        <p:spPr>
          <a:xfrm>
            <a:off x="658440" y="1508760"/>
            <a:ext cx="1096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ptos"/>
              </a:rPr>
              <a:t>07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Text 4"/>
          <p:cNvSpPr/>
          <p:nvPr/>
        </p:nvSpPr>
        <p:spPr>
          <a:xfrm>
            <a:off x="658440" y="2148840"/>
            <a:ext cx="32457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Actividad práctica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Text 5"/>
          <p:cNvSpPr/>
          <p:nvPr/>
        </p:nvSpPr>
        <p:spPr>
          <a:xfrm>
            <a:off x="4892040" y="2331720"/>
            <a:ext cx="6217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72033"/>
                </a:solidFill>
                <a:latin typeface="Aptos"/>
              </a:rPr>
              <a:t>Agregar capa de datos, tools, evaluación y operación al flujo de Clase 3.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Shape 6"/>
          <p:cNvSpPr/>
          <p:nvPr/>
        </p:nvSpPr>
        <p:spPr>
          <a:xfrm>
            <a:off x="4892040" y="3246120"/>
            <a:ext cx="4206240" cy="360"/>
          </a:xfrm>
          <a:prstGeom prst="line">
            <a:avLst/>
          </a:prstGeom>
          <a:ln w="1778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Actividad: convertir el flujo en piloto controlado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2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Tiempo sugerido: 20 minutos · modalidad individual.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" name="Shape 2"/>
          <p:cNvSpPr/>
          <p:nvPr/>
        </p:nvSpPr>
        <p:spPr>
          <a:xfrm>
            <a:off x="685800" y="132588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44" name="Shape 3"/>
          <p:cNvSpPr/>
          <p:nvPr/>
        </p:nvSpPr>
        <p:spPr>
          <a:xfrm>
            <a:off x="685800" y="1325880"/>
            <a:ext cx="63720" cy="52992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45" name="Text 4"/>
          <p:cNvSpPr/>
          <p:nvPr/>
        </p:nvSpPr>
        <p:spPr>
          <a:xfrm>
            <a:off x="887040" y="136440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1. Usar el flujo de Clase 3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6" name="Text 5"/>
          <p:cNvSpPr/>
          <p:nvPr/>
        </p:nvSpPr>
        <p:spPr>
          <a:xfrm>
            <a:off x="900000" y="16200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No volver a explicar todo el problema ni redibujar el flujo completo.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7" name="Shape 6"/>
          <p:cNvSpPr/>
          <p:nvPr/>
        </p:nvSpPr>
        <p:spPr>
          <a:xfrm>
            <a:off x="685800" y="198432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48" name="Shape 7"/>
          <p:cNvSpPr/>
          <p:nvPr/>
        </p:nvSpPr>
        <p:spPr>
          <a:xfrm>
            <a:off x="685800" y="1984320"/>
            <a:ext cx="63720" cy="52992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49" name="Text 8"/>
          <p:cNvSpPr/>
          <p:nvPr/>
        </p:nvSpPr>
        <p:spPr>
          <a:xfrm>
            <a:off x="900000" y="198432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2. Agregar capa práctica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0" name="Text 9"/>
          <p:cNvSpPr/>
          <p:nvPr/>
        </p:nvSpPr>
        <p:spPr>
          <a:xfrm>
            <a:off x="900000" y="223992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Datos, tool/autonomía, evaluación y operación mínima.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1" name="Shape 10"/>
          <p:cNvSpPr/>
          <p:nvPr/>
        </p:nvSpPr>
        <p:spPr>
          <a:xfrm>
            <a:off x="685800" y="264276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52" name="Shape 11"/>
          <p:cNvSpPr/>
          <p:nvPr/>
        </p:nvSpPr>
        <p:spPr>
          <a:xfrm>
            <a:off x="685800" y="2642760"/>
            <a:ext cx="63720" cy="52992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53" name="Text 12"/>
          <p:cNvSpPr/>
          <p:nvPr/>
        </p:nvSpPr>
        <p:spPr>
          <a:xfrm>
            <a:off x="900000" y="264276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3. Pensar como piloto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Text 13"/>
          <p:cNvSpPr/>
          <p:nvPr/>
        </p:nvSpPr>
        <p:spPr>
          <a:xfrm>
            <a:off x="900000" y="29142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Qué necesita la solución para probarse de forma segura.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5" name="Shape 14"/>
          <p:cNvSpPr/>
          <p:nvPr/>
        </p:nvSpPr>
        <p:spPr>
          <a:xfrm>
            <a:off x="685800" y="330084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56" name="Shape 15"/>
          <p:cNvSpPr/>
          <p:nvPr/>
        </p:nvSpPr>
        <p:spPr>
          <a:xfrm>
            <a:off x="685800" y="3300840"/>
            <a:ext cx="63720" cy="529920"/>
          </a:xfrm>
          <a:prstGeom prst="rect">
            <a:avLst/>
          </a:prstGeom>
          <a:solidFill>
            <a:srgbClr val="d96c06"/>
          </a:solidFill>
          <a:ln w="12700">
            <a:solidFill>
              <a:srgbClr val="d96c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57" name="Text 16"/>
          <p:cNvSpPr/>
          <p:nvPr/>
        </p:nvSpPr>
        <p:spPr>
          <a:xfrm>
            <a:off x="887040" y="330084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4. Separar sugerir de ejecutar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8" name="Text 17"/>
          <p:cNvSpPr/>
          <p:nvPr/>
        </p:nvSpPr>
        <p:spPr>
          <a:xfrm>
            <a:off x="900000" y="36000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Definir qué puede hacer solo y qué requiere aprobación humana.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" name="Shape 18"/>
          <p:cNvSpPr/>
          <p:nvPr/>
        </p:nvSpPr>
        <p:spPr>
          <a:xfrm>
            <a:off x="685800" y="395928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60" name="Shape 19"/>
          <p:cNvSpPr/>
          <p:nvPr/>
        </p:nvSpPr>
        <p:spPr>
          <a:xfrm>
            <a:off x="685800" y="3959280"/>
            <a:ext cx="63720" cy="52992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61" name="Text 20"/>
          <p:cNvSpPr/>
          <p:nvPr/>
        </p:nvSpPr>
        <p:spPr>
          <a:xfrm>
            <a:off x="887040" y="395928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5. Dejar evidencia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2" name="Text 21"/>
          <p:cNvSpPr/>
          <p:nvPr/>
        </p:nvSpPr>
        <p:spPr>
          <a:xfrm>
            <a:off x="887040" y="421488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Explicar cómo se medirá, registrará y escalará.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3" name="Shape 22"/>
          <p:cNvSpPr/>
          <p:nvPr/>
        </p:nvSpPr>
        <p:spPr>
          <a:xfrm>
            <a:off x="685800" y="5596200"/>
            <a:ext cx="10835280" cy="438480"/>
          </a:xfrm>
          <a:prstGeom prst="roundRect">
            <a:avLst>
              <a:gd name="adj" fmla="val 12500"/>
            </a:avLst>
          </a:prstGeom>
          <a:solidFill>
            <a:srgbClr val="f6e8ee"/>
          </a:solidFill>
          <a:ln w="12700">
            <a:solidFill>
              <a:srgbClr val="e7c5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64" name="Text 23"/>
          <p:cNvSpPr/>
          <p:nvPr/>
        </p:nvSpPr>
        <p:spPr>
          <a:xfrm>
            <a:off x="868680" y="5715000"/>
            <a:ext cx="10469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8b1e3f"/>
                </a:solidFill>
                <a:latin typeface="Aptos"/>
              </a:rPr>
              <a:t>Clase 3 diseñó el flujo. Clase 4 define cómo se alimenta, controla, evalúa y opera.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5" name="PlaceHolder 1"/>
          <p:cNvSpPr>
            <a:spLocks noGrp="1"/>
          </p:cNvSpPr>
          <p:nvPr>
            <p:ph type="sldNum" idx="50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0635B64-5C24-4AF2-9FCD-61FAF2250C71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54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Plantilla de actividad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7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Completar cuatro campos nuevos, sin repetir la actividad anterior.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68" name="Table 0"/>
          <p:cNvGraphicFramePr/>
          <p:nvPr/>
        </p:nvGraphicFramePr>
        <p:xfrm>
          <a:off x="621720" y="1554480"/>
          <a:ext cx="10606680" cy="4663080"/>
        </p:xfrm>
        <a:graphic>
          <a:graphicData uri="http://schemas.openxmlformats.org/drawingml/2006/table">
            <a:tbl>
              <a:tblPr/>
              <a:tblGrid>
                <a:gridCol w="2834640"/>
                <a:gridCol w="7772400"/>
              </a:tblGrid>
              <a:tr h="9324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Campo</a:t>
                      </a:r>
                      <a:endParaRPr b="0" lang="es-E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Qué deben entregar</a:t>
                      </a:r>
                      <a:endParaRPr b="0" lang="es-E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</a:tr>
              <a:tr h="9324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1. Datos o fuentes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Documentos, BD, planillas, APIs o sistemas; indicar calidad, permisos y actualización.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9324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2. Tool y autonomía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Qué función externa usaría; qué puede hacer solo y qué requiere aprobación.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24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3. Evaluación mínima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Tres casos: normal, ambiguo y fuera de alcance, con resultado esperado.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9324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4. Operación mínima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Logs, métrica de éxito, fallback, responsable y condición para detener/escalar.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69" name="PlaceHolder 1"/>
          <p:cNvSpPr>
            <a:spLocks noGrp="1"/>
          </p:cNvSpPr>
          <p:nvPr>
            <p:ph type="sldNum" idx="51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DDB6C9B-1A24-4916-9196-7130AA298FD6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54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Ejemplo de respuesta esperada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1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Caso: agente controlado de mesa de ayuda.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72" name="Table 0"/>
          <p:cNvGraphicFramePr/>
          <p:nvPr/>
        </p:nvGraphicFramePr>
        <p:xfrm>
          <a:off x="621720" y="1417320"/>
          <a:ext cx="10606680" cy="4663080"/>
        </p:xfrm>
        <a:graphic>
          <a:graphicData uri="http://schemas.openxmlformats.org/drawingml/2006/table">
            <a:tbl>
              <a:tblPr/>
              <a:tblGrid>
                <a:gridCol w="2743200"/>
                <a:gridCol w="7863840"/>
              </a:tblGrid>
              <a:tr h="9324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Campo</a:t>
                      </a:r>
                      <a:endParaRPr b="0" lang="es-E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Respuesta esperada</a:t>
                      </a:r>
                      <a:endParaRPr b="0" lang="es-E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</a:tr>
              <a:tr h="9324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Datos/fuentes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Manual de soporte, políticas de acceso, base de tickets históricos. Calidad: documentos oficiales, actualización mensual.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9324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Tool/autonomía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calcular_prioridad y consultar_politica. No cierra tickets sin aprobación.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24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Evaluación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Normal: acceso bloqueado. Ambiguo: “no funciona”. Fuera: consulta de sueldo.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93240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Operación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Log de pregunta, tools, respuesta, costo, latencia y responsable de revisión.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73" name="PlaceHolder 1"/>
          <p:cNvSpPr>
            <a:spLocks noGrp="1"/>
          </p:cNvSpPr>
          <p:nvPr>
            <p:ph type="sldNum" idx="52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F9E0EB8-C672-4CF6-87C6-DF7BB999F598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54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Criterios de revisión rápida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5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Una propuesta sólida debe ser simple, trazable y defendible.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Shape 2"/>
          <p:cNvSpPr/>
          <p:nvPr/>
        </p:nvSpPr>
        <p:spPr>
          <a:xfrm>
            <a:off x="749520" y="132588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77" name="Shape 3"/>
          <p:cNvSpPr/>
          <p:nvPr/>
        </p:nvSpPr>
        <p:spPr>
          <a:xfrm>
            <a:off x="685800" y="1325880"/>
            <a:ext cx="63720" cy="52992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78" name="Text 4"/>
          <p:cNvSpPr/>
          <p:nvPr/>
        </p:nvSpPr>
        <p:spPr>
          <a:xfrm>
            <a:off x="1032120" y="136440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1. Datos/fuentes claros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9" name="Text 5"/>
          <p:cNvSpPr/>
          <p:nvPr/>
        </p:nvSpPr>
        <p:spPr>
          <a:xfrm>
            <a:off x="1096920" y="16200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Se sabe de dónde sale la información y qué calidad tiene.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0" name="Shape 6"/>
          <p:cNvSpPr/>
          <p:nvPr/>
        </p:nvSpPr>
        <p:spPr>
          <a:xfrm>
            <a:off x="685800" y="198432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81" name="Shape 7"/>
          <p:cNvSpPr/>
          <p:nvPr/>
        </p:nvSpPr>
        <p:spPr>
          <a:xfrm>
            <a:off x="685800" y="1984320"/>
            <a:ext cx="63720" cy="52992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82" name="Text 8"/>
          <p:cNvSpPr/>
          <p:nvPr/>
        </p:nvSpPr>
        <p:spPr>
          <a:xfrm>
            <a:off x="1033200" y="198432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2. Tool/autonomía responsable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3" name="Text 9"/>
          <p:cNvSpPr/>
          <p:nvPr/>
        </p:nvSpPr>
        <p:spPr>
          <a:xfrm>
            <a:off x="1033200" y="223992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   </a:t>
            </a: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Separa sugerir de ejecutar y define aprobación humana.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4" name="Shape 10"/>
          <p:cNvSpPr/>
          <p:nvPr/>
        </p:nvSpPr>
        <p:spPr>
          <a:xfrm>
            <a:off x="685800" y="264276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85" name="Shape 11"/>
          <p:cNvSpPr/>
          <p:nvPr/>
        </p:nvSpPr>
        <p:spPr>
          <a:xfrm>
            <a:off x="685800" y="2642760"/>
            <a:ext cx="63720" cy="52992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86" name="Text 12"/>
          <p:cNvSpPr/>
          <p:nvPr/>
        </p:nvSpPr>
        <p:spPr>
          <a:xfrm>
            <a:off x="1033200" y="264276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3. Evaluación realista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" name="Text 13"/>
          <p:cNvSpPr/>
          <p:nvPr/>
        </p:nvSpPr>
        <p:spPr>
          <a:xfrm>
            <a:off x="1033200" y="29142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   </a:t>
            </a: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Incluye caso normal, ambiguo y fuera de alcance.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Shape 14"/>
          <p:cNvSpPr/>
          <p:nvPr/>
        </p:nvSpPr>
        <p:spPr>
          <a:xfrm>
            <a:off x="685800" y="330084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89" name="Shape 15"/>
          <p:cNvSpPr/>
          <p:nvPr/>
        </p:nvSpPr>
        <p:spPr>
          <a:xfrm>
            <a:off x="685800" y="3300840"/>
            <a:ext cx="63720" cy="529920"/>
          </a:xfrm>
          <a:prstGeom prst="rect">
            <a:avLst/>
          </a:prstGeom>
          <a:solidFill>
            <a:srgbClr val="d96c06"/>
          </a:solidFill>
          <a:ln w="12700">
            <a:solidFill>
              <a:srgbClr val="d96c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90" name="Text 16"/>
          <p:cNvSpPr/>
          <p:nvPr/>
        </p:nvSpPr>
        <p:spPr>
          <a:xfrm>
            <a:off x="1033200" y="334440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4. Operación mínima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1" name="Text 17"/>
          <p:cNvSpPr/>
          <p:nvPr/>
        </p:nvSpPr>
        <p:spPr>
          <a:xfrm>
            <a:off x="1033200" y="36000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    </a:t>
            </a: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Logs, métrica de éxito, fallback y responsable.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" name="Shape 18"/>
          <p:cNvSpPr/>
          <p:nvPr/>
        </p:nvSpPr>
        <p:spPr>
          <a:xfrm>
            <a:off x="685800" y="395928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93" name="Shape 19"/>
          <p:cNvSpPr/>
          <p:nvPr/>
        </p:nvSpPr>
        <p:spPr>
          <a:xfrm>
            <a:off x="685800" y="3959280"/>
            <a:ext cx="63720" cy="52992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94" name="Text 20"/>
          <p:cNvSpPr/>
          <p:nvPr/>
        </p:nvSpPr>
        <p:spPr>
          <a:xfrm>
            <a:off x="900000" y="394956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5. No sobreingeniería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Text 21"/>
          <p:cNvSpPr/>
          <p:nvPr/>
        </p:nvSpPr>
        <p:spPr>
          <a:xfrm>
            <a:off x="1032120" y="420516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   </a:t>
            </a: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No usa agente si una chain, tool o regla basta.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" name="PlaceHolder 1"/>
          <p:cNvSpPr>
            <a:spLocks noGrp="1"/>
          </p:cNvSpPr>
          <p:nvPr>
            <p:ph type="sldNum" idx="53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93ADD64-6F17-4A81-9C72-A9F2432CAF39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57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98" name="Shape 1"/>
          <p:cNvSpPr/>
          <p:nvPr/>
        </p:nvSpPr>
        <p:spPr>
          <a:xfrm>
            <a:off x="0" y="0"/>
            <a:ext cx="4251600" cy="685764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99" name="Text 2"/>
          <p:cNvSpPr/>
          <p:nvPr/>
        </p:nvSpPr>
        <p:spPr>
          <a:xfrm>
            <a:off x="658440" y="105156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9d9e4"/>
                </a:solidFill>
                <a:latin typeface="Aptos"/>
              </a:rPr>
              <a:t>SÍNTESIS</a:t>
            </a:r>
            <a:endParaRPr b="0" lang="es-E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" name="Text 3"/>
          <p:cNvSpPr/>
          <p:nvPr/>
        </p:nvSpPr>
        <p:spPr>
          <a:xfrm>
            <a:off x="658440" y="1508760"/>
            <a:ext cx="10969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ptos"/>
              </a:rPr>
              <a:t>08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1" name="Text 4"/>
          <p:cNvSpPr/>
          <p:nvPr/>
        </p:nvSpPr>
        <p:spPr>
          <a:xfrm>
            <a:off x="658440" y="2148840"/>
            <a:ext cx="32457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ffffff"/>
                </a:solidFill>
                <a:latin typeface="Aptos Display"/>
                <a:ea typeface="Aptos Display"/>
              </a:rPr>
              <a:t>Cierre y puente a Clase 5</a:t>
            </a:r>
            <a:endParaRPr b="0" lang="es-E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2" name="Text 5"/>
          <p:cNvSpPr/>
          <p:nvPr/>
        </p:nvSpPr>
        <p:spPr>
          <a:xfrm>
            <a:off x="4892040" y="2331720"/>
            <a:ext cx="6217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172033"/>
                </a:solidFill>
                <a:latin typeface="Aptos"/>
              </a:rPr>
              <a:t>La evaluación final integrará las capas trabajadas en el módulo.</a:t>
            </a:r>
            <a:endParaRPr b="0" lang="es-E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" name="Shape 6"/>
          <p:cNvSpPr/>
          <p:nvPr/>
        </p:nvSpPr>
        <p:spPr>
          <a:xfrm>
            <a:off x="4892040" y="3246120"/>
            <a:ext cx="4206240" cy="360"/>
          </a:xfrm>
          <a:prstGeom prst="line">
            <a:avLst/>
          </a:prstGeom>
          <a:ln w="1778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Aprendizajes esenciales de Clase 4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5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Señales de comprensión real al cierre de la sesión.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6" name="Shape 2"/>
          <p:cNvSpPr/>
          <p:nvPr/>
        </p:nvSpPr>
        <p:spPr>
          <a:xfrm>
            <a:off x="685800" y="132588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07" name="Shape 3"/>
          <p:cNvSpPr/>
          <p:nvPr/>
        </p:nvSpPr>
        <p:spPr>
          <a:xfrm>
            <a:off x="685800" y="1325880"/>
            <a:ext cx="63720" cy="52992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08" name="Text 4"/>
          <p:cNvSpPr/>
          <p:nvPr/>
        </p:nvSpPr>
        <p:spPr>
          <a:xfrm>
            <a:off x="887040" y="136440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1. Datos antes que autonomía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9" name="Text 5"/>
          <p:cNvSpPr/>
          <p:nvPr/>
        </p:nvSpPr>
        <p:spPr>
          <a:xfrm>
            <a:off x="887040" y="16542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La calidad, vigencia y estructura de datos condicionan la respuesta.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0" name="Shape 6"/>
          <p:cNvSpPr/>
          <p:nvPr/>
        </p:nvSpPr>
        <p:spPr>
          <a:xfrm>
            <a:off x="685800" y="198432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11" name="Shape 7"/>
          <p:cNvSpPr/>
          <p:nvPr/>
        </p:nvSpPr>
        <p:spPr>
          <a:xfrm>
            <a:off x="685800" y="1984320"/>
            <a:ext cx="63720" cy="52992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12" name="Text 8"/>
          <p:cNvSpPr/>
          <p:nvPr/>
        </p:nvSpPr>
        <p:spPr>
          <a:xfrm>
            <a:off x="900000" y="198432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2. Tools controladas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3" name="Text 9"/>
          <p:cNvSpPr/>
          <p:nvPr/>
        </p:nvSpPr>
        <p:spPr>
          <a:xfrm>
            <a:off x="900000" y="223992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Una tool es función acotada, validada y trazable.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4" name="Shape 10"/>
          <p:cNvSpPr/>
          <p:nvPr/>
        </p:nvSpPr>
        <p:spPr>
          <a:xfrm>
            <a:off x="685800" y="264276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15" name="Shape 11"/>
          <p:cNvSpPr/>
          <p:nvPr/>
        </p:nvSpPr>
        <p:spPr>
          <a:xfrm>
            <a:off x="685800" y="2642760"/>
            <a:ext cx="63720" cy="529920"/>
          </a:xfrm>
          <a:prstGeom prst="rect">
            <a:avLst/>
          </a:prstGeom>
          <a:solidFill>
            <a:srgbClr val="1e7a4b"/>
          </a:solidFill>
          <a:ln w="12700">
            <a:solidFill>
              <a:srgbClr val="1e7a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16" name="Text 12"/>
          <p:cNvSpPr/>
          <p:nvPr/>
        </p:nvSpPr>
        <p:spPr>
          <a:xfrm>
            <a:off x="900000" y="264276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3. MCP estandariza conexión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7" name="Text 13"/>
          <p:cNvSpPr/>
          <p:nvPr/>
        </p:nvSpPr>
        <p:spPr>
          <a:xfrm>
            <a:off x="900000" y="29142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Ayuda a exponer recursos, prompts y tools sin reemplazar controles.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8" name="Shape 14"/>
          <p:cNvSpPr/>
          <p:nvPr/>
        </p:nvSpPr>
        <p:spPr>
          <a:xfrm>
            <a:off x="685800" y="330084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19" name="Shape 15"/>
          <p:cNvSpPr/>
          <p:nvPr/>
        </p:nvSpPr>
        <p:spPr>
          <a:xfrm>
            <a:off x="685800" y="3300840"/>
            <a:ext cx="63720" cy="529920"/>
          </a:xfrm>
          <a:prstGeom prst="rect">
            <a:avLst/>
          </a:prstGeom>
          <a:solidFill>
            <a:srgbClr val="d96c06"/>
          </a:solidFill>
          <a:ln w="12700">
            <a:solidFill>
              <a:srgbClr val="d96c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20" name="Text 16"/>
          <p:cNvSpPr/>
          <p:nvPr/>
        </p:nvSpPr>
        <p:spPr>
          <a:xfrm>
            <a:off x="887040" y="330084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4. Agentes con límites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1" name="Text 17"/>
          <p:cNvSpPr/>
          <p:nvPr/>
        </p:nvSpPr>
        <p:spPr>
          <a:xfrm>
            <a:off x="900000" y="360000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Autonomía implica loops, estado, permisos, guardrails y riesgo.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2" name="Shape 18"/>
          <p:cNvSpPr/>
          <p:nvPr/>
        </p:nvSpPr>
        <p:spPr>
          <a:xfrm>
            <a:off x="685800" y="3959280"/>
            <a:ext cx="10835280" cy="52992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8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23" name="Shape 19"/>
          <p:cNvSpPr/>
          <p:nvPr/>
        </p:nvSpPr>
        <p:spPr>
          <a:xfrm>
            <a:off x="685800" y="3959280"/>
            <a:ext cx="63720" cy="52992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24" name="Text 20"/>
          <p:cNvSpPr/>
          <p:nvPr/>
        </p:nvSpPr>
        <p:spPr>
          <a:xfrm>
            <a:off x="887040" y="3949560"/>
            <a:ext cx="10487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5. Evaluación y operación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5" name="Text 21"/>
          <p:cNvSpPr/>
          <p:nvPr/>
        </p:nvSpPr>
        <p:spPr>
          <a:xfrm>
            <a:off x="900000" y="4205160"/>
            <a:ext cx="1048788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344054"/>
                </a:solidFill>
                <a:latin typeface="Aptos"/>
                <a:ea typeface="Aptos"/>
              </a:rPr>
              <a:t>Sin casos de prueba, trazas, costo, fallback y responsable no hay piloto defendible.</a:t>
            </a:r>
            <a:endParaRPr b="0" lang="es-ES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6" name="PlaceHolder 1"/>
          <p:cNvSpPr>
            <a:spLocks noGrp="1"/>
          </p:cNvSpPr>
          <p:nvPr>
            <p:ph type="sldNum" idx="54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64B1A52-4183-42FC-9EA8-02BA6935A852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59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Puente hacia Clase 5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8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La próxima sesión será evaluación individual con caso nuevo.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29" name="Table 0"/>
          <p:cNvGraphicFramePr/>
          <p:nvPr/>
        </p:nvGraphicFramePr>
        <p:xfrm>
          <a:off x="621720" y="1417320"/>
          <a:ext cx="10606680" cy="4663440"/>
        </p:xfrm>
        <a:graphic>
          <a:graphicData uri="http://schemas.openxmlformats.org/drawingml/2006/table">
            <a:tbl>
              <a:tblPr/>
              <a:tblGrid>
                <a:gridCol w="2103120"/>
                <a:gridCol w="8503920"/>
              </a:tblGrid>
              <a:tr h="7772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6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Clase</a:t>
                      </a:r>
                      <a:endParaRPr b="0" lang="es-ES" sz="96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6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Capa acumulada</a:t>
                      </a:r>
                      <a:endParaRPr b="0" lang="es-ES" sz="96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</a:tr>
              <a:tr h="7772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Clase 1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Oportunidad, proceso, usuario, input, output y riesgo principal.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7772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Clase 2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Modelo, tipo de sistema, prompt y control operativo.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Clase 3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Patrón, componentes y flujo principal.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7772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Clase 4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Datos, calidad, OCR, tools, MCP, evaluación, operación y autonomía.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Clase 5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3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Integrar todo en un caso nuevo y defendible.</a:t>
                      </a:r>
                      <a:endParaRPr b="0" lang="es-ES" sz="9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1030" name="PlaceHolder 1"/>
          <p:cNvSpPr>
            <a:spLocks noGrp="1"/>
          </p:cNvSpPr>
          <p:nvPr>
            <p:ph type="sldNum" idx="55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B19ED7AF-BC38-4C0B-A338-FAA43B8FCC02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59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ext 0"/>
          <p:cNvSpPr/>
          <p:nvPr/>
        </p:nvSpPr>
        <p:spPr>
          <a:xfrm>
            <a:off x="502920" y="34740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Fuentes y documentación recomendada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" name="Text 1"/>
          <p:cNvSpPr/>
          <p:nvPr/>
        </p:nvSpPr>
        <p:spPr>
          <a:xfrm>
            <a:off x="521280" y="80460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  <a:ea typeface="Aptos"/>
              </a:rPr>
              <a:t>Para profundizar y mantener ejemplos actualizados.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33" name="Table 0"/>
          <p:cNvGraphicFramePr/>
          <p:nvPr/>
        </p:nvGraphicFramePr>
        <p:xfrm>
          <a:off x="621720" y="1417320"/>
          <a:ext cx="10606680" cy="4663440"/>
        </p:xfrm>
        <a:graphic>
          <a:graphicData uri="http://schemas.openxmlformats.org/drawingml/2006/table">
            <a:tbl>
              <a:tblPr/>
              <a:tblGrid>
                <a:gridCol w="2743200"/>
                <a:gridCol w="7863840"/>
              </a:tblGrid>
              <a:tr h="7772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Tema</a:t>
                      </a:r>
                      <a:endParaRPr b="0" lang="es-E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Fuente recomendada</a:t>
                      </a:r>
                      <a:endParaRPr b="0" lang="es-ES" sz="9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8b1e3f"/>
                    </a:solidFill>
                  </a:tcPr>
                </a:tc>
              </a:tr>
              <a:tr h="7772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LangChain Agents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Docs oficiales: agents, tools, create_agent y middleware.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7772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LangGraph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Docs oficiales: workflows, agents, estado, persistencia y human-in-the-loop.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MCP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Documentación oficial: architecture, tools, resources y prompts.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  <a:tr h="7772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Evaluación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LangSmith: tracing, datasets, evaluators y monitoreo.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Buenas prácticas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 lIns="54720" rIns="54720" tIns="54720" bIns="547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920" spc="-1" strike="noStrike">
                          <a:solidFill>
                            <a:srgbClr val="172033"/>
                          </a:solidFill>
                          <a:latin typeface="Aptos"/>
                        </a:rPr>
                        <a:t>Manejo de claves, datos mínimos, permisos, logs y revisión humana.</a:t>
                      </a:r>
                      <a:endParaRPr b="0" lang="es-ES" sz="92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54720" marR="54720">
                    <a:lnL w="12240">
                      <a:solidFill>
                        <a:srgbClr val="d7dce5"/>
                      </a:solidFill>
                      <a:prstDash val="solid"/>
                    </a:lnL>
                    <a:lnR w="12240">
                      <a:solidFill>
                        <a:srgbClr val="d7dce5"/>
                      </a:solidFill>
                      <a:prstDash val="solid"/>
                    </a:lnR>
                    <a:lnT w="12240">
                      <a:solidFill>
                        <a:srgbClr val="d7dce5"/>
                      </a:solidFill>
                      <a:prstDash val="solid"/>
                    </a:lnT>
                    <a:lnB w="12240">
                      <a:solidFill>
                        <a:srgbClr val="d7dce5"/>
                      </a:solidFill>
                      <a:prstDash val="solid"/>
                    </a:lnB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1034" name="PlaceHolder 1"/>
          <p:cNvSpPr>
            <a:spLocks noGrp="1"/>
          </p:cNvSpPr>
          <p:nvPr>
            <p:ph type="sldNum" idx="56"/>
          </p:nvPr>
        </p:nvSpPr>
        <p:spPr>
          <a:xfrm>
            <a:off x="11750040" y="64191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800" spc="-1" strike="noStrike">
                <a:solidFill>
                  <a:srgbClr val="6b7280"/>
                </a:solidFill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660CF30-4EEB-431F-ADB5-EB1D2D93E44E}" type="slidenum">
              <a:rPr b="0" lang="en-US" sz="800" spc="-1" strike="noStrike">
                <a:solidFill>
                  <a:srgbClr val="6b7280"/>
                </a:solidFill>
                <a:latin typeface="Aptos"/>
                <a:ea typeface="Aptos"/>
              </a:rPr>
              <a:t>59</a:t>
            </a:fld>
            <a:endParaRPr b="0" lang="es-ES" sz="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Shape 0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8b1e3f"/>
          </a:solidFill>
          <a:ln w="12700">
            <a:solidFill>
              <a:srgbClr val="8b1e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800" spc="-1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36" name="Text 1"/>
          <p:cNvSpPr/>
          <p:nvPr/>
        </p:nvSpPr>
        <p:spPr>
          <a:xfrm>
            <a:off x="777240" y="15544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8b1e3f"/>
                </a:solidFill>
                <a:latin typeface="Aptos"/>
              </a:rPr>
              <a:t>Cierre Clase 4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7" name="Text 2"/>
          <p:cNvSpPr/>
          <p:nvPr/>
        </p:nvSpPr>
        <p:spPr>
          <a:xfrm>
            <a:off x="777240" y="2057400"/>
            <a:ext cx="749772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De flujo diseñado</a:t>
            </a:r>
            <a:endParaRPr b="0" lang="es-ES" sz="3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172033"/>
                </a:solidFill>
                <a:latin typeface="Aptos Display"/>
                <a:ea typeface="Aptos Display"/>
              </a:rPr>
              <a:t>a agente controlado</a:t>
            </a:r>
            <a:endParaRPr b="0" lang="es-E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8" name="Text 3"/>
          <p:cNvSpPr/>
          <p:nvPr/>
        </p:nvSpPr>
        <p:spPr>
          <a:xfrm>
            <a:off x="804600" y="3657600"/>
            <a:ext cx="9052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667085"/>
                </a:solidFill>
                <a:latin typeface="Aptos"/>
              </a:rPr>
              <a:t>Datos, tools, agentes, evaluación y operación convierten una demo en un piloto defendible.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9" name="Text 4"/>
          <p:cNvSpPr/>
          <p:nvPr/>
        </p:nvSpPr>
        <p:spPr>
          <a:xfrm>
            <a:off x="804600" y="4251960"/>
            <a:ext cx="777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8b1e3f"/>
                </a:solidFill>
                <a:latin typeface="Aptos"/>
              </a:rPr>
              <a:t>Próxima clase: evaluación integradora individual · caso nuevo 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0" name="Text 5"/>
          <p:cNvSpPr/>
          <p:nvPr/>
        </p:nvSpPr>
        <p:spPr>
          <a:xfrm>
            <a:off x="804600" y="594360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pc="-1" strike="noStrike">
                <a:solidFill>
                  <a:srgbClr val="667085"/>
                </a:solidFill>
                <a:latin typeface="Aptos"/>
              </a:rPr>
              <a:t>Gracias · Preguntas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1" name="Text 6"/>
          <p:cNvSpPr/>
          <p:nvPr/>
        </p:nvSpPr>
        <p:spPr>
          <a:xfrm>
            <a:off x="10515600" y="594360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80" spc="-1" strike="noStrike">
                <a:solidFill>
                  <a:srgbClr val="8b1e3f"/>
                </a:solidFill>
                <a:latin typeface="Aptos"/>
              </a:rPr>
              <a:t>USACH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Application>LibreOffice/24.2.7.2$Linux_X86_64 LibreOffice_project/420$Build-2</Application>
  <AppVersion>15.0000</AppVersion>
  <Words>0</Words>
  <Paragraphs>0</Paragraphs>
  <Company>Diplomado Ejecutivo en Confianza Digital, IA y Automatización Empresarial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2026-05-24T02:08:59Z</dcterms:created>
  <dc:creator>USACH</dc:creator>
  <dc:description/>
  <dc:language>es-ES</dc:language>
  <cp:lastModifiedBy/>
  <dcterms:modified xsi:type="dcterms:W3CDTF">2026-05-24T00:11:52Z</dcterms:modified>
  <cp:revision>15</cp:revision>
  <dc:subject>Módulo 1 Clase 4 - Aplicaciones prácticas con LangChain</dc:subject>
  <dc:title>Clase 4 · Aplicaciones prácticas con LangChain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63</vt:i4>
  </property>
  <property fmtid="{D5CDD505-2E9C-101B-9397-08002B2CF9AE}" pid="3" name="PresentationFormat">
    <vt:lpwstr>On-screen Show (16:9)</vt:lpwstr>
  </property>
  <property fmtid="{D5CDD505-2E9C-101B-9397-08002B2CF9AE}" pid="4" name="Slides">
    <vt:i4>63</vt:i4>
  </property>
</Properties>
</file>