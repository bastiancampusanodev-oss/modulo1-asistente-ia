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73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72.xml" ContentType="application/vnd.openxmlformats-officedocument.presentationml.slide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46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40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73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72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9.xml.rels" ContentType="application/vnd.openxmlformats-package.relationships+xml"/>
  <Override PartName="/ppt/slides/_rels/slide32.xml.rels" ContentType="application/vnd.openxmlformats-package.relationships+xml"/>
  <Override PartName="/ppt/slides/_rels/slide70.xml.rels" ContentType="application/vnd.openxmlformats-package.relationships+xml"/>
  <Override PartName="/ppt/slides/_rels/slide28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3.xml.rels" ContentType="application/vnd.openxmlformats-package.relationships+xml"/>
  <Override PartName="/ppt/slides/_rels/slide6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4.xml.rels" ContentType="application/vnd.openxmlformats-package.relationships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965D96-D0B8-4038-9907-6CE0904EAE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F7A647-503C-425A-B898-D95AA6B346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DEBB65-0909-4A4C-B2BE-0FB95F031C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10E70BF-B18D-4440-82E5-84676C8BED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A11032D-9143-455A-AEF0-BC36E2F647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A6A01D7-29CA-4528-8453-BFD7F34543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D97FBA4-00D6-48D7-9E6B-08F6D8F6E2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E58C764-70C4-4B33-885B-F78A79F031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2D8C1E-E787-4AF1-9BB8-EA5708C22D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8C51F82-9FEA-45D8-B0AC-16D8C0EFEF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823B287-0664-400E-981F-6074FC8B7A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A6B9DF-BC14-4221-9F3E-8301A54C1C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539428-DDB3-477A-94CD-99F4F5E8FB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EA9E62-3214-46F1-853D-5C24E2A46B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C3C89D-1588-4B95-9D24-4F9A7BC73D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B329E2-CC09-4A18-BF67-65EFE02869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75CFCE-B992-47FE-9541-C3DEE11404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DBC28F-6851-4071-9B83-C197798BF3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EBF722-A97C-45B3-848A-DA4B6045B9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7E07C5-1ABE-43F4-9E55-42472BA540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1E12DC-41DD-461D-A240-DF93F04F2C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E26AB2-465B-4595-81C2-F1CA9EAC81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670320" cy="670320"/>
          </a:xfrm>
          <a:prstGeom prst="rect">
            <a:avLst/>
          </a:prstGeom>
          <a:ln w="0">
            <a:noFill/>
          </a:ln>
        </p:spPr>
      </p:pic>
      <p:sp>
        <p:nvSpPr>
          <p:cNvPr id="51" name="Rectangle 2"/>
          <p:cNvSpPr/>
          <p:nvPr/>
        </p:nvSpPr>
        <p:spPr>
          <a:xfrm>
            <a:off x="11201400" y="0"/>
            <a:ext cx="7164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11320200" y="0"/>
            <a:ext cx="7164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11439000" y="0"/>
            <a:ext cx="7164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Rectangle 5"/>
          <p:cNvSpPr/>
          <p:nvPr/>
        </p:nvSpPr>
        <p:spPr>
          <a:xfrm>
            <a:off x="11558160" y="0"/>
            <a:ext cx="71640" cy="6856560"/>
          </a:xfrm>
          <a:prstGeom prst="rect">
            <a:avLst/>
          </a:prstGeom>
          <a:solidFill>
            <a:srgbClr val="101b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960120" y="914400"/>
            <a:ext cx="60336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07070"/>
                </a:solidFill>
                <a:latin typeface="Verdana"/>
              </a:rPr>
              <a:t>Diplomado Ejecutivo en Confianza Digital, IA y Automatización Empresarial - 2026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960120" y="1417320"/>
            <a:ext cx="1370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960120" y="1783080"/>
            <a:ext cx="639936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Verdana"/>
              </a:rPr>
              <a:t>Aplicaciones Básicas con OpenAI y Claude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960120" y="2971800"/>
            <a:ext cx="76795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Verdana"/>
              </a:rPr>
              <a:t>De plataformas y SDKs a una mini app funcional, segura y medible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ounded Rectangle 10"/>
          <p:cNvSpPr/>
          <p:nvPr/>
        </p:nvSpPr>
        <p:spPr>
          <a:xfrm>
            <a:off x="960120" y="3840480"/>
            <a:ext cx="2833200" cy="41004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1124640" y="3950280"/>
            <a:ext cx="23760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Verdana"/>
              </a:rPr>
              <a:t>Clase virtual · 3 horas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9601200" y="5806440"/>
            <a:ext cx="91296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000" spc="-1" strike="noStrike">
                <a:solidFill>
                  <a:srgbClr val="007070"/>
                </a:solidFill>
                <a:latin typeface="Verdana"/>
              </a:rPr>
              <a:t>USACH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5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66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Ruta de la clase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De consolas de proveedor a una mini app operativa.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ounded Rectangle 8"/>
          <p:cNvSpPr/>
          <p:nvPr/>
        </p:nvSpPr>
        <p:spPr>
          <a:xfrm>
            <a:off x="685800" y="2057400"/>
            <a:ext cx="1659600" cy="91296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758880" y="2370240"/>
            <a:ext cx="151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Plataformas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OpenAI / Claude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236520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ounded Rectangle 11"/>
          <p:cNvSpPr/>
          <p:nvPr/>
        </p:nvSpPr>
        <p:spPr>
          <a:xfrm>
            <a:off x="2511720" y="2057400"/>
            <a:ext cx="1659600" cy="91296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2584800" y="2370240"/>
            <a:ext cx="151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Workbench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probar prompts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3"/>
          <p:cNvSpPr/>
          <p:nvPr/>
        </p:nvSpPr>
        <p:spPr>
          <a:xfrm>
            <a:off x="419112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14"/>
          <p:cNvSpPr/>
          <p:nvPr/>
        </p:nvSpPr>
        <p:spPr>
          <a:xfrm>
            <a:off x="4337280" y="2057400"/>
            <a:ext cx="1659600" cy="91296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5"/>
          <p:cNvSpPr/>
          <p:nvPr/>
        </p:nvSpPr>
        <p:spPr>
          <a:xfrm>
            <a:off x="4410360" y="2370240"/>
            <a:ext cx="151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APIs y SDKs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Responses / Messages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6"/>
          <p:cNvSpPr/>
          <p:nvPr/>
        </p:nvSpPr>
        <p:spPr>
          <a:xfrm>
            <a:off x="601668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17"/>
          <p:cNvSpPr/>
          <p:nvPr/>
        </p:nvSpPr>
        <p:spPr>
          <a:xfrm>
            <a:off x="6163200" y="2057400"/>
            <a:ext cx="1659600" cy="91296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8"/>
          <p:cNvSpPr/>
          <p:nvPr/>
        </p:nvSpPr>
        <p:spPr>
          <a:xfrm>
            <a:off x="6236280" y="2370240"/>
            <a:ext cx="151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Agentes y tools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qué ofrecen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9"/>
          <p:cNvSpPr/>
          <p:nvPr/>
        </p:nvSpPr>
        <p:spPr>
          <a:xfrm>
            <a:off x="784260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20"/>
          <p:cNvSpPr/>
          <p:nvPr/>
        </p:nvSpPr>
        <p:spPr>
          <a:xfrm>
            <a:off x="7988760" y="2057400"/>
            <a:ext cx="1659600" cy="912960"/>
          </a:xfrm>
          <a:prstGeom prst="roundRect">
            <a:avLst>
              <a:gd name="adj" fmla="val 16667"/>
            </a:avLst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1"/>
          <p:cNvSpPr/>
          <p:nvPr/>
        </p:nvSpPr>
        <p:spPr>
          <a:xfrm>
            <a:off x="8061840" y="2370240"/>
            <a:ext cx="151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Demo local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frontend + backend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2"/>
          <p:cNvSpPr/>
          <p:nvPr/>
        </p:nvSpPr>
        <p:spPr>
          <a:xfrm>
            <a:off x="966816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23"/>
          <p:cNvSpPr/>
          <p:nvPr/>
        </p:nvSpPr>
        <p:spPr>
          <a:xfrm>
            <a:off x="9814680" y="2057400"/>
            <a:ext cx="1659600" cy="91296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4"/>
          <p:cNvSpPr/>
          <p:nvPr/>
        </p:nvSpPr>
        <p:spPr>
          <a:xfrm>
            <a:off x="9887760" y="2370240"/>
            <a:ext cx="151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Actividad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diseño operativo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5"/>
          <p:cNvSpPr/>
          <p:nvPr/>
        </p:nvSpPr>
        <p:spPr>
          <a:xfrm>
            <a:off x="1051560" y="5074920"/>
            <a:ext cx="9874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07070"/>
                </a:solidFill>
                <a:latin typeface="Verdana"/>
              </a:rPr>
              <a:t>Objetivo: pasar de navegar plataformas a entender cómo una aplicación consume un modelo de forma segura y medible.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9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Resultado de aprendizaje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Al final de esta clase, cada estudiante debería poder hacer esto.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Navegar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Reconocer en OpenAI Platform y Claude Console dónde están keys, usage, logs, docs y modelos.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Comparar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Distinguir Workbench, API, SDK, agentes, assistants, tools y plataformas.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Analizar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Analizar una mini app local: frontend → backend → proveedor LLM.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Operar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Pensar en ambientes, secretos, costos, logs y errores controlados.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Proyectar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7"/>
          <p:cNvSpPr/>
          <p:nvPr/>
        </p:nvSpPr>
        <p:spPr>
          <a:xfrm>
            <a:off x="458100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Identificar cuándo una integración simple necesita chains, adapters, tools u orquestación.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1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De Clase 1 a Clase 2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base de APIs ya está instalada; hoy la aplicamos en plataformas reales.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8"/>
          <p:cNvSpPr/>
          <p:nvPr/>
        </p:nvSpPr>
        <p:spPr>
          <a:xfrm>
            <a:off x="8686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9"/>
          <p:cNvSpPr/>
          <p:nvPr/>
        </p:nvSpPr>
        <p:spPr>
          <a:xfrm>
            <a:off x="868680" y="1417320"/>
            <a:ext cx="53280" cy="39304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10148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Clase 1: fundamentos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1143000" y="1965960"/>
            <a:ext cx="4479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API, endpoint, request y response.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Headers, body, JSON y códigos de estado.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Postman para probar métodos y errores.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Tokens, costo, contexto y seguridad básica.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2"/>
          <p:cNvSpPr/>
          <p:nvPr/>
        </p:nvSpPr>
        <p:spPr>
          <a:xfrm>
            <a:off x="63550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ectangle 13"/>
          <p:cNvSpPr/>
          <p:nvPr/>
        </p:nvSpPr>
        <p:spPr>
          <a:xfrm>
            <a:off x="6355080" y="1417320"/>
            <a:ext cx="53280" cy="39304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4"/>
          <p:cNvSpPr/>
          <p:nvPr/>
        </p:nvSpPr>
        <p:spPr>
          <a:xfrm>
            <a:off x="65012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Clase 2: operación con proveedores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5"/>
          <p:cNvSpPr/>
          <p:nvPr/>
        </p:nvSpPr>
        <p:spPr>
          <a:xfrm>
            <a:off x="6629400" y="1965960"/>
            <a:ext cx="4479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OpenAI Platform y Claude Console.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Workbench, SDKs, agents, tools y logs.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Backend local con .env y API key protegida.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Diseño operativo de una integración.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6"/>
          <p:cNvSpPr/>
          <p:nvPr/>
        </p:nvSpPr>
        <p:spPr>
          <a:xfrm>
            <a:off x="914400" y="5715000"/>
            <a:ext cx="10514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La pregunta de hoy: ¿cómo llevo una llamada a modelo hacia una integración operable y segura?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3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Demo que usaremos como hilo conductor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mini app local concentra la clase en un flujo concreto.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777240" y="1828800"/>
            <a:ext cx="1629360" cy="82152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850320" y="2095920"/>
            <a:ext cx="148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Usuario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escribe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2426040" y="20484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11"/>
          <p:cNvSpPr/>
          <p:nvPr/>
        </p:nvSpPr>
        <p:spPr>
          <a:xfrm>
            <a:off x="2572560" y="1828800"/>
            <a:ext cx="1629360" cy="82152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2645640" y="2095920"/>
            <a:ext cx="148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Frontend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en navegador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3"/>
          <p:cNvSpPr/>
          <p:nvPr/>
        </p:nvSpPr>
        <p:spPr>
          <a:xfrm>
            <a:off x="4221360" y="20484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14"/>
          <p:cNvSpPr/>
          <p:nvPr/>
        </p:nvSpPr>
        <p:spPr>
          <a:xfrm>
            <a:off x="4367880" y="1828800"/>
            <a:ext cx="1629360" cy="82152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4440960" y="2168280"/>
            <a:ext cx="1482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POST /api/ask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6"/>
          <p:cNvSpPr/>
          <p:nvPr/>
        </p:nvSpPr>
        <p:spPr>
          <a:xfrm>
            <a:off x="6016680" y="20484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17"/>
          <p:cNvSpPr/>
          <p:nvPr/>
        </p:nvSpPr>
        <p:spPr>
          <a:xfrm>
            <a:off x="6163200" y="1828800"/>
            <a:ext cx="1629360" cy="82152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6236280" y="2095920"/>
            <a:ext cx="148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Backend Node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lee .env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9"/>
          <p:cNvSpPr/>
          <p:nvPr/>
        </p:nvSpPr>
        <p:spPr>
          <a:xfrm>
            <a:off x="7812000" y="20484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20"/>
          <p:cNvSpPr/>
          <p:nvPr/>
        </p:nvSpPr>
        <p:spPr>
          <a:xfrm>
            <a:off x="7958160" y="1828800"/>
            <a:ext cx="1629360" cy="821520"/>
          </a:xfrm>
          <a:prstGeom prst="roundRect">
            <a:avLst>
              <a:gd name="adj" fmla="val 16667"/>
            </a:avLst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1"/>
          <p:cNvSpPr/>
          <p:nvPr/>
        </p:nvSpPr>
        <p:spPr>
          <a:xfrm>
            <a:off x="8031600" y="2095920"/>
            <a:ext cx="148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OpenAI API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responde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2"/>
          <p:cNvSpPr/>
          <p:nvPr/>
        </p:nvSpPr>
        <p:spPr>
          <a:xfrm>
            <a:off x="9607320" y="20484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23"/>
          <p:cNvSpPr/>
          <p:nvPr/>
        </p:nvSpPr>
        <p:spPr>
          <a:xfrm>
            <a:off x="9753480" y="1828800"/>
            <a:ext cx="1629360" cy="82152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24"/>
          <p:cNvSpPr/>
          <p:nvPr/>
        </p:nvSpPr>
        <p:spPr>
          <a:xfrm>
            <a:off x="9826920" y="2095920"/>
            <a:ext cx="148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UI muestra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respuesta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25"/>
          <p:cNvSpPr/>
          <p:nvPr/>
        </p:nvSpPr>
        <p:spPr>
          <a:xfrm>
            <a:off x="914400" y="3657600"/>
            <a:ext cx="3016080" cy="123300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26"/>
          <p:cNvSpPr/>
          <p:nvPr/>
        </p:nvSpPr>
        <p:spPr>
          <a:xfrm>
            <a:off x="914400" y="3657600"/>
            <a:ext cx="53280" cy="123300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7"/>
          <p:cNvSpPr/>
          <p:nvPr/>
        </p:nvSpPr>
        <p:spPr>
          <a:xfrm>
            <a:off x="1060560" y="3776400"/>
            <a:ext cx="2778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muestra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8"/>
          <p:cNvSpPr/>
          <p:nvPr/>
        </p:nvSpPr>
        <p:spPr>
          <a:xfrm>
            <a:off x="1060560" y="4142160"/>
            <a:ext cx="27874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Una app real no conversa con el modelo desde el navegador; pasa por un backend.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29"/>
          <p:cNvSpPr/>
          <p:nvPr/>
        </p:nvSpPr>
        <p:spPr>
          <a:xfrm>
            <a:off x="4434840" y="3657600"/>
            <a:ext cx="3016080" cy="123300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ectangle 30"/>
          <p:cNvSpPr/>
          <p:nvPr/>
        </p:nvSpPr>
        <p:spPr>
          <a:xfrm>
            <a:off x="4434840" y="3657600"/>
            <a:ext cx="53280" cy="123300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31"/>
          <p:cNvSpPr/>
          <p:nvPr/>
        </p:nvSpPr>
        <p:spPr>
          <a:xfrm>
            <a:off x="4581000" y="3776400"/>
            <a:ext cx="2778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protege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2"/>
          <p:cNvSpPr/>
          <p:nvPr/>
        </p:nvSpPr>
        <p:spPr>
          <a:xfrm>
            <a:off x="4581000" y="4142160"/>
            <a:ext cx="27874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La API key, el prompt de sistema, límites, logs y manejo de errores.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33"/>
          <p:cNvSpPr/>
          <p:nvPr/>
        </p:nvSpPr>
        <p:spPr>
          <a:xfrm>
            <a:off x="7955280" y="3657600"/>
            <a:ext cx="3016080" cy="123300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34"/>
          <p:cNvSpPr/>
          <p:nvPr/>
        </p:nvSpPr>
        <p:spPr>
          <a:xfrm>
            <a:off x="7955280" y="3657600"/>
            <a:ext cx="53280" cy="123300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35"/>
          <p:cNvSpPr/>
          <p:nvPr/>
        </p:nvSpPr>
        <p:spPr>
          <a:xfrm>
            <a:off x="8101440" y="3776400"/>
            <a:ext cx="2778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conecta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36"/>
          <p:cNvSpPr/>
          <p:nvPr/>
        </p:nvSpPr>
        <p:spPr>
          <a:xfrm>
            <a:off x="8101440" y="4142160"/>
            <a:ext cx="27874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La teoría de plataformas con código ejecutable y criterios de operación.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9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70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Mapa mental de la clase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Las piezas se entienden mejor como capas.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Plataforma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Consola donde gestiono keys, modelos, uso, logs y documentación.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Workbench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Laboratorio para probar prompts antes de programar.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API / SDK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Forma programática de llamar al modelo desde una app.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Backend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Lugar donde viven claves, reglas y control operativo.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Agente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27"/>
          <p:cNvSpPr/>
          <p:nvPr/>
        </p:nvSpPr>
        <p:spPr>
          <a:xfrm>
            <a:off x="458100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Modelo + instrucciones + herramientas + estado para una tarea.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Framework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LangChain organiza flujos más complejos y multi-proveedor.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2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203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01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Plataformas de desarrollo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1691640" y="2788920"/>
            <a:ext cx="7953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Verdana"/>
              </a:rPr>
              <a:t>Qué ofrecen OpenAI Platform y Claude Console más allá de una API key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21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Plataforma de proveedor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No es solo “crear una key”: es operar una integración.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Keys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Credenciales para que una app acceda al 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Modelos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Catálogo de capacidades, costos, límites y modalidades.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Usage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Consumo: requests, tokens, costo, saldo y alertas.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Logs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Trazabilidad para diagnosticar errores y comportamiento.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Docs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27"/>
          <p:cNvSpPr/>
          <p:nvPr/>
        </p:nvSpPr>
        <p:spPr>
          <a:xfrm>
            <a:off x="458100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Referencia técnica: endpoints, SDKs, parámetros y ejemplos.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Herramientas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Playground, Workbench, agentes, archivos, audio, imagen o código.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2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243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Dashboard: qué mirar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consola permite explicar operación, no solo desarrollo.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09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Total requests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Cuántas llamadas hace la app en un periodo.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Tokens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Cantidad de texto procesado y generado.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Spend / balance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Costo acumulado y créditos disponibles.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Modelos usados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Qué motor consumió la aplicación.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Errores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401, 429, 500 u otros problemas.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Filtros de tiempo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24h, 7d, 30d o 90d para ver tendencia.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27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OpenAI Projects vs Claude Workspaces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Ambos separan aplicaciones, equipos o ambientes.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ounded Rectangle 8"/>
          <p:cNvSpPr/>
          <p:nvPr/>
        </p:nvSpPr>
        <p:spPr>
          <a:xfrm>
            <a:off x="8686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ectangle 9"/>
          <p:cNvSpPr/>
          <p:nvPr/>
        </p:nvSpPr>
        <p:spPr>
          <a:xfrm>
            <a:off x="868680" y="1417320"/>
            <a:ext cx="53280" cy="39304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0"/>
          <p:cNvSpPr/>
          <p:nvPr/>
        </p:nvSpPr>
        <p:spPr>
          <a:xfrm>
            <a:off x="10148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Proyecto / Workspace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11"/>
          <p:cNvSpPr/>
          <p:nvPr/>
        </p:nvSpPr>
        <p:spPr>
          <a:xfrm>
            <a:off x="11430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Agrupa keys, uso y configuración.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Permite ordenar demos, desarrollo y producción.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Facilita trazabilidad y separación de costos.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ounded Rectangle 12"/>
          <p:cNvSpPr/>
          <p:nvPr/>
        </p:nvSpPr>
        <p:spPr>
          <a:xfrm>
            <a:off x="63550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Rectangle 13"/>
          <p:cNvSpPr/>
          <p:nvPr/>
        </p:nvSpPr>
        <p:spPr>
          <a:xfrm>
            <a:off x="6355080" y="1417320"/>
            <a:ext cx="53280" cy="39304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14"/>
          <p:cNvSpPr/>
          <p:nvPr/>
        </p:nvSpPr>
        <p:spPr>
          <a:xfrm>
            <a:off x="65012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Ambiente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66294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Dev: pruebas locales y bajo riesgo.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Staging: validación antes de producción.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Prod: usuarios reales, límites y monitoreo.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914400" y="5715000"/>
            <a:ext cx="10514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Una buena práctica es no usar la misma key para todo.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9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290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API keys por ambiente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key debe tener nombre, dueño y propósito.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demo-clase-2-local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Key de bajo riesgo para pruebas locales del curso.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app-dev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Pruebas de desarrollo; límites bajos y rotación frecuente.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app-prod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Uso real; monitoreo, alertas y permisos controlados.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Por persona/equipo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Evita compartir claves entre todos.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Por caso de uso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Permite saber qué integración generó el consumo.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Revocación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Si una key se filtra, se elimina sin romper todo el sistema.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32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Usage y billing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costo se controla en la plataforma, no en la intuición.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Requests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Volumen de llamadas por día o por usuario.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Input tokens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Texto, instrucciones y contexto enviados.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Output tokens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Texto generado por el modelo.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Modelo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Cada modelo tiene precio y latencia distinta.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Alertas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Avisos o límites para evitar sorpresas.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Revisión periódica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Mirar uso después de cada demo o despliegue.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35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Logs y trazabilidad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Sin logs no hay diagnóstico ni mejora.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guardar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Proveedor, modelo, latencia, status, tokens y versión del prompt.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evitar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guardar API keys ni datos sensibles completos.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Para qué sirve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Detectar fallas, costos anómalos y casos de mala calidad.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Error 401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Credencial inválida o mal configurada.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Error 429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Límite o cuota superada.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Error 500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Problema interno o del 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2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383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Docs, modelos y cambios de versión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documentación es parte de la operación.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Docs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Endpoints, parámetros, ejemplos y SDKs oficiales.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Modelos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Elegir por calidad, costo, latencia y modalidad.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Release notes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Cambios de modelos, deprecaciones y nuevas capacidades.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Pricing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Costos por token, herramienta, audio, imagen o recurso.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Límites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Rate limits, contexto, tamaño de archivos y cuotas.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Políticas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Uso permitido, datos y seguridad.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15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416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02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Workbench y prueba de prompts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8"/>
          <p:cNvSpPr/>
          <p:nvPr/>
        </p:nvSpPr>
        <p:spPr>
          <a:xfrm>
            <a:off x="1691640" y="2788920"/>
            <a:ext cx="7953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Verdana"/>
              </a:rPr>
              <a:t>Antes de programar, validar comportamiento en una interfaz controlada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2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42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Workbench: laboratorio de prompts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Es el “banco de pruebas” de una llamada LLM.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Probar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Ejecutar prompts, modelos y parámetros sin escribir backend.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Ajustar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Cambiar system prompt, temperatura, salida y ejemplos.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Comparar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Ver qué modelo responde mejor ante el mismo caso.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Guardar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Convertir una prueba en plantilla o referencia.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7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Costo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Cuando ejecuta el modelo, consume uso de API.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Límite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reemplaza el backend ni la evaluación de producción.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55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456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Workbench vs Postman vs código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Tres lugares distintos para probar una integración.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Rounded Rectangle 8"/>
          <p:cNvSpPr/>
          <p:nvPr/>
        </p:nvSpPr>
        <p:spPr>
          <a:xfrm>
            <a:off x="8686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Rectangle 9"/>
          <p:cNvSpPr/>
          <p:nvPr/>
        </p:nvSpPr>
        <p:spPr>
          <a:xfrm>
            <a:off x="868680" y="1417320"/>
            <a:ext cx="53280" cy="39304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10"/>
          <p:cNvSpPr/>
          <p:nvPr/>
        </p:nvSpPr>
        <p:spPr>
          <a:xfrm>
            <a:off x="10148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Workbench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11"/>
          <p:cNvSpPr/>
          <p:nvPr/>
        </p:nvSpPr>
        <p:spPr>
          <a:xfrm>
            <a:off x="11430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Optimizado para prompts y modelos.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Muestra respuestas del LLM rápidamente.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Ideal antes de programar.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ounded Rectangle 12"/>
          <p:cNvSpPr/>
          <p:nvPr/>
        </p:nvSpPr>
        <p:spPr>
          <a:xfrm>
            <a:off x="63550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Rectangle 13"/>
          <p:cNvSpPr/>
          <p:nvPr/>
        </p:nvSpPr>
        <p:spPr>
          <a:xfrm>
            <a:off x="6355080" y="1417320"/>
            <a:ext cx="53280" cy="39304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14"/>
          <p:cNvSpPr/>
          <p:nvPr/>
        </p:nvSpPr>
        <p:spPr>
          <a:xfrm>
            <a:off x="65012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Postman / código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15"/>
          <p:cNvSpPr/>
          <p:nvPr/>
        </p:nvSpPr>
        <p:spPr>
          <a:xfrm>
            <a:off x="66294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Postman prueba HTTP, headers y body.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Código implementa la app real.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Backend controla keys, logs y validación.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16"/>
          <p:cNvSpPr/>
          <p:nvPr/>
        </p:nvSpPr>
        <p:spPr>
          <a:xfrm>
            <a:off x="914400" y="5715000"/>
            <a:ext cx="10514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Workbench diseña comportamiento; el backend lo operacionaliza.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47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Flujo: del prompt probado al backend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prueba manual debe convertirse en una pieza reusable.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Rounded Rectangle 8"/>
          <p:cNvSpPr/>
          <p:nvPr/>
        </p:nvSpPr>
        <p:spPr>
          <a:xfrm>
            <a:off x="1005840" y="2057400"/>
            <a:ext cx="1878480" cy="86724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9"/>
          <p:cNvSpPr/>
          <p:nvPr/>
        </p:nvSpPr>
        <p:spPr>
          <a:xfrm>
            <a:off x="1078920" y="2347560"/>
            <a:ext cx="1732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Tarea definida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Entrada: caso de uso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10"/>
          <p:cNvSpPr/>
          <p:nvPr/>
        </p:nvSpPr>
        <p:spPr>
          <a:xfrm>
            <a:off x="290412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ounded Rectangle 11"/>
          <p:cNvSpPr/>
          <p:nvPr/>
        </p:nvSpPr>
        <p:spPr>
          <a:xfrm>
            <a:off x="3050280" y="2057400"/>
            <a:ext cx="1878480" cy="86724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1" name="TextBox 12"/>
          <p:cNvSpPr/>
          <p:nvPr/>
        </p:nvSpPr>
        <p:spPr>
          <a:xfrm>
            <a:off x="3123720" y="2347560"/>
            <a:ext cx="1732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Prueba en Workbench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Prompt y parámetros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13"/>
          <p:cNvSpPr/>
          <p:nvPr/>
        </p:nvSpPr>
        <p:spPr>
          <a:xfrm>
            <a:off x="494856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Rounded Rectangle 14"/>
          <p:cNvSpPr/>
          <p:nvPr/>
        </p:nvSpPr>
        <p:spPr>
          <a:xfrm>
            <a:off x="5095080" y="2057400"/>
            <a:ext cx="1878480" cy="86724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TextBox 15"/>
          <p:cNvSpPr/>
          <p:nvPr/>
        </p:nvSpPr>
        <p:spPr>
          <a:xfrm>
            <a:off x="5168160" y="2347560"/>
            <a:ext cx="1732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Validación esperada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Criterios de salida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16"/>
          <p:cNvSpPr/>
          <p:nvPr/>
        </p:nvSpPr>
        <p:spPr>
          <a:xfrm>
            <a:off x="699336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ounded Rectangle 17"/>
          <p:cNvSpPr/>
          <p:nvPr/>
        </p:nvSpPr>
        <p:spPr>
          <a:xfrm>
            <a:off x="7139520" y="2057400"/>
            <a:ext cx="1878480" cy="86724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TextBox 18"/>
          <p:cNvSpPr/>
          <p:nvPr/>
        </p:nvSpPr>
        <p:spPr>
          <a:xfrm>
            <a:off x="7212960" y="2347560"/>
            <a:ext cx="1732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Implementación backend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Endpoint reutilizable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19"/>
          <p:cNvSpPr/>
          <p:nvPr/>
        </p:nvSpPr>
        <p:spPr>
          <a:xfrm>
            <a:off x="9037800" y="227700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20"/>
          <p:cNvSpPr/>
          <p:nvPr/>
        </p:nvSpPr>
        <p:spPr>
          <a:xfrm>
            <a:off x="9184320" y="2057400"/>
            <a:ext cx="1878480" cy="867240"/>
          </a:xfrm>
          <a:prstGeom prst="roundRect">
            <a:avLst>
              <a:gd name="adj" fmla="val 16667"/>
            </a:avLst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TextBox 21"/>
          <p:cNvSpPr/>
          <p:nvPr/>
        </p:nvSpPr>
        <p:spPr>
          <a:xfrm>
            <a:off x="9257400" y="2347560"/>
            <a:ext cx="1732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Uso en aplicación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Respuesta con trazabilidad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ounded Rectangle 22"/>
          <p:cNvSpPr/>
          <p:nvPr/>
        </p:nvSpPr>
        <p:spPr>
          <a:xfrm>
            <a:off x="1097280" y="3749040"/>
            <a:ext cx="4479120" cy="118728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Rectangle 23"/>
          <p:cNvSpPr/>
          <p:nvPr/>
        </p:nvSpPr>
        <p:spPr>
          <a:xfrm>
            <a:off x="1097280" y="3749040"/>
            <a:ext cx="53280" cy="118728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24"/>
          <p:cNvSpPr/>
          <p:nvPr/>
        </p:nvSpPr>
        <p:spPr>
          <a:xfrm>
            <a:off x="1243440" y="3867840"/>
            <a:ext cx="42415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Evitar traslado directo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25"/>
          <p:cNvSpPr/>
          <p:nvPr/>
        </p:nvSpPr>
        <p:spPr>
          <a:xfrm>
            <a:off x="1243440" y="4233600"/>
            <a:ext cx="42505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Un prompt que funciona en Workbench aún requiere validación, manejo de errores y control de datos antes de usarse en una aplicación.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26"/>
          <p:cNvSpPr/>
          <p:nvPr/>
        </p:nvSpPr>
        <p:spPr>
          <a:xfrm>
            <a:off x="6309360" y="3749040"/>
            <a:ext cx="4479120" cy="118728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ectangle 27"/>
          <p:cNvSpPr/>
          <p:nvPr/>
        </p:nvSpPr>
        <p:spPr>
          <a:xfrm>
            <a:off x="6309360" y="3749040"/>
            <a:ext cx="53280" cy="118728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28"/>
          <p:cNvSpPr/>
          <p:nvPr/>
        </p:nvSpPr>
        <p:spPr>
          <a:xfrm>
            <a:off x="6455520" y="3867840"/>
            <a:ext cx="42415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Convertir en especificación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29"/>
          <p:cNvSpPr/>
          <p:nvPr/>
        </p:nvSpPr>
        <p:spPr>
          <a:xfrm>
            <a:off x="6455520" y="4233600"/>
            <a:ext cx="42505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Definir entrada, system prompt, modelo, formato de salida, logs mínimos y criterios de revisión humana.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0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50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¿Workbench consume tokens?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regla simple: configurar no cuesta; ejecutar sí puede costar.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19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Editar prompt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necesariamente llama al modelo.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Ejecutar respuesta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Consume uso según proveedor y modelo.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Comparar modelos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Puede multiplicar el consumo.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Subir contexto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Aumenta tokens de entrada.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Pedir salida larga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Aumenta tokens de salida.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8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Recomendación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Usar casos cortos y revisar usage después.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3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53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Checklist de prueba en Workbench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Antes de llevarlo al código, responder estas preguntas.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8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Caso mínimo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¿Cuál es la entrada concreta?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2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3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System prompt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¿Qué reglas no cambian?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6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Formato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¿Texto libre o JSON verificable?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0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Modelo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¿Mini, balanceado o avanzado?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4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Pruebas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¿Qué casos deberían pasar?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8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9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Riesgo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¿Cuándo se escala a humano?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2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3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64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565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03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APIs y SDKs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8"/>
          <p:cNvSpPr/>
          <p:nvPr/>
        </p:nvSpPr>
        <p:spPr>
          <a:xfrm>
            <a:off x="1691640" y="2788920"/>
            <a:ext cx="7953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Verdana"/>
              </a:rPr>
              <a:t>La misma idea se implementa con REST directo o con librerías oficiales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7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57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REST vs SDK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Dos formas de llamar al proveedor.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Rounded Rectangle 8"/>
          <p:cNvSpPr/>
          <p:nvPr/>
        </p:nvSpPr>
        <p:spPr>
          <a:xfrm>
            <a:off x="8686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0" name="Rectangle 9"/>
          <p:cNvSpPr/>
          <p:nvPr/>
        </p:nvSpPr>
        <p:spPr>
          <a:xfrm>
            <a:off x="868680" y="1417320"/>
            <a:ext cx="53280" cy="39304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1" name="TextBox 10"/>
          <p:cNvSpPr/>
          <p:nvPr/>
        </p:nvSpPr>
        <p:spPr>
          <a:xfrm>
            <a:off x="10148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REST directo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Box 11"/>
          <p:cNvSpPr/>
          <p:nvPr/>
        </p:nvSpPr>
        <p:spPr>
          <a:xfrm>
            <a:off x="11430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Construyes HTTP: endpoint, headers y body.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Muy explícito para aprender.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Útil en Postman o sistemas simples.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ounded Rectangle 12"/>
          <p:cNvSpPr/>
          <p:nvPr/>
        </p:nvSpPr>
        <p:spPr>
          <a:xfrm>
            <a:off x="63550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4" name="Rectangle 13"/>
          <p:cNvSpPr/>
          <p:nvPr/>
        </p:nvSpPr>
        <p:spPr>
          <a:xfrm>
            <a:off x="6355080" y="1417320"/>
            <a:ext cx="53280" cy="39304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5" name="TextBox 14"/>
          <p:cNvSpPr/>
          <p:nvPr/>
        </p:nvSpPr>
        <p:spPr>
          <a:xfrm>
            <a:off x="65012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SDK oficial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Box 15"/>
          <p:cNvSpPr/>
          <p:nvPr/>
        </p:nvSpPr>
        <p:spPr>
          <a:xfrm>
            <a:off x="66294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Librería del proveedor para tu lenguaje.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Maneja autenticación, parsing y tipos.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Mejor para apps mantenibles.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16"/>
          <p:cNvSpPr/>
          <p:nvPr/>
        </p:nvSpPr>
        <p:spPr>
          <a:xfrm>
            <a:off x="914400" y="5715000"/>
            <a:ext cx="10514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REST y SDK son caminos distintos para la misma lógica: enviar una solicitud, procesar una respuesta y controlar la integración.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89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590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SDK: kit de desarrollo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librería que simplifica el uso de una API desde código.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3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7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Software Development Kit: caja de herramientas para un lenguaje específico.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0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1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evita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escribir manualmente todo el HTTP, headers y serialización.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4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5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aporta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Métodos, clientes, manejo de errores y formatos del 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8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9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Ejemplos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OpenAI SDK, Anthropic SDK, librerías para Python o JavaScript.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2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Uso correcto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27"/>
          <p:cNvSpPr/>
          <p:nvPr/>
        </p:nvSpPr>
        <p:spPr>
          <a:xfrm>
            <a:off x="458100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Se ejecuta en backend cuando hay API keys o lógica sensible.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6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7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Idea clave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 SDK simplifica la llamada; no elimina la responsabilidad de operar bien.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2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62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Parser: convertir salida en datos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parser interpreta la respuesta para que una app pueda usarla.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Componente que lee texto o JSON y lo transforma en estructura utilizable.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Ejemplo simple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JSON.parse() convierte texto JSON en un objeto de JavaScript.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En LLMs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Ayuda a validar que la salida cumpla formato esperado.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Riesgo que reduce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Evita depender de texto libre cuando el sistema necesita campos concretos.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En LangChain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Box 27"/>
          <p:cNvSpPr/>
          <p:nvPr/>
        </p:nvSpPr>
        <p:spPr>
          <a:xfrm>
            <a:off x="458100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Output parsers ordenan y validan respuestas del modelo.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8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Idea clave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 SDK llama al proveedor; el parser ordena lo que vuelve.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5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65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OpenAI: Responses API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interfaz moderna para texto, multimodalidad y tools.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9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Input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Mensajes, instrucciones, texto, imagen o contexto.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2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3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Output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Texto, JSON, eventos, tools o resultados estructurados.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6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7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Tools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Búsqueda, archivos, código o funciones según configuración.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0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1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Multi-turn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Puede continuar interacciones con estado controlado.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4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5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SDK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Simplifica llamadas desde JavaScript/Python.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8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9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Implementación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Backend crea una response y devuelve output_text.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2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683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Claude: Messages API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Mismo patrón general, sintaxis y enfoque distintos.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6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9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0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System separado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Instrucciones globales fuera de la lista de mensajes.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3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4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Messages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Turnos user/assistant con contenido.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7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8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max_tokens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Control explícito de longitud de salida.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1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2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Tool use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Claude puede solicitar herramientas definidas.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5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6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SDK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Cliente oficial para TypeScript/Python y otros.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9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0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Integración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Queda preparado como segundo 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1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71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Comparación mínima de request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No memorizar sintaxis; entender qué cambia.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Rectangle 8"/>
          <p:cNvSpPr/>
          <p:nvPr/>
        </p:nvSpPr>
        <p:spPr>
          <a:xfrm>
            <a:off x="822960" y="1371600"/>
            <a:ext cx="3503880" cy="51660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0" name="TextBox 9"/>
          <p:cNvSpPr/>
          <p:nvPr/>
        </p:nvSpPr>
        <p:spPr>
          <a:xfrm>
            <a:off x="868680" y="1562760"/>
            <a:ext cx="3412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Elemento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Rectangle 10"/>
          <p:cNvSpPr/>
          <p:nvPr/>
        </p:nvSpPr>
        <p:spPr>
          <a:xfrm>
            <a:off x="4328280" y="1371600"/>
            <a:ext cx="3503880" cy="51660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2" name="TextBox 11"/>
          <p:cNvSpPr/>
          <p:nvPr/>
        </p:nvSpPr>
        <p:spPr>
          <a:xfrm>
            <a:off x="4374000" y="1562760"/>
            <a:ext cx="3412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OpenAI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Rectangle 12"/>
          <p:cNvSpPr/>
          <p:nvPr/>
        </p:nvSpPr>
        <p:spPr>
          <a:xfrm>
            <a:off x="7833240" y="1371600"/>
            <a:ext cx="3503880" cy="51660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4" name="TextBox 13"/>
          <p:cNvSpPr/>
          <p:nvPr/>
        </p:nvSpPr>
        <p:spPr>
          <a:xfrm>
            <a:off x="7878960" y="1562760"/>
            <a:ext cx="3412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Claude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Rectangle 14"/>
          <p:cNvSpPr/>
          <p:nvPr/>
        </p:nvSpPr>
        <p:spPr>
          <a:xfrm>
            <a:off x="822960" y="188964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6" name="TextBox 15"/>
          <p:cNvSpPr/>
          <p:nvPr/>
        </p:nvSpPr>
        <p:spPr>
          <a:xfrm>
            <a:off x="877680" y="196308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Autenticación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Rectangle 16"/>
          <p:cNvSpPr/>
          <p:nvPr/>
        </p:nvSpPr>
        <p:spPr>
          <a:xfrm>
            <a:off x="4328280" y="188964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8" name="TextBox 17"/>
          <p:cNvSpPr/>
          <p:nvPr/>
        </p:nvSpPr>
        <p:spPr>
          <a:xfrm>
            <a:off x="4383000" y="196308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Authorization: Bearer OPENAI_API_KEY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Rectangle 18"/>
          <p:cNvSpPr/>
          <p:nvPr/>
        </p:nvSpPr>
        <p:spPr>
          <a:xfrm>
            <a:off x="7833240" y="188964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0" name="TextBox 19"/>
          <p:cNvSpPr/>
          <p:nvPr/>
        </p:nvSpPr>
        <p:spPr>
          <a:xfrm>
            <a:off x="7888320" y="196308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x-api-key: ANTHROPIC_API_KEY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Rectangle 20"/>
          <p:cNvSpPr/>
          <p:nvPr/>
        </p:nvSpPr>
        <p:spPr>
          <a:xfrm>
            <a:off x="822960" y="2408040"/>
            <a:ext cx="3503880" cy="516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2" name="TextBox 21"/>
          <p:cNvSpPr/>
          <p:nvPr/>
        </p:nvSpPr>
        <p:spPr>
          <a:xfrm>
            <a:off x="877680" y="248112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Endpoint mental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Rectangle 22"/>
          <p:cNvSpPr/>
          <p:nvPr/>
        </p:nvSpPr>
        <p:spPr>
          <a:xfrm>
            <a:off x="4328280" y="2408040"/>
            <a:ext cx="3503880" cy="516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4" name="TextBox 23"/>
          <p:cNvSpPr/>
          <p:nvPr/>
        </p:nvSpPr>
        <p:spPr>
          <a:xfrm>
            <a:off x="4383000" y="248112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/v1/responses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Rectangle 24"/>
          <p:cNvSpPr/>
          <p:nvPr/>
        </p:nvSpPr>
        <p:spPr>
          <a:xfrm>
            <a:off x="7833240" y="2408040"/>
            <a:ext cx="3503880" cy="516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6" name="TextBox 25"/>
          <p:cNvSpPr/>
          <p:nvPr/>
        </p:nvSpPr>
        <p:spPr>
          <a:xfrm>
            <a:off x="7888320" y="248112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/v1/messages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Rectangle 26"/>
          <p:cNvSpPr/>
          <p:nvPr/>
        </p:nvSpPr>
        <p:spPr>
          <a:xfrm>
            <a:off x="822960" y="292608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8" name="TextBox 27"/>
          <p:cNvSpPr/>
          <p:nvPr/>
        </p:nvSpPr>
        <p:spPr>
          <a:xfrm>
            <a:off x="877680" y="299916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Instrucciones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Rectangle 28"/>
          <p:cNvSpPr/>
          <p:nvPr/>
        </p:nvSpPr>
        <p:spPr>
          <a:xfrm>
            <a:off x="4328280" y="292608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0" name="TextBox 29"/>
          <p:cNvSpPr/>
          <p:nvPr/>
        </p:nvSpPr>
        <p:spPr>
          <a:xfrm>
            <a:off x="4383000" y="299916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input con roles o configuración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Rectangle 30"/>
          <p:cNvSpPr/>
          <p:nvPr/>
        </p:nvSpPr>
        <p:spPr>
          <a:xfrm>
            <a:off x="7833240" y="292608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2" name="TextBox 31"/>
          <p:cNvSpPr/>
          <p:nvPr/>
        </p:nvSpPr>
        <p:spPr>
          <a:xfrm>
            <a:off x="7888320" y="299916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system separado + messages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Rectangle 32"/>
          <p:cNvSpPr/>
          <p:nvPr/>
        </p:nvSpPr>
        <p:spPr>
          <a:xfrm>
            <a:off x="822960" y="3444120"/>
            <a:ext cx="3503880" cy="516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4" name="TextBox 33"/>
          <p:cNvSpPr/>
          <p:nvPr/>
        </p:nvSpPr>
        <p:spPr>
          <a:xfrm>
            <a:off x="877680" y="351756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Salida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Rectangle 34"/>
          <p:cNvSpPr/>
          <p:nvPr/>
        </p:nvSpPr>
        <p:spPr>
          <a:xfrm>
            <a:off x="4328280" y="3444120"/>
            <a:ext cx="3503880" cy="516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6" name="TextBox 35"/>
          <p:cNvSpPr/>
          <p:nvPr/>
        </p:nvSpPr>
        <p:spPr>
          <a:xfrm>
            <a:off x="4383000" y="351756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output_text / estructura de response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Rectangle 36"/>
          <p:cNvSpPr/>
          <p:nvPr/>
        </p:nvSpPr>
        <p:spPr>
          <a:xfrm>
            <a:off x="7833240" y="3444120"/>
            <a:ext cx="3503880" cy="516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8" name="TextBox 37"/>
          <p:cNvSpPr/>
          <p:nvPr/>
        </p:nvSpPr>
        <p:spPr>
          <a:xfrm>
            <a:off x="7888320" y="351756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content[0].text / bloques de contenido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Rectangle 38"/>
          <p:cNvSpPr/>
          <p:nvPr/>
        </p:nvSpPr>
        <p:spPr>
          <a:xfrm>
            <a:off x="822960" y="396252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0" name="TextBox 39"/>
          <p:cNvSpPr/>
          <p:nvPr/>
        </p:nvSpPr>
        <p:spPr>
          <a:xfrm>
            <a:off x="877680" y="403560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Idea común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Rectangle 40"/>
          <p:cNvSpPr/>
          <p:nvPr/>
        </p:nvSpPr>
        <p:spPr>
          <a:xfrm>
            <a:off x="4328280" y="396252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2" name="TextBox 41"/>
          <p:cNvSpPr/>
          <p:nvPr/>
        </p:nvSpPr>
        <p:spPr>
          <a:xfrm>
            <a:off x="4383000" y="403560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modelo + entrada + parámetros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Rectangle 42"/>
          <p:cNvSpPr/>
          <p:nvPr/>
        </p:nvSpPr>
        <p:spPr>
          <a:xfrm>
            <a:off x="7833240" y="3962520"/>
            <a:ext cx="3503880" cy="51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4" name="TextBox 43"/>
          <p:cNvSpPr/>
          <p:nvPr/>
        </p:nvSpPr>
        <p:spPr>
          <a:xfrm>
            <a:off x="7888320" y="4035600"/>
            <a:ext cx="3394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modelo + entrada + parámetros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Box 44"/>
          <p:cNvSpPr/>
          <p:nvPr/>
        </p:nvSpPr>
        <p:spPr>
          <a:xfrm>
            <a:off x="1005840" y="4892040"/>
            <a:ext cx="9874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La arquitectura no cambia: la app adapta una intención común al formato del proveedor elegido.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5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75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SDK en JavaScript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demo usa Node.js para llamar al proveedor desde el backend.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4" name="TextBox 9"/>
          <p:cNvSpPr/>
          <p:nvPr/>
        </p:nvSpPr>
        <p:spPr>
          <a:xfrm>
            <a:off x="1051560" y="1600200"/>
            <a:ext cx="539352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OpenAI from "openai";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Anthropic from "@anthropic-ai/sdk";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const openai = new OpenAI({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apiKey: process.env.OPENAI_API_KEY,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const anthropic = new Anthropic({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apiKey: process.env.ANTHROPIC_API_KEY,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6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7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Sentido de esta parte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El SDK evita escribir todo el HTTP a mano. Lo importante es que la key se lee desde variables de entorno, no desde el frontend.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7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77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Response: texto + metadatos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app no debe leer solo “la respuesta bonita”.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29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answer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Texto final para mostrar al usuario.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model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Modelo usado en esa ejecución.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latencyMs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Tiempo que demoró la llamada.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usage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Tokens de entrada y salida cuando están disponibles.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status/error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Indica éxito o problema.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7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8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request id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Útil para soporte y trazabilidad.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0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80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Errores típicos de proveedor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Se revisan como parte de la operación.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8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9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401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API key incorrecta, revocada o mal copiada.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2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3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402 / billing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Sin créditos o método de pago no habilitado.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6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7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400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Box 19"/>
          <p:cNvSpPr/>
          <p:nvPr/>
        </p:nvSpPr>
        <p:spPr>
          <a:xfrm>
            <a:off x="814716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Body mal formado, modelo inválido o parámetro incorrecto.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0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1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429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Rate limit o cuota temporal superada.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5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500 / 503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Falla temporal del proveedor o servicio.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8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9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Timeout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 backend esperó demasiado y debe cortar.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2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3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34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835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04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Qué ofrecen las plataformas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Box 8"/>
          <p:cNvSpPr/>
          <p:nvPr/>
        </p:nvSpPr>
        <p:spPr>
          <a:xfrm>
            <a:off x="1691640" y="2788920"/>
            <a:ext cx="7953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Verdana"/>
              </a:rPr>
              <a:t>Capacidades visibles: chat, agentes, asistentes, código, audio, imagen y archivos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4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84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Chat / Playground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No es la app final; es una superficie de exploración.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0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1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Explorar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Probar modelos, prompts y parámetros.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4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5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Comparar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Ver diferencias de respuesta entre modelos.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8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9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Aprender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Entender input, output y costo aproximado.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2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3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Limitación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reemplaza backend, tests ni seguridad.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6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7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Propósito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Box 27"/>
          <p:cNvSpPr/>
          <p:nvPr/>
        </p:nvSpPr>
        <p:spPr>
          <a:xfrm>
            <a:off x="4581000" y="3364920"/>
            <a:ext cx="30160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Entender que Chat/Playground sirve para explorar modelos y prompts, pero no reemplaza una integración real.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0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1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Cuidado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pegar secretos ni datos sensibles.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7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87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Agent Builder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interfaz visual para armar flujos agentic.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1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2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Canvas para diseñar workflows de varios pasos.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5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6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Nodos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Cada paso puede tener input, output y herramientas.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9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0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Templates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Puntos de partida para casos frecuentes.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3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4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Debug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Permite revisar ejecuciones y ajustar flujo.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7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8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Exportar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Puede llevarse a código o integrarse con UI.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1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2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Límite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Conviene entender APIs antes de automatizar agentes.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05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906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Assistants / Asistentes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Concepto útil, pero cuidado con versiones y migraciones.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9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2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3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Idea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Asistente con instrucciones, historial y herramientas.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6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7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Uso típico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Soporte, documentos, Q&amp;A o tareas repetibles.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0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1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Estado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Puede mantener una sesión o hilo controlado.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4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5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Herramientas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Búsqueda de archivos, funciones o código.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8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9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Advertencia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Revisar documentación actual del 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2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3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Puente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 concepto evoluciona hacia Responses, Agents y flujos.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36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937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Codex y Claude Code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IA aplicada al ciclo de desarrollo.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0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3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4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Asistencia técnica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Leer código, proponer cambios y explicar errores.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7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8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Contexto de proyecto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Trabaja mejor si entiende archivos y objetivo.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1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2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No es magia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Debe revisarse, probarse y versionarse.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5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6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Distinción importante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Diferenciar “usar un chat” de “asistir desarrollo”.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9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0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Riesgo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Cambios inseguros o no probados.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3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4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Control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Git, tests, revisión humana y permisos.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6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96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Audio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plataforma puede trabajar más allá de texto.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4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5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Entrada de voz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Transcripción o comprensión de audio.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8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9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Salida de voz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Texto a voz para asistentes conversacionales.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2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3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Realtime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Interacciones de baja latencia cuando aplica.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6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7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Costo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Puede cobrarse distinto a texto.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0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1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Casos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Atención telefónica, accesibilidad, entrenamiento.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4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5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Cuidado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Privacidad y consentimiento de grabaciones.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98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999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Imágenes y video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Multimodalidad no significa mismo costo ni mismo riesgo.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2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5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6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Imagen entrada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Analizar capturas, documentos o fotografías.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9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0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Imagen salida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Generar o editar piezas visuales.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3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4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Video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Capacidades emergentes con costos propios.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7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8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Uso empresarial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Marketing, capacitación, soporte visual.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1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2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Riesgo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Derechos, sesgos, privacidad y uso indebido.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5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6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Operación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Revisar pricing, límites y políticas.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29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030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Archivos y documentos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proveedor puede almacenar o referenciar archivos.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3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6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7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Subida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Enviar documentos para análisis o uso repetido.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0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1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file_id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Referenciar archivo sin reenviarlo siempre.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4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5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Q&amp;A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Responder preguntas sobre documentos.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9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Extracción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Sacar campos, tablas o estructuras.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2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3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Retención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Revisar políticas de datos del proveedor.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6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7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Recuperación contextual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Conectar documentos con respuestas más precisas mediante recuperación de información relevante.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6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06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Tools / function calling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modelo solicita una herramienta; el backend valida y controla su ejecución.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39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Tool schema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Define qué herramienta existe, para qué sirve y qué argumentos puede recibir.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Decisión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 modelo detecta cuándo pedir una herramienta.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Ejecución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Backend valida y ejecuta si corresponde.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Resultado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La herramienta devuelve datos al modelo o al usuario.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Control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Permisos, validación y auditoría.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7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8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Ejemplo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crear_ticket({categoria, urgencia, resumen}).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9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09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Memoria, sesión y contexto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No confundir contexto actual con memoria permanente.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8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9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Contexto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Información enviada en la llamada actual.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2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3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Historial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Turnos previos que se mantienen en una sesión.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6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7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Memoria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Datos persistentes o preferencias guardadas.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0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1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Riesgo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Guardar datos innecesarios o sensibles.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4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5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Control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Política de retención y acceso.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8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9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Diseño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Decidir qué se recuerda, por cuánto tiempo y por qué.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22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123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Ambientes, secrets y credenciales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plataforma ayuda, pero la arquitectura decide.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6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9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0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Variables de entorno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Forma simple de guardar secrets en local.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3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4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Secret manager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Servicio para almacenar y rotar credenciales en producción.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7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8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Credential store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Espacio administrado para conexiones o claves.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1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2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Dev / prod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Separar llaves y permisos por ambiente.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5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6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Rotación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Cambiar claves si hay exposición.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9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0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Mínimos permisos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Cada key solo debe poder hacer lo necesario.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5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15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Plantillas y prompts reutilizables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app no improvisa: ejecuta una especificación.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0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1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System estable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Reglas y tono que define la organización.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4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5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Input variable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Texto del usuario, ticket o documento.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8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9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Criterios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Categorías, límites y definición de urgencia.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2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3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Formato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JSON, texto, tabla o markdown.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6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7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Versión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Guardar qué prompt produjo qué resultado.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0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1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Pruebas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Casos esperados antes de pasar a producción.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4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5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86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187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05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Diseño técnico sin entrar aún a LangChain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TextBox 8"/>
          <p:cNvSpPr/>
          <p:nvPr/>
        </p:nvSpPr>
        <p:spPr>
          <a:xfrm>
            <a:off x="1691640" y="2788920"/>
            <a:ext cx="7953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Verdana"/>
              </a:rPr>
              <a:t>Adapters, cadenas, tools y orquestación como puente hacia las próximas clases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95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196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AI Adapter: una interfaz común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backend oculta diferencias entre OpenAI y Claude detrás de una función.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9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Rounded Rectangle 8"/>
          <p:cNvSpPr/>
          <p:nvPr/>
        </p:nvSpPr>
        <p:spPr>
          <a:xfrm>
            <a:off x="1005840" y="1417320"/>
            <a:ext cx="4753440" cy="10044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2" name="TextBox 9"/>
          <p:cNvSpPr/>
          <p:nvPr/>
        </p:nvSpPr>
        <p:spPr>
          <a:xfrm>
            <a:off x="1234440" y="1783080"/>
            <a:ext cx="42962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Verdana"/>
              </a:rPr>
              <a:t>askModel({ provider, prompt, temperature, maxTokens })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Rounded Rectangle 10"/>
          <p:cNvSpPr/>
          <p:nvPr/>
        </p:nvSpPr>
        <p:spPr>
          <a:xfrm>
            <a:off x="1097280" y="2971800"/>
            <a:ext cx="2741760" cy="11872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4" name="Rectangle 11"/>
          <p:cNvSpPr/>
          <p:nvPr/>
        </p:nvSpPr>
        <p:spPr>
          <a:xfrm>
            <a:off x="1097280" y="2971800"/>
            <a:ext cx="53280" cy="11872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5" name="TextBox 12"/>
          <p:cNvSpPr/>
          <p:nvPr/>
        </p:nvSpPr>
        <p:spPr>
          <a:xfrm>
            <a:off x="1243440" y="3090600"/>
            <a:ext cx="2504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Si provider = OpenAI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TextBox 13"/>
          <p:cNvSpPr/>
          <p:nvPr/>
        </p:nvSpPr>
        <p:spPr>
          <a:xfrm>
            <a:off x="1243440" y="3456360"/>
            <a:ext cx="251316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Usa Responses API y devuelve una estructura común.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Rounded Rectangle 14"/>
          <p:cNvSpPr/>
          <p:nvPr/>
        </p:nvSpPr>
        <p:spPr>
          <a:xfrm>
            <a:off x="4663440" y="2971800"/>
            <a:ext cx="2741760" cy="11872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8" name="Rectangle 15"/>
          <p:cNvSpPr/>
          <p:nvPr/>
        </p:nvSpPr>
        <p:spPr>
          <a:xfrm>
            <a:off x="4663440" y="2971800"/>
            <a:ext cx="53280" cy="11872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9" name="TextBox 16"/>
          <p:cNvSpPr/>
          <p:nvPr/>
        </p:nvSpPr>
        <p:spPr>
          <a:xfrm>
            <a:off x="4809600" y="3090600"/>
            <a:ext cx="2504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Si provider =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TextBox 17"/>
          <p:cNvSpPr/>
          <p:nvPr/>
        </p:nvSpPr>
        <p:spPr>
          <a:xfrm>
            <a:off x="4809600" y="3456360"/>
            <a:ext cx="2513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Usa Messages API y traduce la respuesta.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Rounded Rectangle 18"/>
          <p:cNvSpPr/>
          <p:nvPr/>
        </p:nvSpPr>
        <p:spPr>
          <a:xfrm>
            <a:off x="8229600" y="2971800"/>
            <a:ext cx="2741760" cy="118728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2" name="Rectangle 19"/>
          <p:cNvSpPr/>
          <p:nvPr/>
        </p:nvSpPr>
        <p:spPr>
          <a:xfrm>
            <a:off x="8229600" y="2971800"/>
            <a:ext cx="53280" cy="118728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3" name="TextBox 20"/>
          <p:cNvSpPr/>
          <p:nvPr/>
        </p:nvSpPr>
        <p:spPr>
          <a:xfrm>
            <a:off x="8375760" y="3090600"/>
            <a:ext cx="2504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Salida estándar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TextBox 21"/>
          <p:cNvSpPr/>
          <p:nvPr/>
        </p:nvSpPr>
        <p:spPr>
          <a:xfrm>
            <a:off x="8375760" y="3456360"/>
            <a:ext cx="2513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{ answer, model, latencyMs, provider }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TextBox 22"/>
          <p:cNvSpPr/>
          <p:nvPr/>
        </p:nvSpPr>
        <p:spPr>
          <a:xfrm>
            <a:off x="914400" y="5074920"/>
            <a:ext cx="103312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Diseñar un adapter evita que toda la app dependa de la sintaxis exacta de un proveedor.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1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21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Diseño multi-proveedor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No siempre se usa, pero conviene conocer el patrón.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4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5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Comparación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Evaluar calidad entre proveedores con el mismo caso.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8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9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Fallback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Usar proveedor B si proveedor A falla.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2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3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Costo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Enviar tareas simples a modelos económicos.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6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7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Especialización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Elegir proveedor por tarea: texto largo, código, multimodal.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0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1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Negociación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Evitar dependencia total de una sola plataforma.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4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5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Complejidad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Más proveedores implican más logs, pruebas y mantenimiento.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48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249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Cadena simple: separar pasos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chain divide una tarea grande en operaciones pequeñas y verificables.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2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Rounded Rectangle 8"/>
          <p:cNvSpPr/>
          <p:nvPr/>
        </p:nvSpPr>
        <p:spPr>
          <a:xfrm>
            <a:off x="960120" y="2148840"/>
            <a:ext cx="1896840" cy="77580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5" name="TextBox 9"/>
          <p:cNvSpPr/>
          <p:nvPr/>
        </p:nvSpPr>
        <p:spPr>
          <a:xfrm>
            <a:off x="1033200" y="2393280"/>
            <a:ext cx="1750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Texto bruto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reclamo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TextBox 10"/>
          <p:cNvSpPr/>
          <p:nvPr/>
        </p:nvSpPr>
        <p:spPr>
          <a:xfrm>
            <a:off x="2876760" y="23684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Rounded Rectangle 11"/>
          <p:cNvSpPr/>
          <p:nvPr/>
        </p:nvSpPr>
        <p:spPr>
          <a:xfrm>
            <a:off x="3022920" y="2148840"/>
            <a:ext cx="1896840" cy="77580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8" name="TextBox 12"/>
          <p:cNvSpPr/>
          <p:nvPr/>
        </p:nvSpPr>
        <p:spPr>
          <a:xfrm>
            <a:off x="3096000" y="2393280"/>
            <a:ext cx="1750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Paso 1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extraer hechos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TextBox 13"/>
          <p:cNvSpPr/>
          <p:nvPr/>
        </p:nvSpPr>
        <p:spPr>
          <a:xfrm>
            <a:off x="4939560" y="23684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Rounded Rectangle 14"/>
          <p:cNvSpPr/>
          <p:nvPr/>
        </p:nvSpPr>
        <p:spPr>
          <a:xfrm>
            <a:off x="5085720" y="2148840"/>
            <a:ext cx="1896840" cy="77580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1" name="TextBox 15"/>
          <p:cNvSpPr/>
          <p:nvPr/>
        </p:nvSpPr>
        <p:spPr>
          <a:xfrm>
            <a:off x="5159160" y="2393280"/>
            <a:ext cx="1750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Paso 2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clasificar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TextBox 16"/>
          <p:cNvSpPr/>
          <p:nvPr/>
        </p:nvSpPr>
        <p:spPr>
          <a:xfrm>
            <a:off x="7002360" y="23684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Rounded Rectangle 17"/>
          <p:cNvSpPr/>
          <p:nvPr/>
        </p:nvSpPr>
        <p:spPr>
          <a:xfrm>
            <a:off x="7148880" y="2148840"/>
            <a:ext cx="1896840" cy="77580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4" name="TextBox 18"/>
          <p:cNvSpPr/>
          <p:nvPr/>
        </p:nvSpPr>
        <p:spPr>
          <a:xfrm>
            <a:off x="7221960" y="2393280"/>
            <a:ext cx="1750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Paso 3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redactar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TextBox 19"/>
          <p:cNvSpPr/>
          <p:nvPr/>
        </p:nvSpPr>
        <p:spPr>
          <a:xfrm>
            <a:off x="9065520" y="23684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Rounded Rectangle 20"/>
          <p:cNvSpPr/>
          <p:nvPr/>
        </p:nvSpPr>
        <p:spPr>
          <a:xfrm>
            <a:off x="9211680" y="2148840"/>
            <a:ext cx="1896840" cy="775800"/>
          </a:xfrm>
          <a:prstGeom prst="roundRect">
            <a:avLst>
              <a:gd name="adj" fmla="val 16667"/>
            </a:avLst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7" name="TextBox 21"/>
          <p:cNvSpPr/>
          <p:nvPr/>
        </p:nvSpPr>
        <p:spPr>
          <a:xfrm>
            <a:off x="9284760" y="2393280"/>
            <a:ext cx="1750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Salida</a:t>
            </a:r>
            <a:br>
              <a:rPr sz="900"/>
            </a:br>
            <a:r>
              <a:rPr b="1" lang="en-US" sz="900" spc="-1" strike="noStrike">
                <a:solidFill>
                  <a:srgbClr val="ffffff"/>
                </a:solidFill>
                <a:latin typeface="Verdana"/>
              </a:rPr>
              <a:t>validada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Rounded Rectangle 22"/>
          <p:cNvSpPr/>
          <p:nvPr/>
        </p:nvSpPr>
        <p:spPr>
          <a:xfrm>
            <a:off x="1143000" y="3749040"/>
            <a:ext cx="4570560" cy="123300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9" name="Rectangle 23"/>
          <p:cNvSpPr/>
          <p:nvPr/>
        </p:nvSpPr>
        <p:spPr>
          <a:xfrm>
            <a:off x="1143000" y="3749040"/>
            <a:ext cx="53280" cy="123300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0" name="TextBox 24"/>
          <p:cNvSpPr/>
          <p:nvPr/>
        </p:nvSpPr>
        <p:spPr>
          <a:xfrm>
            <a:off x="1289160" y="3867840"/>
            <a:ext cx="4332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Por qué sirve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TextBox 25"/>
          <p:cNvSpPr/>
          <p:nvPr/>
        </p:nvSpPr>
        <p:spPr>
          <a:xfrm>
            <a:off x="1289160" y="4233600"/>
            <a:ext cx="434196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Cada paso tiene una entrada y salida más clara. Es más fácil detectar dónde falló.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Rounded Rectangle 26"/>
          <p:cNvSpPr/>
          <p:nvPr/>
        </p:nvSpPr>
        <p:spPr>
          <a:xfrm>
            <a:off x="6446520" y="3749040"/>
            <a:ext cx="4570560" cy="123300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3" name="Rectangle 27"/>
          <p:cNvSpPr/>
          <p:nvPr/>
        </p:nvSpPr>
        <p:spPr>
          <a:xfrm>
            <a:off x="6446520" y="3749040"/>
            <a:ext cx="53280" cy="123300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4" name="TextBox 28"/>
          <p:cNvSpPr/>
          <p:nvPr/>
        </p:nvSpPr>
        <p:spPr>
          <a:xfrm>
            <a:off x="6592680" y="3867840"/>
            <a:ext cx="4332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Qué veremos después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TextBox 29"/>
          <p:cNvSpPr/>
          <p:nvPr/>
        </p:nvSpPr>
        <p:spPr>
          <a:xfrm>
            <a:off x="6592680" y="4233600"/>
            <a:ext cx="4341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LangChain permite modelar estas cadenas con componentes reutilizables.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7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27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Orquestación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Coordinar pasos, proveedores y herramientas.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4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5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Ruta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Decidir qué paso va primero y cuál depende de otro.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8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9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Condiciones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Si falta información, pedir aclaración o derivar.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2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3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Proveedor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Elegir modelo según tarea y costo.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6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7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Herramienta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Consultar una API o base de datos externa.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0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1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Estado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Mantener sesión o contexto útil.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4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5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Observabilidad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Registrar qué pasó en cada paso.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08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309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Chain, tool y agente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Tres palabras que suelen mezclarse.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2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Rounded Rectangle 8"/>
          <p:cNvSpPr/>
          <p:nvPr/>
        </p:nvSpPr>
        <p:spPr>
          <a:xfrm>
            <a:off x="8686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5" name="Rectangle 9"/>
          <p:cNvSpPr/>
          <p:nvPr/>
        </p:nvSpPr>
        <p:spPr>
          <a:xfrm>
            <a:off x="868680" y="1417320"/>
            <a:ext cx="53280" cy="39304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6" name="TextBox 10"/>
          <p:cNvSpPr/>
          <p:nvPr/>
        </p:nvSpPr>
        <p:spPr>
          <a:xfrm>
            <a:off x="10148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Chain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TextBox 11"/>
          <p:cNvSpPr/>
          <p:nvPr/>
        </p:nvSpPr>
        <p:spPr>
          <a:xfrm>
            <a:off x="11430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Flujo de pasos definidos por el desarrollador.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Útil cuando el proceso es claro.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Más predecible y auditable.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Rounded Rectangle 12"/>
          <p:cNvSpPr/>
          <p:nvPr/>
        </p:nvSpPr>
        <p:spPr>
          <a:xfrm>
            <a:off x="63550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9" name="Rectangle 13"/>
          <p:cNvSpPr/>
          <p:nvPr/>
        </p:nvSpPr>
        <p:spPr>
          <a:xfrm>
            <a:off x="6355080" y="1417320"/>
            <a:ext cx="53280" cy="39304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0" name="TextBox 14"/>
          <p:cNvSpPr/>
          <p:nvPr/>
        </p:nvSpPr>
        <p:spPr>
          <a:xfrm>
            <a:off x="65012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Agente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TextBox 15"/>
          <p:cNvSpPr/>
          <p:nvPr/>
        </p:nvSpPr>
        <p:spPr>
          <a:xfrm>
            <a:off x="66294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El modelo puede decidir pasos o tools.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Útil para tareas abiertas o multi-paso.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Requiere más control y evaluación.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TextBox 16"/>
          <p:cNvSpPr/>
          <p:nvPr/>
        </p:nvSpPr>
        <p:spPr>
          <a:xfrm>
            <a:off x="914400" y="5715000"/>
            <a:ext cx="10514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Tool: función externa que puede usar una chain o un agente.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2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32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OpenAI / Claude Platform vs LangChain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No son lo mismo, pero se solapan.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49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Rounded Rectangle 8"/>
          <p:cNvSpPr/>
          <p:nvPr/>
        </p:nvSpPr>
        <p:spPr>
          <a:xfrm>
            <a:off x="8686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1" name="Rectangle 9"/>
          <p:cNvSpPr/>
          <p:nvPr/>
        </p:nvSpPr>
        <p:spPr>
          <a:xfrm>
            <a:off x="868680" y="1417320"/>
            <a:ext cx="53280" cy="393048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2" name="TextBox 10"/>
          <p:cNvSpPr/>
          <p:nvPr/>
        </p:nvSpPr>
        <p:spPr>
          <a:xfrm>
            <a:off x="10148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Plataformas proveedor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TextBox 11"/>
          <p:cNvSpPr/>
          <p:nvPr/>
        </p:nvSpPr>
        <p:spPr>
          <a:xfrm>
            <a:off x="11430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Muy buenas dentro de su ecosistema.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Workbench, logs, agents, tools y modelos propios.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Menos neutrales si mezclo muchos proveedores.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Rounded Rectangle 12"/>
          <p:cNvSpPr/>
          <p:nvPr/>
        </p:nvSpPr>
        <p:spPr>
          <a:xfrm>
            <a:off x="6355080" y="1417320"/>
            <a:ext cx="4982040" cy="393048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5" name="Rectangle 13"/>
          <p:cNvSpPr/>
          <p:nvPr/>
        </p:nvSpPr>
        <p:spPr>
          <a:xfrm>
            <a:off x="6355080" y="1417320"/>
            <a:ext cx="53280" cy="393048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6" name="TextBox 14"/>
          <p:cNvSpPr/>
          <p:nvPr/>
        </p:nvSpPr>
        <p:spPr>
          <a:xfrm>
            <a:off x="6501240" y="1536120"/>
            <a:ext cx="474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Verdana"/>
              </a:rPr>
              <a:t>LangChain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TextBox 15"/>
          <p:cNvSpPr/>
          <p:nvPr/>
        </p:nvSpPr>
        <p:spPr>
          <a:xfrm>
            <a:off x="6629400" y="1965960"/>
            <a:ext cx="447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Framework en Python y JavaScript/TypeScript.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Organiza prompts, chains, tools, retrievers y agents.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Verdana"/>
              </a:rPr>
              <a:t>Más flexible para multi-proveedor y RAG personalizado.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TextBox 16"/>
          <p:cNvSpPr/>
          <p:nvPr/>
        </p:nvSpPr>
        <p:spPr>
          <a:xfrm>
            <a:off x="914400" y="5715000"/>
            <a:ext cx="10514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300" spc="-1" strike="noStrike">
                <a:solidFill>
                  <a:srgbClr val="007070"/>
                </a:solidFill>
                <a:latin typeface="Verdana"/>
              </a:rPr>
              <a:t>Las plataformas entregan capacidades propias del proveedor; LangChain permite abstraer y orquestar esas capacidades dentro de flujos más flexibles y multi-proveedor.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4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34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Riesgos operativos al subir de nivel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Mientras más autónomo el sistema, más controles requiere.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7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8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Acciones indebidas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TextBox 11"/>
          <p:cNvSpPr/>
          <p:nvPr/>
        </p:nvSpPr>
        <p:spPr>
          <a:xfrm>
            <a:off x="101484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El agente ejecuta algo sin validación.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1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2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Costo invisible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TextBox 15"/>
          <p:cNvSpPr/>
          <p:nvPr/>
        </p:nvSpPr>
        <p:spPr>
          <a:xfrm>
            <a:off x="458100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Loops, reintentos o contexto excesivo.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5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6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Datos sensibles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Se envía o guarda más de lo necesario.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9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0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Prompt injection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TextBox 23"/>
          <p:cNvSpPr/>
          <p:nvPr/>
        </p:nvSpPr>
        <p:spPr>
          <a:xfrm>
            <a:off x="101484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Datos no confiables intentan cambiar instrucciones.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3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4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Trazabilidad baja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No se sabe qué paso produjo el error.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7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8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Dependencia proveedor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TextBox 31"/>
          <p:cNvSpPr/>
          <p:nvPr/>
        </p:nvSpPr>
        <p:spPr>
          <a:xfrm>
            <a:off x="814716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Cambios de API, modelo o precio afectan la app.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1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2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73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374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06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Demo local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TextBox 8"/>
          <p:cNvSpPr/>
          <p:nvPr/>
        </p:nvSpPr>
        <p:spPr>
          <a:xfrm>
            <a:off x="1691640" y="2788920"/>
            <a:ext cx="79538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Verdana"/>
              </a:rPr>
              <a:t>Una mini app que consume OpenAI desde backend y deja preparado Claude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82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383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Arquitectura de la demo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navegador nunca ve la API key.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6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Rounded Rectangle 8"/>
          <p:cNvSpPr/>
          <p:nvPr/>
        </p:nvSpPr>
        <p:spPr>
          <a:xfrm>
            <a:off x="685800" y="1920240"/>
            <a:ext cx="1659600" cy="82152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9" name="TextBox 9"/>
          <p:cNvSpPr/>
          <p:nvPr/>
        </p:nvSpPr>
        <p:spPr>
          <a:xfrm>
            <a:off x="758880" y="2195640"/>
            <a:ext cx="151344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Navegador</a:t>
            </a:r>
            <a:br>
              <a:rPr sz="850"/>
            </a:b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UI tipo chat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TextBox 10"/>
          <p:cNvSpPr/>
          <p:nvPr/>
        </p:nvSpPr>
        <p:spPr>
          <a:xfrm>
            <a:off x="2365200" y="21398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Rounded Rectangle 11"/>
          <p:cNvSpPr/>
          <p:nvPr/>
        </p:nvSpPr>
        <p:spPr>
          <a:xfrm>
            <a:off x="2511720" y="1920240"/>
            <a:ext cx="1659600" cy="82152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2" name="TextBox 12"/>
          <p:cNvSpPr/>
          <p:nvPr/>
        </p:nvSpPr>
        <p:spPr>
          <a:xfrm>
            <a:off x="2584800" y="2195640"/>
            <a:ext cx="151344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fetch POST</a:t>
            </a:r>
            <a:br>
              <a:rPr sz="850"/>
            </a:b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/api/ask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TextBox 13"/>
          <p:cNvSpPr/>
          <p:nvPr/>
        </p:nvSpPr>
        <p:spPr>
          <a:xfrm>
            <a:off x="4191120" y="21398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Rounded Rectangle 14"/>
          <p:cNvSpPr/>
          <p:nvPr/>
        </p:nvSpPr>
        <p:spPr>
          <a:xfrm>
            <a:off x="4337280" y="1920240"/>
            <a:ext cx="1659600" cy="82152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5" name="TextBox 15"/>
          <p:cNvSpPr/>
          <p:nvPr/>
        </p:nvSpPr>
        <p:spPr>
          <a:xfrm>
            <a:off x="4410360" y="2195640"/>
            <a:ext cx="151344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Backend</a:t>
            </a:r>
            <a:br>
              <a:rPr sz="850"/>
            </a:b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Express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TextBox 16"/>
          <p:cNvSpPr/>
          <p:nvPr/>
        </p:nvSpPr>
        <p:spPr>
          <a:xfrm>
            <a:off x="6016680" y="21398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Rounded Rectangle 17"/>
          <p:cNvSpPr/>
          <p:nvPr/>
        </p:nvSpPr>
        <p:spPr>
          <a:xfrm>
            <a:off x="6163200" y="1920240"/>
            <a:ext cx="1659600" cy="821520"/>
          </a:xfrm>
          <a:prstGeom prst="roundRect">
            <a:avLst>
              <a:gd name="adj" fmla="val 16667"/>
            </a:avLst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8" name="TextBox 18"/>
          <p:cNvSpPr/>
          <p:nvPr/>
        </p:nvSpPr>
        <p:spPr>
          <a:xfrm>
            <a:off x="6236280" y="2195640"/>
            <a:ext cx="151344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process.env</a:t>
            </a:r>
            <a:br>
              <a:rPr sz="850"/>
            </a:b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.env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TextBox 19"/>
          <p:cNvSpPr/>
          <p:nvPr/>
        </p:nvSpPr>
        <p:spPr>
          <a:xfrm>
            <a:off x="7842600" y="21398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Rounded Rectangle 20"/>
          <p:cNvSpPr/>
          <p:nvPr/>
        </p:nvSpPr>
        <p:spPr>
          <a:xfrm>
            <a:off x="7988760" y="1920240"/>
            <a:ext cx="1659600" cy="821520"/>
          </a:xfrm>
          <a:prstGeom prst="roundRect">
            <a:avLst>
              <a:gd name="adj" fmla="val 16667"/>
            </a:avLst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1" name="TextBox 21"/>
          <p:cNvSpPr/>
          <p:nvPr/>
        </p:nvSpPr>
        <p:spPr>
          <a:xfrm>
            <a:off x="8061840" y="2195640"/>
            <a:ext cx="151344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OpenAI SDK</a:t>
            </a:r>
            <a:br>
              <a:rPr sz="850"/>
            </a:b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Responses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TextBox 22"/>
          <p:cNvSpPr/>
          <p:nvPr/>
        </p:nvSpPr>
        <p:spPr>
          <a:xfrm>
            <a:off x="9668160" y="2139840"/>
            <a:ext cx="126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007070"/>
                </a:solidFill>
                <a:latin typeface="Verdana"/>
              </a:rPr>
              <a:t>→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Rounded Rectangle 23"/>
          <p:cNvSpPr/>
          <p:nvPr/>
        </p:nvSpPr>
        <p:spPr>
          <a:xfrm>
            <a:off x="9814680" y="1920240"/>
            <a:ext cx="1659600" cy="821520"/>
          </a:xfrm>
          <a:prstGeom prst="roundRect">
            <a:avLst>
              <a:gd name="adj" fmla="val 16667"/>
            </a:avLst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4" name="TextBox 24"/>
          <p:cNvSpPr/>
          <p:nvPr/>
        </p:nvSpPr>
        <p:spPr>
          <a:xfrm>
            <a:off x="9887760" y="2195640"/>
            <a:ext cx="151344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Respuesta</a:t>
            </a:r>
            <a:br>
              <a:rPr sz="850"/>
            </a:b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modelo + latencia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Rounded Rectangle 25"/>
          <p:cNvSpPr/>
          <p:nvPr/>
        </p:nvSpPr>
        <p:spPr>
          <a:xfrm>
            <a:off x="960120" y="3657600"/>
            <a:ext cx="3198960" cy="127872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6" name="Rectangle 26"/>
          <p:cNvSpPr/>
          <p:nvPr/>
        </p:nvSpPr>
        <p:spPr>
          <a:xfrm>
            <a:off x="960120" y="3657600"/>
            <a:ext cx="53280" cy="127872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7" name="TextBox 27"/>
          <p:cNvSpPr/>
          <p:nvPr/>
        </p:nvSpPr>
        <p:spPr>
          <a:xfrm>
            <a:off x="1106280" y="3776400"/>
            <a:ext cx="2961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Mensaje central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TextBox 28"/>
          <p:cNvSpPr/>
          <p:nvPr/>
        </p:nvSpPr>
        <p:spPr>
          <a:xfrm>
            <a:off x="1106280" y="4142160"/>
            <a:ext cx="297036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Lo que en Postman hicimos manualmente, ahora lo hace una app.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Rounded Rectangle 29"/>
          <p:cNvSpPr/>
          <p:nvPr/>
        </p:nvSpPr>
        <p:spPr>
          <a:xfrm>
            <a:off x="4480560" y="3657600"/>
            <a:ext cx="3198960" cy="127872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0" name="Rectangle 30"/>
          <p:cNvSpPr/>
          <p:nvPr/>
        </p:nvSpPr>
        <p:spPr>
          <a:xfrm>
            <a:off x="4480560" y="3657600"/>
            <a:ext cx="53280" cy="127872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1" name="TextBox 31"/>
          <p:cNvSpPr/>
          <p:nvPr/>
        </p:nvSpPr>
        <p:spPr>
          <a:xfrm>
            <a:off x="4626720" y="3776400"/>
            <a:ext cx="2961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Por qué backend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TextBox 32"/>
          <p:cNvSpPr/>
          <p:nvPr/>
        </p:nvSpPr>
        <p:spPr>
          <a:xfrm>
            <a:off x="4626720" y="4142160"/>
            <a:ext cx="297036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Protege la key, valida prompt, limita tokens y maneja errores.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Rounded Rectangle 33"/>
          <p:cNvSpPr/>
          <p:nvPr/>
        </p:nvSpPr>
        <p:spPr>
          <a:xfrm>
            <a:off x="8001000" y="3657600"/>
            <a:ext cx="3198960" cy="127872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4" name="Rectangle 34"/>
          <p:cNvSpPr/>
          <p:nvPr/>
        </p:nvSpPr>
        <p:spPr>
          <a:xfrm>
            <a:off x="8001000" y="3657600"/>
            <a:ext cx="53280" cy="127872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5" name="TextBox 35"/>
          <p:cNvSpPr/>
          <p:nvPr/>
        </p:nvSpPr>
        <p:spPr>
          <a:xfrm>
            <a:off x="8147160" y="3776400"/>
            <a:ext cx="2961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Por qué local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TextBox 36"/>
          <p:cNvSpPr/>
          <p:nvPr/>
        </p:nvSpPr>
        <p:spPr>
          <a:xfrm>
            <a:off x="8147160" y="4142160"/>
            <a:ext cx="297036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Permite enseñar el patrón sin desplegar infraestructura.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18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19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importaciones y .env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Primera parte del archivo server.js.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2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5" name="TextBox 9"/>
          <p:cNvSpPr/>
          <p:nvPr/>
        </p:nvSpPr>
        <p:spPr>
          <a:xfrm>
            <a:off x="1051560" y="1600200"/>
            <a:ext cx="5393520" cy="11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express from "express";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cors from "cors";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dotenv from "dotenv";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OpenAI from "openai";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import Anthropic from "@anthropic-ai/sdk";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dotenv.config();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7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8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Importamos librerías del backend y cargamos variables de entorno. La API key vive en .env, no en el frontend.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3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3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aplicación Express y puerto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Base mínima del servidor local.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8" name="TextBox 9"/>
          <p:cNvSpPr/>
          <p:nvPr/>
        </p:nvSpPr>
        <p:spPr>
          <a:xfrm>
            <a:off x="1051560" y="1600200"/>
            <a:ext cx="53935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const app = express();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const PORT = process.env.PORT || 3000;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0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1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Crea la aplicación backend con Express y define el puerto. Si no hay PORT en .env, usa 3000.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4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4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recibir JSON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backend debe entender el body enviado por el frontend.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1" name="TextBox 9"/>
          <p:cNvSpPr/>
          <p:nvPr/>
        </p:nvSpPr>
        <p:spPr>
          <a:xfrm>
            <a:off x="1051560" y="1600200"/>
            <a:ext cx="53935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app.use(cors());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app.use(express.json());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3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4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express.json() permite leer solicitudes con body JSON. Es lo mismo que enviábamos manualmente desde Postman.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5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5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frontend incrustado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Para la demo servimos una página HTML desde el backend.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4" name="TextBox 9"/>
          <p:cNvSpPr/>
          <p:nvPr/>
        </p:nvSpPr>
        <p:spPr>
          <a:xfrm>
            <a:off x="1051560" y="1600200"/>
            <a:ext cx="539352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function renderHomePage()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return `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&lt;html&gt;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  &lt;body&gt;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    &lt;textarea id="prompt"&gt;&lt;/textarea&gt;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    &lt;button onclick="sendPrompt()"&gt;Enviar&lt;/button&gt;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  &lt;/body&gt;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&lt;/html&gt;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`;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6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7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Devuelve el HTML, CSS y JavaScript de la interfaz tipo chat. Es una maqueta didáctica, no la arquitectura final de producción.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7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7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función del botón Enviar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frontend captura la entrada del usuario.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59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7" name="TextBox 9"/>
          <p:cNvSpPr/>
          <p:nvPr/>
        </p:nvSpPr>
        <p:spPr>
          <a:xfrm>
            <a:off x="1051560" y="1600200"/>
            <a:ext cx="5393520" cy="13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async function sendPrompt()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provider = document.getElementById("provider").value;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temperature = Number(document.getElementById("temperature").value);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maxTokens = Number(document.getElementById("maxTokens").value);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prompt = promptInput.value.trim();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// luego se envía al backend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9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0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Esta función se ejecuta cuando el usuario presiona Enviar. Lee prompt, proveedor, temperatura y máximo de tokens.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83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84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fetch desde el navegador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frontend arma una solicitud POST igual que en Postman.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7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0" name="TextBox 9"/>
          <p:cNvSpPr/>
          <p:nvPr/>
        </p:nvSpPr>
        <p:spPr>
          <a:xfrm>
            <a:off x="1051560" y="1600200"/>
            <a:ext cx="5393520" cy="19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fetch("/api/ask",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method: "POST",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headers: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"Content-Type": "application/json"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body: JSON.stringify({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provider,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prompt,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temperature,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maxTokens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})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2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3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Aquí están método, endpoint, headers y body JSON. La diferencia es que ahora lo ejecuta una interfaz, no Postman.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96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497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ruta principal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Qué ocurre al abrir localhost:3000.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0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3" name="TextBox 9"/>
          <p:cNvSpPr/>
          <p:nvPr/>
        </p:nvSpPr>
        <p:spPr>
          <a:xfrm>
            <a:off x="1051560" y="1600200"/>
            <a:ext cx="5393520" cy="5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app.get("/", (req, res) =&gt;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res.send(renderHomePage());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5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6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Cuando entramos a localhost:3000, el backend responde con la interfaz HTML de la demo.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09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10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endpoint de salud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Diagnóstico rápido sin llamar al modelo.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3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6" name="TextBox 9"/>
          <p:cNvSpPr/>
          <p:nvPr/>
        </p:nvSpPr>
        <p:spPr>
          <a:xfrm>
            <a:off x="1051560" y="1600200"/>
            <a:ext cx="5393520" cy="13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app.get("/api/health", (req, res) =&gt;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res.json({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ok: true,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service: "mini-llm-api",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openaiConfigured: Boolean(openai),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claudeConfigured: Boolean(anthropic)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8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9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Sirve para verificar que el backend está vivo y si detecta las claves configuradas. No consume tokens.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22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23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endpoint principal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Aquí vive la API propia de la demo.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6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9" name="TextBox 9"/>
          <p:cNvSpPr/>
          <p:nvPr/>
        </p:nvSpPr>
        <p:spPr>
          <a:xfrm>
            <a:off x="1051560" y="1600200"/>
            <a:ext cx="539352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app.post("/api/ask", async (req, res) =&gt;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provider = "openai",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prompt,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temperature = 0.2,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maxTokens = 250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 = req.body;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// validar entrada y llamar proveedor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1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2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El frontend llama a /api/ask. Este endpoint recibe el body, valida la entrada, decide proveedor y devuelve JSON.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35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36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bloque OpenAI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El backend decide usar OpenAI cuando corresponde.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9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2" name="TextBox 9"/>
          <p:cNvSpPr/>
          <p:nvPr/>
        </p:nvSpPr>
        <p:spPr>
          <a:xfrm>
            <a:off x="1051560" y="1600200"/>
            <a:ext cx="539352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if (provider === "openai")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model = process.env.OPENAI_MODEL || "gpt-5.4-mini";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response = await openai.responses.create({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model,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input,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temperature,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max_output_tokens: maxTokens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4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5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Si el proveedor seleccionado es OpenAI, el backend elige modelo, usa el SDK y llama a la Responses API.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48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49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system prompt y usuario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app separa reglas internas y entrada variable.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2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5" name="TextBox 9"/>
          <p:cNvSpPr/>
          <p:nvPr/>
        </p:nvSpPr>
        <p:spPr>
          <a:xfrm>
            <a:off x="1051560" y="1600200"/>
            <a:ext cx="539352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input: [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role: "system",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content: "Responde en español claro, tono claro y profesional y máximo 120 palabras."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role: "user",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content: prompt.trim()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]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7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8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El usuario escribe la tarea, pero el backend agrega reglas de comportamiento. Esa separación mejora control y mantenimiento.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6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62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leer respuesta del modelo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Tomar el texto final que vuelve desde OpenAI.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8" name="TextBox 9"/>
          <p:cNvSpPr/>
          <p:nvPr/>
        </p:nvSpPr>
        <p:spPr>
          <a:xfrm>
            <a:off x="1051560" y="1600200"/>
            <a:ext cx="5393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return res.json({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provider: "openai",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model,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answer: response.output_text,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latencyMs: Date.now() - startedAt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0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1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El proveedor devuelve datos y metadatos. Nosotros extraemos el texto final y devolvemos también modelo y latencia.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7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7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bloque Claude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Mismo patrón, proveedor y sintaxis distintos.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1" name="TextBox 9"/>
          <p:cNvSpPr/>
          <p:nvPr/>
        </p:nvSpPr>
        <p:spPr>
          <a:xfrm>
            <a:off x="1051560" y="1600200"/>
            <a:ext cx="5393520" cy="181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if (provider === "claude")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model = process.env.CLAUDE_MODEL;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const message = await anthropic.messages.create({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model,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max_tokens: maxTokens,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temperature,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system,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messages: [{ role: "user", content: prompt.trim() }]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3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4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TextBox 13"/>
          <p:cNvSpPr/>
          <p:nvPr/>
        </p:nvSpPr>
        <p:spPr>
          <a:xfrm>
            <a:off x="7141320" y="2084760"/>
            <a:ext cx="38847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Con Claude cambia el SDK y la estructura de request, pero la arquitectura sigue siendo frontend → backend → proveedor.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7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588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manejo de errores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Una API debe fallar de forma controlada.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1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4" name="TextBox 9"/>
          <p:cNvSpPr/>
          <p:nvPr/>
        </p:nvSpPr>
        <p:spPr>
          <a:xfrm>
            <a:off x="1051560" y="1600200"/>
            <a:ext cx="539352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if (!prompt || typeof prompt !== "string")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return res.status(400).json({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  error: "Falta el campo prompt"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});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return res.status(500).json({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error: "Error llamando al proveedor LLM",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detail: error.message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6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7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El backend responde con errores claros ante prompt vacío, key faltante, proveedor inválido o falla externa.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0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601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Código: levantar servidor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La app queda disponible en localhost.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69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Rounded Rectangle 8"/>
          <p:cNvSpPr/>
          <p:nvPr/>
        </p:nvSpPr>
        <p:spPr>
          <a:xfrm>
            <a:off x="868680" y="1417320"/>
            <a:ext cx="5759280" cy="3976200"/>
          </a:xfrm>
          <a:prstGeom prst="roundRect">
            <a:avLst>
              <a:gd name="adj" fmla="val 16667"/>
            </a:avLst>
          </a:prstGeom>
          <a:solidFill>
            <a:srgbClr val="101b28"/>
          </a:solidFill>
          <a:ln>
            <a:solidFill>
              <a:srgbClr val="3041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7" name="TextBox 9"/>
          <p:cNvSpPr/>
          <p:nvPr/>
        </p:nvSpPr>
        <p:spPr>
          <a:xfrm>
            <a:off x="1051560" y="1600200"/>
            <a:ext cx="5393520" cy="8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app.listen(PORT, () =&gt; {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console.log("Mini API LLM corriendo");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console.log(`Frontend: http://localhost:${PORT}`);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  console.log(`Health:   http://localhost:${PORT}/api/health`);</a:t>
            </a:r>
            <a:br>
              <a:rPr sz="1000"/>
            </a:br>
            <a:r>
              <a:rPr b="0" lang="en-US" sz="1000" spc="-1" strike="noStrike">
                <a:solidFill>
                  <a:srgbClr val="e6f0f8"/>
                </a:solidFill>
                <a:latin typeface="Verdana"/>
              </a:rPr>
              <a:t>});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8" name="Rounded Rectangle 10"/>
          <p:cNvSpPr/>
          <p:nvPr/>
        </p:nvSpPr>
        <p:spPr>
          <a:xfrm>
            <a:off x="6995160" y="1600200"/>
            <a:ext cx="4113360" cy="3427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9" name="Rectangle 11"/>
          <p:cNvSpPr/>
          <p:nvPr/>
        </p:nvSpPr>
        <p:spPr>
          <a:xfrm>
            <a:off x="6995160" y="1600200"/>
            <a:ext cx="53280" cy="3427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0" name="TextBox 12"/>
          <p:cNvSpPr/>
          <p:nvPr/>
        </p:nvSpPr>
        <p:spPr>
          <a:xfrm>
            <a:off x="7141320" y="1719000"/>
            <a:ext cx="38757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Explicación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TextBox 13"/>
          <p:cNvSpPr/>
          <p:nvPr/>
        </p:nvSpPr>
        <p:spPr>
          <a:xfrm>
            <a:off x="7141320" y="2084760"/>
            <a:ext cx="388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Verdana"/>
              </a:rPr>
              <a:t>Esta línea inicia el backend. Al ejecutar npm start, podemos abrir la app en http://localhost:3000.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3" name="Rectangle 2"/>
          <p:cNvSpPr/>
          <p:nvPr/>
        </p:nvSpPr>
        <p:spPr>
          <a:xfrm>
            <a:off x="146160" y="0"/>
            <a:ext cx="30600" cy="6856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4" name="Rectangle 3"/>
          <p:cNvSpPr/>
          <p:nvPr/>
        </p:nvSpPr>
        <p:spPr>
          <a:xfrm>
            <a:off x="210240" y="0"/>
            <a:ext cx="30600" cy="6856560"/>
          </a:xfrm>
          <a:prstGeom prst="rect">
            <a:avLst/>
          </a:prstGeom>
          <a:solidFill>
            <a:srgbClr val="00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15" name="Picture 4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616" name="TextBox 5"/>
          <p:cNvSpPr/>
          <p:nvPr/>
        </p:nvSpPr>
        <p:spPr>
          <a:xfrm>
            <a:off x="822960" y="1097280"/>
            <a:ext cx="12787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f5990a"/>
                </a:solidFill>
                <a:latin typeface="Verdana"/>
              </a:rPr>
              <a:t>Clase 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7" name="TextBox 6"/>
          <p:cNvSpPr/>
          <p:nvPr/>
        </p:nvSpPr>
        <p:spPr>
          <a:xfrm>
            <a:off x="822960" y="2057400"/>
            <a:ext cx="77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pc="-1" strike="noStrike">
                <a:solidFill>
                  <a:srgbClr val="007070"/>
                </a:solidFill>
                <a:latin typeface="Verdana"/>
              </a:rPr>
              <a:t>07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TextBox 7"/>
          <p:cNvSpPr/>
          <p:nvPr/>
        </p:nvSpPr>
        <p:spPr>
          <a:xfrm>
            <a:off x="1691640" y="2121480"/>
            <a:ext cx="7039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0f172a"/>
                </a:solidFill>
                <a:latin typeface="Verdana"/>
              </a:rPr>
              <a:t>Actividad individual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TextBox 8"/>
          <p:cNvSpPr/>
          <p:nvPr/>
        </p:nvSpPr>
        <p:spPr>
          <a:xfrm>
            <a:off x="1691640" y="2788920"/>
            <a:ext cx="7953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800" spc="-1" strike="noStrike">
                <a:solidFill>
                  <a:srgbClr val="142332"/>
                </a:solidFill>
                <a:latin typeface="Verdana"/>
              </a:rPr>
              <a:t>Diseñar decisiones técnicas iniciales a partir del caso de Clase 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0" name="TextBox 9"/>
          <p:cNvSpPr/>
          <p:nvPr/>
        </p:nvSpPr>
        <p:spPr>
          <a:xfrm>
            <a:off x="822960" y="5715000"/>
            <a:ext cx="6216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Aplicaciones Básicas con OpenAI y Claude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TextBox 10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TextBox 11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73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2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62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Actividad práctica: diseño operativo de una integración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6" name="TextBox 4"/>
          <p:cNvSpPr/>
          <p:nvPr/>
        </p:nvSpPr>
        <p:spPr>
          <a:xfrm>
            <a:off x="822960" y="621720"/>
            <a:ext cx="100569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505f70"/>
                </a:solidFill>
                <a:latin typeface="Verdana"/>
              </a:rPr>
              <a:t>Use el caso elegido en la Clase 1; ahora conviértalo en una decisión técnica inicial.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74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TextBox 8"/>
          <p:cNvSpPr/>
          <p:nvPr/>
        </p:nvSpPr>
        <p:spPr>
          <a:xfrm>
            <a:off x="960120" y="1417320"/>
            <a:ext cx="99655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Verdana"/>
              </a:rPr>
              <a:t>Tiempo: 20 minutos · Modalidad: individual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1" name="Rounded Rectangle 9"/>
          <p:cNvSpPr/>
          <p:nvPr/>
        </p:nvSpPr>
        <p:spPr>
          <a:xfrm>
            <a:off x="960120" y="2057400"/>
            <a:ext cx="4799160" cy="219312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2" name="Rectangle 10"/>
          <p:cNvSpPr/>
          <p:nvPr/>
        </p:nvSpPr>
        <p:spPr>
          <a:xfrm>
            <a:off x="960120" y="2057400"/>
            <a:ext cx="53280" cy="219312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3" name="TextBox 11"/>
          <p:cNvSpPr/>
          <p:nvPr/>
        </p:nvSpPr>
        <p:spPr>
          <a:xfrm>
            <a:off x="1106280" y="2176200"/>
            <a:ext cx="45615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c1828"/>
                </a:solidFill>
                <a:latin typeface="Verdana"/>
              </a:rPr>
              <a:t>Instrucción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TextBox 12"/>
          <p:cNvSpPr/>
          <p:nvPr/>
        </p:nvSpPr>
        <p:spPr>
          <a:xfrm>
            <a:off x="1106280" y="2541960"/>
            <a:ext cx="457056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350" spc="-1" strike="noStrike">
                <a:solidFill>
                  <a:srgbClr val="0c1828"/>
                </a:solidFill>
                <a:latin typeface="Verdana"/>
              </a:rPr>
              <a:t>A partir del caso trabajado en la Clase 1, defina una primera versión técnica de la solución. No vuelva a describir el problema: tome decisiones y justifíquelas.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" name="Rounded Rectangle 13"/>
          <p:cNvSpPr/>
          <p:nvPr/>
        </p:nvSpPr>
        <p:spPr>
          <a:xfrm>
            <a:off x="6400800" y="2057400"/>
            <a:ext cx="4799160" cy="219312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6" name="Rectangle 14"/>
          <p:cNvSpPr/>
          <p:nvPr/>
        </p:nvSpPr>
        <p:spPr>
          <a:xfrm>
            <a:off x="6400800" y="2057400"/>
            <a:ext cx="53280" cy="219312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7" name="TextBox 15"/>
          <p:cNvSpPr/>
          <p:nvPr/>
        </p:nvSpPr>
        <p:spPr>
          <a:xfrm>
            <a:off x="6546960" y="2176200"/>
            <a:ext cx="45615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c1828"/>
                </a:solidFill>
                <a:latin typeface="Verdana"/>
              </a:rPr>
              <a:t>Complete 4 decisiones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8" name="TextBox 16"/>
          <p:cNvSpPr/>
          <p:nvPr/>
        </p:nvSpPr>
        <p:spPr>
          <a:xfrm>
            <a:off x="6546960" y="2541960"/>
            <a:ext cx="457056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600" spc="-1" strike="noStrike">
                <a:solidFill>
                  <a:srgbClr val="0c1828"/>
                </a:solidFill>
                <a:latin typeface="Verdana"/>
              </a:rPr>
              <a:t>1. Tipo de modelo</a:t>
            </a:r>
            <a:br>
              <a:rPr sz="1100"/>
            </a:br>
            <a:r>
              <a:rPr b="0" lang="en-US" sz="1600" spc="-1" strike="noStrike">
                <a:solidFill>
                  <a:srgbClr val="0c1828"/>
                </a:solidFill>
                <a:latin typeface="Verdana"/>
              </a:rPr>
              <a:t>2. Tipo de sistema</a:t>
            </a:r>
            <a:br>
              <a:rPr sz="1100"/>
            </a:br>
            <a:r>
              <a:rPr b="0" lang="en-US" sz="1600" spc="-1" strike="noStrike">
                <a:solidFill>
                  <a:srgbClr val="0c1828"/>
                </a:solidFill>
                <a:latin typeface="Verdana"/>
              </a:rPr>
              <a:t>3. Prompt de sistema</a:t>
            </a:r>
            <a:br>
              <a:rPr sz="1100"/>
            </a:br>
            <a:r>
              <a:rPr b="0" lang="en-US" sz="1600" spc="-1" strike="noStrike">
                <a:solidFill>
                  <a:srgbClr val="0c1828"/>
                </a:solidFill>
                <a:latin typeface="Verdana"/>
              </a:rPr>
              <a:t>4. Control operativo clave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TextBox 17"/>
          <p:cNvSpPr/>
          <p:nvPr/>
        </p:nvSpPr>
        <p:spPr>
          <a:xfrm>
            <a:off x="914400" y="4983480"/>
            <a:ext cx="102398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500" spc="-1" strike="noStrike">
                <a:solidFill>
                  <a:srgbClr val="008080"/>
                </a:solidFill>
                <a:latin typeface="Verdana"/>
              </a:rPr>
              <a:t>Entregable: ficha breve individual con 4 decisiones justificadas.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41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642" name="TextBox 3"/>
          <p:cNvSpPr/>
          <p:nvPr/>
        </p:nvSpPr>
        <p:spPr>
          <a:xfrm>
            <a:off x="822960" y="255960"/>
            <a:ext cx="96912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600" spc="-1" strike="noStrike">
                <a:solidFill>
                  <a:srgbClr val="0c1828"/>
                </a:solidFill>
                <a:latin typeface="Verdana"/>
              </a:rPr>
              <a:t>Plantilla de respuesta individual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TextBox 4"/>
          <p:cNvSpPr/>
          <p:nvPr/>
        </p:nvSpPr>
        <p:spPr>
          <a:xfrm>
            <a:off x="822960" y="621720"/>
            <a:ext cx="100569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505f70"/>
                </a:solidFill>
                <a:latin typeface="Verdana"/>
              </a:rPr>
              <a:t>Complete solo decisiones concretas y justificadas.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4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5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75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Rectangle 8"/>
          <p:cNvSpPr/>
          <p:nvPr/>
        </p:nvSpPr>
        <p:spPr>
          <a:xfrm>
            <a:off x="731520" y="1234440"/>
            <a:ext cx="5347800" cy="47592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648" name="Table 9"/>
          <p:cNvGraphicFramePr/>
          <p:nvPr/>
        </p:nvGraphicFramePr>
        <p:xfrm>
          <a:off x="777240" y="1325880"/>
          <a:ext cx="10515240" cy="4204800"/>
        </p:xfrm>
        <a:graphic>
          <a:graphicData uri="http://schemas.openxmlformats.org/drawingml/2006/table">
            <a:tbl>
              <a:tblPr/>
              <a:tblGrid>
                <a:gridCol w="3291840"/>
                <a:gridCol w="7223760"/>
              </a:tblGrid>
              <a:tr h="8409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Respuesta esperada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79"/>
                    </a:solidFill>
                  </a:tcPr>
                </a:tc>
              </a:tr>
              <a:tr h="840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1. Tipo de modelo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Mini, avanzado o multimodal. Justifique según costo, complejidad, velocidad y tipo de entrada.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2. Tipo de sistema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Llamada simple, asistente, RAG o agente con herramientas. Justifique por qué ese diseño basta para una primera versión.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840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3. Prompt de sistema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Reglas estables del modelo: rol, tono, límites, formato esperado y qué no debe inventar.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4. Control operativo clave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20" spc="-1" strike="noStrike">
                          <a:solidFill>
                            <a:srgbClr val="0c1828"/>
                          </a:solidFill>
                          <a:latin typeface="Calibri"/>
                        </a:rPr>
                        <a:t>Elija un control: temperatura, máximo de tokens, salida JSON, timeout, revisión humana, key en backend o guardrail básico. Explique por qué.</a:t>
                      </a:r>
                      <a:endParaRPr b="0" lang="es-ES" sz="12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50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651" name="TextBox 3"/>
          <p:cNvSpPr/>
          <p:nvPr/>
        </p:nvSpPr>
        <p:spPr>
          <a:xfrm>
            <a:off x="822960" y="255960"/>
            <a:ext cx="96912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2600" spc="-1" strike="noStrike">
                <a:solidFill>
                  <a:srgbClr val="0c1828"/>
                </a:solidFill>
                <a:latin typeface="Verdana"/>
              </a:rPr>
              <a:t>Ejemplo de respuesta esperada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TextBox 4"/>
          <p:cNvSpPr/>
          <p:nvPr/>
        </p:nvSpPr>
        <p:spPr>
          <a:xfrm>
            <a:off x="822960" y="621720"/>
            <a:ext cx="100569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505f70"/>
                </a:solidFill>
                <a:latin typeface="Verdana"/>
              </a:rPr>
              <a:t>Ejemplo aplicado al caso de reclamos internos elegido en Clase 1.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4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76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Rounded Rectangle 8"/>
          <p:cNvSpPr/>
          <p:nvPr/>
        </p:nvSpPr>
        <p:spPr>
          <a:xfrm>
            <a:off x="960120" y="1417320"/>
            <a:ext cx="4753440" cy="1507320"/>
          </a:xfrm>
          <a:prstGeom prst="roundRect">
            <a:avLst>
              <a:gd name="adj" fmla="val 16667"/>
            </a:avLst>
          </a:prstGeom>
          <a:solidFill>
            <a:srgbClr val="e6f8f7"/>
          </a:solidFill>
          <a:ln>
            <a:solidFill>
              <a:srgbClr val="da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7" name="Rectangle 9"/>
          <p:cNvSpPr/>
          <p:nvPr/>
        </p:nvSpPr>
        <p:spPr>
          <a:xfrm>
            <a:off x="960120" y="1417320"/>
            <a:ext cx="62640" cy="150732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8" name="TextBox 10"/>
          <p:cNvSpPr/>
          <p:nvPr/>
        </p:nvSpPr>
        <p:spPr>
          <a:xfrm>
            <a:off x="1124640" y="1554480"/>
            <a:ext cx="44334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c1828"/>
                </a:solidFill>
                <a:latin typeface="Calibri"/>
              </a:rPr>
              <a:t>1. Tipo de modelo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TextBox 11"/>
          <p:cNvSpPr/>
          <p:nvPr/>
        </p:nvSpPr>
        <p:spPr>
          <a:xfrm>
            <a:off x="1124640" y="2011680"/>
            <a:ext cx="443340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c1828"/>
                </a:solidFill>
                <a:latin typeface="Calibri"/>
              </a:rPr>
              <a:t>Modelo mini: tarea repetitiva, texto corto, alto volumen y necesidad de bajo costo/latencia.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Rounded Rectangle 12"/>
          <p:cNvSpPr/>
          <p:nvPr/>
        </p:nvSpPr>
        <p:spPr>
          <a:xfrm>
            <a:off x="6400800" y="1417320"/>
            <a:ext cx="4753440" cy="1507320"/>
          </a:xfrm>
          <a:prstGeom prst="roundRect">
            <a:avLst>
              <a:gd name="adj" fmla="val 16667"/>
            </a:avLst>
          </a:prstGeom>
          <a:solidFill>
            <a:srgbClr val="fff5e2"/>
          </a:solidFill>
          <a:ln>
            <a:solidFill>
              <a:srgbClr val="da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1" name="Rectangle 13"/>
          <p:cNvSpPr/>
          <p:nvPr/>
        </p:nvSpPr>
        <p:spPr>
          <a:xfrm>
            <a:off x="6400800" y="1417320"/>
            <a:ext cx="62640" cy="1507320"/>
          </a:xfrm>
          <a:prstGeom prst="rect">
            <a:avLst/>
          </a:prstGeom>
          <a:solidFill>
            <a:srgbClr val="f59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2" name="TextBox 14"/>
          <p:cNvSpPr/>
          <p:nvPr/>
        </p:nvSpPr>
        <p:spPr>
          <a:xfrm>
            <a:off x="6565320" y="1554480"/>
            <a:ext cx="44334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c1828"/>
                </a:solidFill>
                <a:latin typeface="Calibri"/>
              </a:rPr>
              <a:t>2. Tipo de sistema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TextBox 15"/>
          <p:cNvSpPr/>
          <p:nvPr/>
        </p:nvSpPr>
        <p:spPr>
          <a:xfrm>
            <a:off x="6565320" y="2011680"/>
            <a:ext cx="443340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c1828"/>
                </a:solidFill>
                <a:latin typeface="Calibri"/>
              </a:rPr>
              <a:t>Llamada simple a LLM: en la primera versión solo clasifica y resume; no requiere agente ni RAG.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Rounded Rectangle 16"/>
          <p:cNvSpPr/>
          <p:nvPr/>
        </p:nvSpPr>
        <p:spPr>
          <a:xfrm>
            <a:off x="960120" y="3246120"/>
            <a:ext cx="4753440" cy="1598760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>
            <a:solidFill>
              <a:srgbClr val="da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5" name="Rectangle 17"/>
          <p:cNvSpPr/>
          <p:nvPr/>
        </p:nvSpPr>
        <p:spPr>
          <a:xfrm>
            <a:off x="960120" y="3246120"/>
            <a:ext cx="62640" cy="1598760"/>
          </a:xfrm>
          <a:prstGeom prst="rect">
            <a:avLst/>
          </a:prstGeom>
          <a:solidFill>
            <a:srgbClr val="1a57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6" name="TextBox 18"/>
          <p:cNvSpPr/>
          <p:nvPr/>
        </p:nvSpPr>
        <p:spPr>
          <a:xfrm>
            <a:off x="1124640" y="3383280"/>
            <a:ext cx="44334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c1828"/>
                </a:solidFill>
                <a:latin typeface="Calibri"/>
              </a:rPr>
              <a:t>3. Prompt de sistema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TextBox 19"/>
          <p:cNvSpPr/>
          <p:nvPr/>
        </p:nvSpPr>
        <p:spPr>
          <a:xfrm>
            <a:off x="1124640" y="3840480"/>
            <a:ext cx="443340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c1828"/>
                </a:solidFill>
                <a:latin typeface="Calibri"/>
              </a:rPr>
              <a:t>“</a:t>
            </a:r>
            <a:r>
              <a:rPr b="0" lang="en-US" sz="1150" spc="-1" strike="noStrike">
                <a:solidFill>
                  <a:srgbClr val="0c1828"/>
                </a:solidFill>
                <a:latin typeface="Calibri"/>
              </a:rPr>
              <a:t>Eres un asistente de soporte. Clasifica reclamos internos en categoría, urgencia y acción sugerida. Responde en JSON, no inventes datos y marca revisión humana si hay riesgo.”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Rounded Rectangle 20"/>
          <p:cNvSpPr/>
          <p:nvPr/>
        </p:nvSpPr>
        <p:spPr>
          <a:xfrm>
            <a:off x="6400800" y="3246120"/>
            <a:ext cx="4753440" cy="1598760"/>
          </a:xfrm>
          <a:prstGeom prst="roundRect">
            <a:avLst>
              <a:gd name="adj" fmla="val 16667"/>
            </a:avLst>
          </a:prstGeom>
          <a:solidFill>
            <a:srgbClr val="e8f7ee"/>
          </a:solidFill>
          <a:ln>
            <a:solidFill>
              <a:srgbClr val="da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9" name="Rectangle 21"/>
          <p:cNvSpPr/>
          <p:nvPr/>
        </p:nvSpPr>
        <p:spPr>
          <a:xfrm>
            <a:off x="6400800" y="3246120"/>
            <a:ext cx="62640" cy="1598760"/>
          </a:xfrm>
          <a:prstGeom prst="rect">
            <a:avLst/>
          </a:prstGeom>
          <a:solidFill>
            <a:srgbClr val="2596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0" name="TextBox 22"/>
          <p:cNvSpPr/>
          <p:nvPr/>
        </p:nvSpPr>
        <p:spPr>
          <a:xfrm>
            <a:off x="6565320" y="3383280"/>
            <a:ext cx="44334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c1828"/>
                </a:solidFill>
                <a:latin typeface="Calibri"/>
              </a:rPr>
              <a:t>4. Control operativo clave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TextBox 23"/>
          <p:cNvSpPr/>
          <p:nvPr/>
        </p:nvSpPr>
        <p:spPr>
          <a:xfrm>
            <a:off x="6565320" y="3840480"/>
            <a:ext cx="4433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c1828"/>
                </a:solidFill>
                <a:latin typeface="Calibri"/>
              </a:rPr>
              <a:t>Salida JSON + temperatura 0.2. JSON permite guardar el resultado; baja temperatura mejora consistencia entre casos similares.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TextBox 24"/>
          <p:cNvSpPr/>
          <p:nvPr/>
        </p:nvSpPr>
        <p:spPr>
          <a:xfrm>
            <a:off x="1005840" y="5349240"/>
            <a:ext cx="102398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8080"/>
                </a:solidFill>
                <a:latin typeface="Calibri"/>
              </a:rPr>
              <a:t>Cierre: la respuesta debe justificar decisiones, no repetir la descripción del caso.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74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675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Resumen de la clase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Lo esencial que debe quedar instalado.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8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78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Rounded Rectangle 8"/>
          <p:cNvSpPr/>
          <p:nvPr/>
        </p:nvSpPr>
        <p:spPr>
          <a:xfrm>
            <a:off x="86868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5f6f4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1" name="Rectangle 9"/>
          <p:cNvSpPr/>
          <p:nvPr/>
        </p:nvSpPr>
        <p:spPr>
          <a:xfrm>
            <a:off x="868680" y="1417320"/>
            <a:ext cx="53280" cy="1141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2" name="TextBox 10"/>
          <p:cNvSpPr/>
          <p:nvPr/>
        </p:nvSpPr>
        <p:spPr>
          <a:xfrm>
            <a:off x="101484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Plataformas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TextBox 11"/>
          <p:cNvSpPr/>
          <p:nvPr/>
        </p:nvSpPr>
        <p:spPr>
          <a:xfrm>
            <a:off x="101484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OpenAI/Claude son consolas para operar modelos, keys, uso y logs.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Rounded Rectangle 12"/>
          <p:cNvSpPr/>
          <p:nvPr/>
        </p:nvSpPr>
        <p:spPr>
          <a:xfrm>
            <a:off x="443484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ff4e2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5" name="Rectangle 13"/>
          <p:cNvSpPr/>
          <p:nvPr/>
        </p:nvSpPr>
        <p:spPr>
          <a:xfrm>
            <a:off x="4434840" y="1417320"/>
            <a:ext cx="53280" cy="1141560"/>
          </a:xfrm>
          <a:prstGeom prst="rect">
            <a:avLst/>
          </a:prstGeom>
          <a:solidFill>
            <a:srgbClr val="f599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6" name="TextBox 14"/>
          <p:cNvSpPr/>
          <p:nvPr/>
        </p:nvSpPr>
        <p:spPr>
          <a:xfrm>
            <a:off x="458100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Workbench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TextBox 15"/>
          <p:cNvSpPr/>
          <p:nvPr/>
        </p:nvSpPr>
        <p:spPr>
          <a:xfrm>
            <a:off x="4581000" y="190188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Sirve para probar prompts, pero ejecutar consume uso.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Rounded Rectangle 16"/>
          <p:cNvSpPr/>
          <p:nvPr/>
        </p:nvSpPr>
        <p:spPr>
          <a:xfrm>
            <a:off x="8001000" y="141732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9" name="Rectangle 17"/>
          <p:cNvSpPr/>
          <p:nvPr/>
        </p:nvSpPr>
        <p:spPr>
          <a:xfrm>
            <a:off x="8001000" y="1417320"/>
            <a:ext cx="53280" cy="1141560"/>
          </a:xfrm>
          <a:prstGeom prst="rect">
            <a:avLst/>
          </a:prstGeom>
          <a:solidFill>
            <a:srgbClr val="1f4f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0" name="TextBox 18"/>
          <p:cNvSpPr/>
          <p:nvPr/>
        </p:nvSpPr>
        <p:spPr>
          <a:xfrm>
            <a:off x="8147160" y="153612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SDKs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TextBox 19"/>
          <p:cNvSpPr/>
          <p:nvPr/>
        </p:nvSpPr>
        <p:spPr>
          <a:xfrm>
            <a:off x="8147160" y="190188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Llamar modelos desde código sin exponer claves.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Rounded Rectangle 20"/>
          <p:cNvSpPr/>
          <p:nvPr/>
        </p:nvSpPr>
        <p:spPr>
          <a:xfrm>
            <a:off x="86868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1efff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3" name="Rectangle 21"/>
          <p:cNvSpPr/>
          <p:nvPr/>
        </p:nvSpPr>
        <p:spPr>
          <a:xfrm>
            <a:off x="868680" y="2880360"/>
            <a:ext cx="53280" cy="1141560"/>
          </a:xfrm>
          <a:prstGeom prst="rect">
            <a:avLst/>
          </a:prstGeom>
          <a:solidFill>
            <a:srgbClr val="6f64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4" name="TextBox 22"/>
          <p:cNvSpPr/>
          <p:nvPr/>
        </p:nvSpPr>
        <p:spPr>
          <a:xfrm>
            <a:off x="101484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Backend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TextBox 23"/>
          <p:cNvSpPr/>
          <p:nvPr/>
        </p:nvSpPr>
        <p:spPr>
          <a:xfrm>
            <a:off x="101484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Protege secrets, reglas, validación y errores.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Rounded Rectangle 24"/>
          <p:cNvSpPr/>
          <p:nvPr/>
        </p:nvSpPr>
        <p:spPr>
          <a:xfrm>
            <a:off x="443484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e9f7f0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7" name="Rectangle 25"/>
          <p:cNvSpPr/>
          <p:nvPr/>
        </p:nvSpPr>
        <p:spPr>
          <a:xfrm>
            <a:off x="4434840" y="2880360"/>
            <a:ext cx="53280" cy="1141560"/>
          </a:xfrm>
          <a:prstGeom prst="rect">
            <a:avLst/>
          </a:prstGeom>
          <a:solidFill>
            <a:srgbClr val="228b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8" name="TextBox 26"/>
          <p:cNvSpPr/>
          <p:nvPr/>
        </p:nvSpPr>
        <p:spPr>
          <a:xfrm>
            <a:off x="458100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Agentes/tools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TextBox 27"/>
          <p:cNvSpPr/>
          <p:nvPr/>
        </p:nvSpPr>
        <p:spPr>
          <a:xfrm>
            <a:off x="4581000" y="3364920"/>
            <a:ext cx="3016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Permiten acciones, pero requieren controles.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" name="Rounded Rectangle 28"/>
          <p:cNvSpPr/>
          <p:nvPr/>
        </p:nvSpPr>
        <p:spPr>
          <a:xfrm>
            <a:off x="8001000" y="2880360"/>
            <a:ext cx="3244680" cy="1141560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 w="7620">
            <a:solidFill>
              <a:srgbClr val="d6e2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1" name="Rectangle 29"/>
          <p:cNvSpPr/>
          <p:nvPr/>
        </p:nvSpPr>
        <p:spPr>
          <a:xfrm>
            <a:off x="8001000" y="2880360"/>
            <a:ext cx="53280" cy="1141560"/>
          </a:xfrm>
          <a:prstGeom prst="rect">
            <a:avLst/>
          </a:prstGeom>
          <a:solidFill>
            <a:srgbClr val="c253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2" name="TextBox 30"/>
          <p:cNvSpPr/>
          <p:nvPr/>
        </p:nvSpPr>
        <p:spPr>
          <a:xfrm>
            <a:off x="8147160" y="2999160"/>
            <a:ext cx="3007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Verdana"/>
              </a:rPr>
              <a:t>LangChain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TextBox 31"/>
          <p:cNvSpPr/>
          <p:nvPr/>
        </p:nvSpPr>
        <p:spPr>
          <a:xfrm>
            <a:off x="8147160" y="3364920"/>
            <a:ext cx="3016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950" spc="-1" strike="noStrike">
                <a:solidFill>
                  <a:srgbClr val="0f172a"/>
                </a:solidFill>
                <a:latin typeface="Verdana"/>
              </a:rPr>
              <a:t>Será la capa para orquestar chains y flujos más complejos.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Rectangle 1"/>
          <p:cNvSpPr/>
          <p:nvPr/>
        </p:nvSpPr>
        <p:spPr>
          <a:xfrm>
            <a:off x="0" y="0"/>
            <a:ext cx="81000" cy="6856560"/>
          </a:xfrm>
          <a:prstGeom prst="rect">
            <a:avLst/>
          </a:prstGeom>
          <a:solidFill>
            <a:srgbClr val="009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05" name="Picture 2" descr="logousachsinBG.png"/>
          <p:cNvPicPr/>
          <p:nvPr/>
        </p:nvPicPr>
        <p:blipFill>
          <a:blip r:embed="rId1"/>
          <a:stretch/>
        </p:blipFill>
        <p:spPr>
          <a:xfrm>
            <a:off x="420480" y="228600"/>
            <a:ext cx="345960" cy="345960"/>
          </a:xfrm>
          <a:prstGeom prst="rect">
            <a:avLst/>
          </a:prstGeom>
          <a:ln w="0">
            <a:noFill/>
          </a:ln>
        </p:spPr>
      </p:pic>
      <p:sp>
        <p:nvSpPr>
          <p:cNvPr id="1706" name="TextBox 3"/>
          <p:cNvSpPr/>
          <p:nvPr/>
        </p:nvSpPr>
        <p:spPr>
          <a:xfrm>
            <a:off x="822960" y="255960"/>
            <a:ext cx="9691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900" spc="-1" strike="noStrike">
                <a:solidFill>
                  <a:srgbClr val="0f172a"/>
                </a:solidFill>
                <a:latin typeface="Verdana"/>
              </a:rPr>
              <a:t>Fuentes y documentación oficial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TextBox 4"/>
          <p:cNvSpPr/>
          <p:nvPr/>
        </p:nvSpPr>
        <p:spPr>
          <a:xfrm>
            <a:off x="822960" y="621720"/>
            <a:ext cx="10056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Verdana"/>
              </a:rPr>
              <a:t>Para mantener la clase actualizada.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Rectangle 5"/>
          <p:cNvSpPr/>
          <p:nvPr/>
        </p:nvSpPr>
        <p:spPr>
          <a:xfrm>
            <a:off x="822960" y="932760"/>
            <a:ext cx="10331280" cy="93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9" name="TextBox 6"/>
          <p:cNvSpPr/>
          <p:nvPr/>
        </p:nvSpPr>
        <p:spPr>
          <a:xfrm>
            <a:off x="411480" y="6437520"/>
            <a:ext cx="80452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Verdana"/>
              </a:rPr>
              <a:t>Diplomado Ejecutivo en Confianza Digital, IA y Automatización Empresarial · Clase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TextBox 7"/>
          <p:cNvSpPr/>
          <p:nvPr/>
        </p:nvSpPr>
        <p:spPr>
          <a:xfrm>
            <a:off x="11658600" y="6437520"/>
            <a:ext cx="318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a646e"/>
                </a:solidFill>
                <a:latin typeface="Verdana"/>
              </a:rPr>
              <a:t>79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" name="Rectangle 8"/>
          <p:cNvSpPr/>
          <p:nvPr/>
        </p:nvSpPr>
        <p:spPr>
          <a:xfrm>
            <a:off x="822960" y="1325880"/>
            <a:ext cx="5256360" cy="65700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2" name="TextBox 9"/>
          <p:cNvSpPr/>
          <p:nvPr/>
        </p:nvSpPr>
        <p:spPr>
          <a:xfrm>
            <a:off x="868680" y="1587240"/>
            <a:ext cx="516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Tema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" name="Rectangle 10"/>
          <p:cNvSpPr/>
          <p:nvPr/>
        </p:nvSpPr>
        <p:spPr>
          <a:xfrm>
            <a:off x="6080760" y="1325880"/>
            <a:ext cx="5256360" cy="65700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4" name="TextBox 11"/>
          <p:cNvSpPr/>
          <p:nvPr/>
        </p:nvSpPr>
        <p:spPr>
          <a:xfrm>
            <a:off x="6126480" y="1587240"/>
            <a:ext cx="516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850" spc="-1" strike="noStrike">
                <a:solidFill>
                  <a:srgbClr val="ffffff"/>
                </a:solidFill>
                <a:latin typeface="Verdana"/>
              </a:rPr>
              <a:t>Fuente recomendada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5" name="Rectangle 12"/>
          <p:cNvSpPr/>
          <p:nvPr/>
        </p:nvSpPr>
        <p:spPr>
          <a:xfrm>
            <a:off x="822960" y="1984320"/>
            <a:ext cx="5256360" cy="65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6" name="TextBox 13"/>
          <p:cNvSpPr/>
          <p:nvPr/>
        </p:nvSpPr>
        <p:spPr>
          <a:xfrm>
            <a:off x="877680" y="205740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OpenAI Platform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Rectangle 14"/>
          <p:cNvSpPr/>
          <p:nvPr/>
        </p:nvSpPr>
        <p:spPr>
          <a:xfrm>
            <a:off x="6080760" y="1984320"/>
            <a:ext cx="5256360" cy="65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8" name="TextBox 15"/>
          <p:cNvSpPr/>
          <p:nvPr/>
        </p:nvSpPr>
        <p:spPr>
          <a:xfrm>
            <a:off x="6135480" y="205740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Documentación oficial: Responses API, Agent Builder, Agents SDK, modelos, pricing y API keys.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" name="Rectangle 16"/>
          <p:cNvSpPr/>
          <p:nvPr/>
        </p:nvSpPr>
        <p:spPr>
          <a:xfrm>
            <a:off x="822960" y="2642760"/>
            <a:ext cx="5256360" cy="657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0" name="TextBox 17"/>
          <p:cNvSpPr/>
          <p:nvPr/>
        </p:nvSpPr>
        <p:spPr>
          <a:xfrm>
            <a:off x="877680" y="271584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Claude Console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1" name="Rectangle 18"/>
          <p:cNvSpPr/>
          <p:nvPr/>
        </p:nvSpPr>
        <p:spPr>
          <a:xfrm>
            <a:off x="6080760" y="2642760"/>
            <a:ext cx="5256360" cy="657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2" name="TextBox 19"/>
          <p:cNvSpPr/>
          <p:nvPr/>
        </p:nvSpPr>
        <p:spPr>
          <a:xfrm>
            <a:off x="6135480" y="271584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Documentación oficial: Messages API, Workbench, Managed Agents, tools, Files API y modelos.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Rectangle 20"/>
          <p:cNvSpPr/>
          <p:nvPr/>
        </p:nvSpPr>
        <p:spPr>
          <a:xfrm>
            <a:off x="822960" y="3300840"/>
            <a:ext cx="5256360" cy="65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4" name="TextBox 21"/>
          <p:cNvSpPr/>
          <p:nvPr/>
        </p:nvSpPr>
        <p:spPr>
          <a:xfrm>
            <a:off x="877680" y="337428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LangChain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5" name="Rectangle 22"/>
          <p:cNvSpPr/>
          <p:nvPr/>
        </p:nvSpPr>
        <p:spPr>
          <a:xfrm>
            <a:off x="6080760" y="3300840"/>
            <a:ext cx="5256360" cy="65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6" name="TextBox 23"/>
          <p:cNvSpPr/>
          <p:nvPr/>
        </p:nvSpPr>
        <p:spPr>
          <a:xfrm>
            <a:off x="6135480" y="337428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Documentación oficial: prompts, chains, output parsers, retrievers, tools y agents.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Rectangle 24"/>
          <p:cNvSpPr/>
          <p:nvPr/>
        </p:nvSpPr>
        <p:spPr>
          <a:xfrm>
            <a:off x="822960" y="3959280"/>
            <a:ext cx="5256360" cy="657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8" name="TextBox 25"/>
          <p:cNvSpPr/>
          <p:nvPr/>
        </p:nvSpPr>
        <p:spPr>
          <a:xfrm>
            <a:off x="877680" y="403236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Buenas prácticas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9" name="Rectangle 26"/>
          <p:cNvSpPr/>
          <p:nvPr/>
        </p:nvSpPr>
        <p:spPr>
          <a:xfrm>
            <a:off x="6080760" y="3959280"/>
            <a:ext cx="5256360" cy="657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0" name="TextBox 27"/>
          <p:cNvSpPr/>
          <p:nvPr/>
        </p:nvSpPr>
        <p:spPr>
          <a:xfrm>
            <a:off x="6135480" y="4032360"/>
            <a:ext cx="514656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0f172a"/>
                </a:solidFill>
                <a:latin typeface="Verdana"/>
              </a:rPr>
              <a:t>Variables de entorno, secret managers, logs, evaluación y revisión humana.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TextBox 28"/>
          <p:cNvSpPr/>
          <p:nvPr/>
        </p:nvSpPr>
        <p:spPr>
          <a:xfrm>
            <a:off x="914400" y="5166360"/>
            <a:ext cx="10331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007070"/>
                </a:solidFill>
                <a:latin typeface="Verdana"/>
              </a:rPr>
              <a:t>Cierre: una demo útil no termina cuando responde; termina cuando puede operarse, medirse y apagarse de forma segura.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2026-05-20T18:46:01Z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