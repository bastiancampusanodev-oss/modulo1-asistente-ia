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slides/_rels/slide50.xml.rels" ContentType="application/vnd.openxmlformats-package.relationships+xml"/>
  <Override PartName="/ppt/slides/_rels/slide45.xml.rels" ContentType="application/vnd.openxmlformats-package.relationships+xml"/>
  <Override PartName="/ppt/slides/_rels/slide44.xml.rels" ContentType="application/vnd.openxmlformats-package.relationships+xml"/>
  <Override PartName="/ppt/slides/_rels/slide43.xml.rels" ContentType="application/vnd.openxmlformats-package.relationships+xml"/>
  <Override PartName="/ppt/slides/_rels/slide42.xml.rels" ContentType="application/vnd.openxmlformats-package.relationships+xml"/>
  <Override PartName="/ppt/slides/_rels/slide41.xml.rels" ContentType="application/vnd.openxmlformats-package.relationships+xml"/>
  <Override PartName="/ppt/slides/_rels/slide28.xml.rels" ContentType="application/vnd.openxmlformats-package.relationships+xml"/>
  <Override PartName="/ppt/slides/_rels/slide65.xml.rels" ContentType="application/vnd.openxmlformats-package.relationships+xml"/>
  <Override PartName="/ppt/slides/_rels/slide29.xml.rels" ContentType="application/vnd.openxmlformats-package.relationships+xml"/>
  <Override PartName="/ppt/slides/_rels/slide1.xml.rels" ContentType="application/vnd.openxmlformats-package.relationships+xml"/>
  <Override PartName="/ppt/slides/_rels/slide55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56.xml.rels" ContentType="application/vnd.openxmlformats-package.relationships+xml"/>
  <Override PartName="/ppt/slides/_rels/slide10.xml.rels" ContentType="application/vnd.openxmlformats-package.relationships+xml"/>
  <Override PartName="/ppt/slides/_rels/slide47.xml.rels" ContentType="application/vnd.openxmlformats-package.relationships+xml"/>
  <Override PartName="/ppt/slides/_rels/slide17.xml.rels" ContentType="application/vnd.openxmlformats-package.relationships+xml"/>
  <Override PartName="/ppt/slides/_rels/slide54.xml.rels" ContentType="application/vnd.openxmlformats-package.relationships+xml"/>
  <Override PartName="/ppt/slides/_rels/slide16.xml.rels" ContentType="application/vnd.openxmlformats-package.relationships+xml"/>
  <Override PartName="/ppt/slides/_rels/slide53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57.xml.rels" ContentType="application/vnd.openxmlformats-package.relationships+xml"/>
  <Override PartName="/ppt/slides/_rels/slide18.xml.rels" ContentType="application/vnd.openxmlformats-package.relationships+xml"/>
  <Override PartName="/ppt/slides/_rels/slide60.xml.rels" ContentType="application/vnd.openxmlformats-package.relationships+xml"/>
  <Override PartName="/ppt/slides/_rels/slide52.xml.rels" ContentType="application/vnd.openxmlformats-package.relationships+xml"/>
  <Override PartName="/ppt/slides/_rels/slide51.xml.rels" ContentType="application/vnd.openxmlformats-package.relationships+xml"/>
  <Override PartName="/ppt/slides/_rels/slide48.xml.rels" ContentType="application/vnd.openxmlformats-package.relationships+xml"/>
  <Override PartName="/ppt/slides/_rels/slide11.xml.rels" ContentType="application/vnd.openxmlformats-package.relationships+xml"/>
  <Override PartName="/ppt/slides/_rels/slide46.xml.rels" ContentType="application/vnd.openxmlformats-package.relationships+xml"/>
  <Override PartName="/ppt/slides/_rels/slide62.xml.rels" ContentType="application/vnd.openxmlformats-package.relationships+xml"/>
  <Override PartName="/ppt/slides/_rels/slide64.xml.rels" ContentType="application/vnd.openxmlformats-package.relationships+xml"/>
  <Override PartName="/ppt/slides/_rels/slide27.xml.rels" ContentType="application/vnd.openxmlformats-package.relationships+xml"/>
  <Override PartName="/ppt/slides/_rels/slide15.xml.rels" ContentType="application/vnd.openxmlformats-package.relationships+xml"/>
  <Override PartName="/ppt/slides/_rels/slide61.xml.rels" ContentType="application/vnd.openxmlformats-package.relationships+xml"/>
  <Override PartName="/ppt/slides/_rels/slide19.xml.rels" ContentType="application/vnd.openxmlformats-package.relationships+xml"/>
  <Override PartName="/ppt/slides/_rels/slide63.xml.rels" ContentType="application/vnd.openxmlformats-package.relationships+xml"/>
  <Override PartName="/ppt/slides/_rels/slide14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58.xml.rels" ContentType="application/vnd.openxmlformats-package.relationships+xml"/>
  <Override PartName="/ppt/slides/_rels/slide12.xml.rels" ContentType="application/vnd.openxmlformats-package.relationships+xml"/>
  <Override PartName="/ppt/slides/_rels/slide4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59.xml.rels" ContentType="application/vnd.openxmlformats-package.relationships+xml"/>
  <Override PartName="/ppt/slides/_rels/slide13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37.xml.rels" ContentType="application/vnd.openxmlformats-package.relationships+xml"/>
  <Override PartName="/ppt/slides/_rels/slide38.xml.rels" ContentType="application/vnd.openxmlformats-package.relationships+xml"/>
  <Override PartName="/ppt/slides/_rels/slide39.xml.rels" ContentType="application/vnd.openxmlformats-package.relationships+xml"/>
  <Override PartName="/ppt/slides/_rels/slide40.xml.rels" ContentType="application/vnd.openxmlformats-package.relationships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18.xml" ContentType="application/vnd.openxmlformats-officedocument.presentationml.slide+xml"/>
  <Override PartName="/ppt/slides/slide60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48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4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46.xml" ContentType="application/vnd.openxmlformats-officedocument.presentationml.slide+xml"/>
  <Override PartName="/ppt/slides/slide1.xml" ContentType="application/vnd.openxmlformats-officedocument.presentationml.slide+xml"/>
  <Override PartName="/ppt/slides/slide29.xml" ContentType="application/vnd.openxmlformats-officedocument.presentationml.slide+xml"/>
  <Override PartName="/ppt/slides/slide65.xml" ContentType="application/vnd.openxmlformats-officedocument.presentationml.slide+xml"/>
  <Override PartName="/ppt/slides/slide28.xml" ContentType="application/vnd.openxmlformats-officedocument.presentationml.slide+xml"/>
  <Override PartName="/ppt/slides/slide62.xml" ContentType="application/vnd.openxmlformats-officedocument.presentationml.slide+xml"/>
  <Override PartName="/ppt/slides/slide64.xml" ContentType="application/vnd.openxmlformats-officedocument.presentationml.slide+xml"/>
  <Override PartName="/ppt/slides/slide27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61.xml" ContentType="application/vnd.openxmlformats-officedocument.presentationml.slide+xml"/>
  <Override PartName="/ppt/slides/slide19.xml" ContentType="application/vnd.openxmlformats-officedocument.presentationml.slide+xml"/>
  <Override PartName="/ppt/slides/slide63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59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0.xml" ContentType="application/vnd.openxmlformats-officedocument.presentationml.slide+xml"/>
  <Override PartName="/ppt/notesSlides/_rels/notesSlide1.xml.rels" ContentType="application/vnd.openxmlformats-package.relationships+xml"/>
  <Override PartName="/ppt/notesSlides/_rels/notesSlide47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48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62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65.xml.rels" ContentType="application/vnd.openxmlformats-package.relationships+xml"/>
  <Override PartName="/ppt/notesSlides/_rels/notesSlide42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63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40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41.xml.rels" ContentType="application/vnd.openxmlformats-package.relationships+xml"/>
  <Override PartName="/ppt/notesSlides/_rels/notesSlide43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44.xml.rels" ContentType="application/vnd.openxmlformats-package.relationships+xml"/>
  <Override PartName="/ppt/notesSlides/_rels/notesSlide45.xml.rels" ContentType="application/vnd.openxmlformats-package.relationships+xml"/>
  <Override PartName="/ppt/notesSlides/_rels/notesSlide46.xml.rels" ContentType="application/vnd.openxmlformats-package.relationships+xml"/>
  <Override PartName="/ppt/notesSlides/_rels/notesSlide64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61.xml.rels" ContentType="application/vnd.openxmlformats-package.relationships+xml"/>
  <Override PartName="/ppt/notesSlides/_rels/notesSlide19.xml.rels" ContentType="application/vnd.openxmlformats-package.relationships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5051712-1AB2-45E8-974F-1CDE6921BDA5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_rels/notesSlide63.xml.rels><?xml version="1.0" encoding="UTF-8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
</Relationships>
</file>

<file path=ppt/notesSlides/_rels/notesSlide64.xml.rels><?xml version="1.0" encoding="UTF-8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
</Relationships>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F33D7F6-75C2-4414-935B-E2AD82A2F9B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DF98ABC-E6F5-4D1D-ADF9-27E2BBA664E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1265806-452F-43E8-90FD-BCFF3F3A608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EAB6595-D5CA-411E-B681-514BE257C36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4D986C8-56BC-4C1E-881D-CE2A1295BE3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27B4A0C-60B4-4B1B-A2F1-CD559C56FCE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78CCF0D-DB6A-411E-99E9-64EC0328AAA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43A3F7-99A9-47D6-ACDC-815DE80EE20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8E363F8-D15C-46F3-B3FB-FFF849F076D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AFA93B-EE85-45D9-B82A-1BCD3ACF87F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9B65373-3DE6-464F-A7EE-03D1942DF52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01820E5-FAF2-4D6E-9888-3786A886C1C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A94F894-59AD-40A4-95A9-B0AC41EB079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F66E311-71EB-4492-B3E1-CF60922B08F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87E0486-B4FE-4122-859C-CA2B4366D03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C56A956-B3AA-4498-948F-373D715E2BF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AC8BA8E-E5F1-452B-8D11-4C3FD2435E3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6DFEC04-24B5-48B7-8DD0-E2C04EA347B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FAE0C2-7C86-46E5-B632-54C7627DB2C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698289C-A343-45E7-89E1-6F5D2731806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3F48C7-169C-4755-BB81-37865D31B58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3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1D5FC7-53F8-4DCB-A6C8-641BE589794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6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533F24-55EF-46D3-B467-DD5CA261584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9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3740888-CE6B-4F78-A582-1448BFD4E98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2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E8B8146-2C81-4E8E-97C1-0439DB74216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5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85A98E-0CD7-4BE0-A0A2-45C6F3081CB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8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4FC1545-38D6-4F86-AD3E-943328F8754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1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507B3BF-AE5C-4478-A116-E5AE0C05F57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4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E83DCA8-30B0-49D1-BFDF-46DCBABAC29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7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53421BC-4481-4BC8-9A42-61C6A8ED1E0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0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F6C8681-B475-4A58-8F7A-B03A781C11B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3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0D47E71-05EF-497B-9ABB-088E82B0E33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6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DDC6C1E-7FE1-4350-870D-99039F0C4DE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C8671C1-B14B-4D06-9008-9BB7228E7EF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2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4A6B524-C771-4D70-9AD8-C10C685EF89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5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9FBF5A1-A4BC-4C4E-B285-9C823F884F6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8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7E713F5-FECE-43CC-8321-E19615D96D4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1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892A399-B188-493D-A5AD-D069EA0EE13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4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E4ABA63-D257-4EE5-8ABB-6D33D37FA75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9EB945F-8014-4DB8-BF03-EBEE75FDB77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01EF8C-399D-4944-92F3-03097786FE6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3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510CAE-D34B-49A4-9E61-71706BC5A83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6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0B660CF-73F9-42C0-9D30-7AC91917EBB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65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2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b6202a"/>
          </a:solidFill>
          <a:ln w="12700">
            <a:solidFill>
              <a:srgbClr val="b620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685800" y="777240"/>
            <a:ext cx="1828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b6202a"/>
                </a:solidFill>
                <a:latin typeface="Aptos"/>
              </a:rPr>
              <a:t>Clase 3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685800" y="1234440"/>
            <a:ext cx="749736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666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Introducción a</a:t>
            </a:r>
            <a:endParaRPr b="0" lang="es-ES" sz="4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LangChain</a:t>
            </a:r>
            <a:endParaRPr b="0" lang="es-ES" sz="4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713160" y="2788920"/>
            <a:ext cx="8960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4155"/>
                </a:solidFill>
                <a:latin typeface="Aptos"/>
              </a:rPr>
              <a:t>De llamadas API aisladas a flujos LLM componibles, evaluables y defendibles.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713160" y="3703320"/>
            <a:ext cx="1114920" cy="32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713160" y="3785760"/>
            <a:ext cx="11149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9" spc="-1" strike="noStrike">
                <a:solidFill>
                  <a:srgbClr val="245c94"/>
                </a:solidFill>
                <a:latin typeface="Aptos"/>
              </a:rPr>
              <a:t>Ecosistema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2039040" y="3703320"/>
            <a:ext cx="1114920" cy="32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2039040" y="3785760"/>
            <a:ext cx="11149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9" spc="-1" strike="noStrike">
                <a:solidFill>
                  <a:srgbClr val="245c94"/>
                </a:solidFill>
                <a:latin typeface="Aptos"/>
              </a:rPr>
              <a:t>Criterio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3364920" y="3703320"/>
            <a:ext cx="1114920" cy="32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3364920" y="3785760"/>
            <a:ext cx="11149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9" spc="-1" strike="noStrike">
                <a:solidFill>
                  <a:srgbClr val="245c94"/>
                </a:solidFill>
                <a:latin typeface="Aptos"/>
              </a:rPr>
              <a:t>Componentes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4690800" y="3703320"/>
            <a:ext cx="1114920" cy="32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4690800" y="3785760"/>
            <a:ext cx="11149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9" spc="-1" strike="noStrike">
                <a:solidFill>
                  <a:srgbClr val="245c94"/>
                </a:solidFill>
                <a:latin typeface="Aptos"/>
              </a:rPr>
              <a:t>Chains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6016680" y="3703320"/>
            <a:ext cx="1114920" cy="32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6016680" y="3785760"/>
            <a:ext cx="11149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9" spc="-1" strike="noStrike">
                <a:solidFill>
                  <a:srgbClr val="245c94"/>
                </a:solidFill>
                <a:latin typeface="Aptos"/>
              </a:rPr>
              <a:t>Casos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7342560" y="3703320"/>
            <a:ext cx="1114920" cy="32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7342560" y="3785760"/>
            <a:ext cx="111492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9" spc="-1" strike="noStrike">
                <a:solidFill>
                  <a:srgbClr val="245c94"/>
                </a:solidFill>
                <a:latin typeface="Aptos"/>
              </a:rPr>
              <a:t>Demo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713160" y="5989320"/>
            <a:ext cx="9326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Aptos"/>
              </a:rPr>
              <a:t>Diplomado Ejecutivo en Confianza Digital, IA y Automatización Empresarial · USACH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058400" y="5715000"/>
            <a:ext cx="1233720" cy="566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1"/>
          <p:cNvSpPr/>
          <p:nvPr/>
        </p:nvSpPr>
        <p:spPr>
          <a:xfrm>
            <a:off x="2969280" y="246960"/>
            <a:ext cx="5252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900" spc="-1" strike="noStrike">
                <a:solidFill>
                  <a:srgbClr val="506070"/>
                </a:solidFill>
                <a:latin typeface="Aptos"/>
              </a:rPr>
              <a:t>Diplomado Ejecutivo en Confianza Digital, IA y Automatización Empresarial · Módulo 1 · Clase 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Rectangle 2"/>
          <p:cNvSpPr/>
          <p:nvPr/>
        </p:nvSpPr>
        <p:spPr>
          <a:xfrm>
            <a:off x="658440" y="631080"/>
            <a:ext cx="10697760" cy="1008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31" name="TextBox 3"/>
          <p:cNvSpPr/>
          <p:nvPr/>
        </p:nvSpPr>
        <p:spPr>
          <a:xfrm>
            <a:off x="3953160" y="1051560"/>
            <a:ext cx="43459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800" spc="-1" strike="noStrike">
                <a:solidFill>
                  <a:srgbClr val="071d37"/>
                </a:solidFill>
                <a:latin typeface="Aptos Display"/>
              </a:rPr>
              <a:t>Recap breve: Clase 1 y 2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Box 4"/>
          <p:cNvSpPr/>
          <p:nvPr/>
        </p:nvSpPr>
        <p:spPr>
          <a:xfrm>
            <a:off x="3310560" y="1554480"/>
            <a:ext cx="5374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500" spc="-1" strike="noStrike">
                <a:solidFill>
                  <a:srgbClr val="506070"/>
                </a:solidFill>
                <a:latin typeface="Aptos"/>
              </a:rPr>
              <a:t>Lo que ya tenemos antes de diseñar flujos con LangChain.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Rounded Rectangle 5"/>
          <p:cNvSpPr/>
          <p:nvPr/>
        </p:nvSpPr>
        <p:spPr>
          <a:xfrm>
            <a:off x="868680" y="1828800"/>
            <a:ext cx="3199680" cy="1142280"/>
          </a:xfrm>
          <a:prstGeom prst="roundRect">
            <a:avLst>
              <a:gd name="adj" fmla="val 16667"/>
            </a:avLst>
          </a:prstGeom>
          <a:solidFill>
            <a:srgbClr val="ecf4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34" name="Rectangle 6"/>
          <p:cNvSpPr/>
          <p:nvPr/>
        </p:nvSpPr>
        <p:spPr>
          <a:xfrm>
            <a:off x="868680" y="1828800"/>
            <a:ext cx="54000" cy="114228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35" name="TextBox 7"/>
          <p:cNvSpPr/>
          <p:nvPr/>
        </p:nvSpPr>
        <p:spPr>
          <a:xfrm>
            <a:off x="1069920" y="1965960"/>
            <a:ext cx="2833920" cy="9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Clase 1 · Mecánica API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200" spc="-1" strike="noStrike">
                <a:solidFill>
                  <a:srgbClr val="2d3846"/>
                </a:solidFill>
                <a:latin typeface="Aptos"/>
              </a:rPr>
              <a:t>Endpoint, headers, body, request/response, errores, JSON y API key protegida.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Rounded Rectangle 8"/>
          <p:cNvSpPr/>
          <p:nvPr/>
        </p:nvSpPr>
        <p:spPr>
          <a:xfrm>
            <a:off x="4343400" y="1828800"/>
            <a:ext cx="3199680" cy="1142280"/>
          </a:xfrm>
          <a:prstGeom prst="roundRect">
            <a:avLst>
              <a:gd name="adj" fmla="val 16667"/>
            </a:avLst>
          </a:prstGeom>
          <a:solidFill>
            <a:srgbClr val="ecf4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37" name="Rectangle 9"/>
          <p:cNvSpPr/>
          <p:nvPr/>
        </p:nvSpPr>
        <p:spPr>
          <a:xfrm>
            <a:off x="4343400" y="1828800"/>
            <a:ext cx="54000" cy="114228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38" name="TextBox 10"/>
          <p:cNvSpPr/>
          <p:nvPr/>
        </p:nvSpPr>
        <p:spPr>
          <a:xfrm>
            <a:off x="4544640" y="1965960"/>
            <a:ext cx="2833920" cy="73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Clase 1 · Mecánica LLM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200" spc="-1" strike="noStrike">
                <a:solidFill>
                  <a:srgbClr val="2d3846"/>
                </a:solidFill>
                <a:latin typeface="Aptos"/>
              </a:rPr>
              <a:t>Tokens, contexto, temperatura, costos, límites, seguridad y fallback.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Rounded Rectangle 11"/>
          <p:cNvSpPr/>
          <p:nvPr/>
        </p:nvSpPr>
        <p:spPr>
          <a:xfrm>
            <a:off x="7818120" y="1828800"/>
            <a:ext cx="3199680" cy="1142280"/>
          </a:xfrm>
          <a:prstGeom prst="roundRect">
            <a:avLst>
              <a:gd name="adj" fmla="val 16667"/>
            </a:avLst>
          </a:prstGeom>
          <a:solidFill>
            <a:srgbClr val="ecf4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40" name="Rectangle 12"/>
          <p:cNvSpPr/>
          <p:nvPr/>
        </p:nvSpPr>
        <p:spPr>
          <a:xfrm>
            <a:off x="7818120" y="1828800"/>
            <a:ext cx="54000" cy="114228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41" name="TextBox 13"/>
          <p:cNvSpPr/>
          <p:nvPr/>
        </p:nvSpPr>
        <p:spPr>
          <a:xfrm>
            <a:off x="8019360" y="1965960"/>
            <a:ext cx="2833920" cy="9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Clase 2 · Proveedores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200" spc="-1" strike="noStrike">
                <a:solidFill>
                  <a:srgbClr val="2d3846"/>
                </a:solidFill>
                <a:latin typeface="Aptos"/>
              </a:rPr>
              <a:t>OpenAI/Claude: modelos, plataformas, usage, logs, Workbench y prompts.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Rounded Rectangle 14"/>
          <p:cNvSpPr/>
          <p:nvPr/>
        </p:nvSpPr>
        <p:spPr>
          <a:xfrm>
            <a:off x="868680" y="3337560"/>
            <a:ext cx="4845600" cy="1325160"/>
          </a:xfrm>
          <a:prstGeom prst="roundRect">
            <a:avLst>
              <a:gd name="adj" fmla="val 16667"/>
            </a:avLst>
          </a:prstGeom>
          <a:solidFill>
            <a:srgbClr val="ebf6f4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43" name="Rectangle 15"/>
          <p:cNvSpPr/>
          <p:nvPr/>
        </p:nvSpPr>
        <p:spPr>
          <a:xfrm>
            <a:off x="868680" y="3337560"/>
            <a:ext cx="54000" cy="1325160"/>
          </a:xfrm>
          <a:prstGeom prst="rect">
            <a:avLst/>
          </a:prstGeom>
          <a:solidFill>
            <a:srgbClr val="2f8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44" name="TextBox 16"/>
          <p:cNvSpPr/>
          <p:nvPr/>
        </p:nvSpPr>
        <p:spPr>
          <a:xfrm>
            <a:off x="1069920" y="3474720"/>
            <a:ext cx="4479840" cy="73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Clase 2 · Contrato operativo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200" spc="-1" strike="noStrike">
                <a:solidFill>
                  <a:srgbClr val="2d3846"/>
                </a:solidFill>
                <a:latin typeface="Aptos"/>
              </a:rPr>
              <a:t>Tipo de modelo, tipo de sistema, prompt de sistema y control operativo clave.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Rounded Rectangle 17"/>
          <p:cNvSpPr/>
          <p:nvPr/>
        </p:nvSpPr>
        <p:spPr>
          <a:xfrm>
            <a:off x="5989320" y="3337560"/>
            <a:ext cx="5028480" cy="1325160"/>
          </a:xfrm>
          <a:prstGeom prst="roundRect">
            <a:avLst>
              <a:gd name="adj" fmla="val 16667"/>
            </a:avLst>
          </a:prstGeom>
          <a:solidFill>
            <a:srgbClr val="ebf6f4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46" name="Rectangle 18"/>
          <p:cNvSpPr/>
          <p:nvPr/>
        </p:nvSpPr>
        <p:spPr>
          <a:xfrm>
            <a:off x="5989320" y="3337560"/>
            <a:ext cx="54000" cy="1325160"/>
          </a:xfrm>
          <a:prstGeom prst="rect">
            <a:avLst/>
          </a:prstGeom>
          <a:solidFill>
            <a:srgbClr val="2f8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47" name="TextBox 19"/>
          <p:cNvSpPr/>
          <p:nvPr/>
        </p:nvSpPr>
        <p:spPr>
          <a:xfrm>
            <a:off x="6190560" y="3474720"/>
            <a:ext cx="4662720" cy="73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Puente hacia Clase 3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200" spc="-1" strike="noStrike">
                <a:solidFill>
                  <a:srgbClr val="2d3846"/>
                </a:solidFill>
                <a:latin typeface="Aptos"/>
              </a:rPr>
              <a:t>Ya no basta llamar al modelo: ahora diseñamos el camino de la información.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Box 20"/>
          <p:cNvSpPr/>
          <p:nvPr/>
        </p:nvSpPr>
        <p:spPr>
          <a:xfrm>
            <a:off x="1769400" y="6446520"/>
            <a:ext cx="4178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800" spc="-1" strike="noStrike">
                <a:solidFill>
                  <a:srgbClr val="506070"/>
                </a:solidFill>
                <a:latin typeface="Aptos"/>
              </a:rPr>
              <a:t>Diplomado Ejecutivo en Confianza Digital, IA y Automatización Empresarial · Clase 3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1"/>
          <p:cNvSpPr/>
          <p:nvPr/>
        </p:nvSpPr>
        <p:spPr>
          <a:xfrm>
            <a:off x="2969280" y="246960"/>
            <a:ext cx="5252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900" spc="-1" strike="noStrike">
                <a:solidFill>
                  <a:srgbClr val="506070"/>
                </a:solidFill>
                <a:latin typeface="Aptos"/>
              </a:rPr>
              <a:t>Diplomado Ejecutivo en Confianza Digital, IA y Automatización Empresarial · Módulo 1 · Clase 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Rectangle 2"/>
          <p:cNvSpPr/>
          <p:nvPr/>
        </p:nvSpPr>
        <p:spPr>
          <a:xfrm>
            <a:off x="658440" y="631080"/>
            <a:ext cx="10697760" cy="1008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51" name="TextBox 3"/>
          <p:cNvSpPr/>
          <p:nvPr/>
        </p:nvSpPr>
        <p:spPr>
          <a:xfrm>
            <a:off x="2589840" y="1051560"/>
            <a:ext cx="7072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800" spc="-1" strike="noStrike">
                <a:solidFill>
                  <a:srgbClr val="071d37"/>
                </a:solidFill>
                <a:latin typeface="Aptos Display"/>
              </a:rPr>
              <a:t>Revisión: consultas sobre la actividad 2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Box 4"/>
          <p:cNvSpPr/>
          <p:nvPr/>
        </p:nvSpPr>
        <p:spPr>
          <a:xfrm>
            <a:off x="2991960" y="1554480"/>
            <a:ext cx="60116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500" spc="-1" strike="noStrike">
                <a:solidFill>
                  <a:srgbClr val="506070"/>
                </a:solidFill>
                <a:latin typeface="Aptos"/>
              </a:rPr>
              <a:t>Espacio breve para resolver dudas antes de avanzar a LangChain.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Rounded Rectangle 5"/>
          <p:cNvSpPr/>
          <p:nvPr/>
        </p:nvSpPr>
        <p:spPr>
          <a:xfrm>
            <a:off x="868680" y="1874520"/>
            <a:ext cx="4754160" cy="2056680"/>
          </a:xfrm>
          <a:prstGeom prst="roundRect">
            <a:avLst>
              <a:gd name="adj" fmla="val 16667"/>
            </a:avLst>
          </a:prstGeom>
          <a:solidFill>
            <a:srgbClr val="ecf4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54" name="Rectangle 6"/>
          <p:cNvSpPr/>
          <p:nvPr/>
        </p:nvSpPr>
        <p:spPr>
          <a:xfrm>
            <a:off x="868680" y="1874520"/>
            <a:ext cx="54000" cy="205668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55" name="TextBox 7"/>
          <p:cNvSpPr/>
          <p:nvPr/>
        </p:nvSpPr>
        <p:spPr>
          <a:xfrm>
            <a:off x="1069920" y="2011680"/>
            <a:ext cx="4388400" cy="12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Qué revisamos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400" spc="-1" strike="noStrike">
                <a:solidFill>
                  <a:srgbClr val="2d3846"/>
                </a:solidFill>
                <a:latin typeface="Aptos"/>
              </a:rPr>
              <a:t>• </a:t>
            </a:r>
            <a:r>
              <a:rPr b="0" lang="es-ES" sz="1400" spc="-1" strike="noStrike">
                <a:solidFill>
                  <a:srgbClr val="2d3846"/>
                </a:solidFill>
                <a:latin typeface="Aptos"/>
              </a:rPr>
              <a:t>Tipo de modelo</a:t>
            </a:r>
            <a:br>
              <a:rPr sz="1400"/>
            </a:br>
            <a:r>
              <a:rPr b="0" lang="es-ES" sz="1400" spc="-1" strike="noStrike">
                <a:solidFill>
                  <a:srgbClr val="2d3846"/>
                </a:solidFill>
                <a:latin typeface="Aptos"/>
              </a:rPr>
              <a:t>• Tipo de sistema</a:t>
            </a:r>
            <a:br>
              <a:rPr sz="1400"/>
            </a:br>
            <a:r>
              <a:rPr b="0" lang="es-ES" sz="1400" spc="-1" strike="noStrike">
                <a:solidFill>
                  <a:srgbClr val="2d3846"/>
                </a:solidFill>
                <a:latin typeface="Aptos"/>
              </a:rPr>
              <a:t>• Prompt de sistema</a:t>
            </a:r>
            <a:br>
              <a:rPr sz="1400"/>
            </a:br>
            <a:r>
              <a:rPr b="0" lang="es-ES" sz="1400" spc="-1" strike="noStrike">
                <a:solidFill>
                  <a:srgbClr val="2d3846"/>
                </a:solidFill>
                <a:latin typeface="Aptos"/>
              </a:rPr>
              <a:t>• Control operativo clave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Rounded Rectangle 8"/>
          <p:cNvSpPr/>
          <p:nvPr/>
        </p:nvSpPr>
        <p:spPr>
          <a:xfrm>
            <a:off x="5897880" y="1874520"/>
            <a:ext cx="5119920" cy="2056680"/>
          </a:xfrm>
          <a:prstGeom prst="roundRect">
            <a:avLst>
              <a:gd name="adj" fmla="val 16667"/>
            </a:avLst>
          </a:prstGeom>
          <a:solidFill>
            <a:srgbClr val="ebf6f4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57" name="Rectangle 9"/>
          <p:cNvSpPr/>
          <p:nvPr/>
        </p:nvSpPr>
        <p:spPr>
          <a:xfrm>
            <a:off x="5897880" y="1874520"/>
            <a:ext cx="54000" cy="2056680"/>
          </a:xfrm>
          <a:prstGeom prst="rect">
            <a:avLst/>
          </a:prstGeom>
          <a:solidFill>
            <a:srgbClr val="2f8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6099120" y="2011680"/>
            <a:ext cx="4754160" cy="10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Dudas y consultas de la clase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400" spc="-1" strike="noStrike">
                <a:solidFill>
                  <a:srgbClr val="2d3846"/>
                </a:solidFill>
                <a:latin typeface="Aptos"/>
              </a:rPr>
              <a:t>Si algo de la actividad quedó abierto, lo resolvemos ahora. Después seguimos con la capa de diseño: flujo, componentes y patrón correcto.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Rounded Rectangle 11"/>
          <p:cNvSpPr/>
          <p:nvPr/>
        </p:nvSpPr>
        <p:spPr>
          <a:xfrm>
            <a:off x="868680" y="4297680"/>
            <a:ext cx="10149120" cy="86796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60" name="Rectangle 12"/>
          <p:cNvSpPr/>
          <p:nvPr/>
        </p:nvSpPr>
        <p:spPr>
          <a:xfrm>
            <a:off x="868680" y="4297680"/>
            <a:ext cx="54000" cy="867960"/>
          </a:xfrm>
          <a:prstGeom prst="rect">
            <a:avLst/>
          </a:prstGeom>
          <a:solidFill>
            <a:srgbClr val="f59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61" name="TextBox 13"/>
          <p:cNvSpPr/>
          <p:nvPr/>
        </p:nvSpPr>
        <p:spPr>
          <a:xfrm>
            <a:off x="1069920" y="4434840"/>
            <a:ext cx="9783360" cy="59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Objetivo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500" spc="-1" strike="noStrike">
                <a:solidFill>
                  <a:srgbClr val="2d3846"/>
                </a:solidFill>
                <a:latin typeface="Aptos"/>
              </a:rPr>
              <a:t>Cerrar dudas de la tarea sin convertir la clase completa en revisión. Máximo 10 minutos.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Box 14"/>
          <p:cNvSpPr/>
          <p:nvPr/>
        </p:nvSpPr>
        <p:spPr>
          <a:xfrm>
            <a:off x="1769400" y="6446520"/>
            <a:ext cx="4178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800" spc="-1" strike="noStrike">
                <a:solidFill>
                  <a:srgbClr val="506070"/>
                </a:solidFill>
                <a:latin typeface="Aptos"/>
              </a:rPr>
              <a:t>Diplomado Ejecutivo en Confianza Digital, IA y Automatización Empresarial · Clase 3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2969280" y="246960"/>
            <a:ext cx="5252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900" spc="-1" strike="noStrike">
                <a:solidFill>
                  <a:srgbClr val="506070"/>
                </a:solidFill>
                <a:latin typeface="Aptos"/>
              </a:rPr>
              <a:t>Diplomado Ejecutivo en Confianza Digital, IA y Automatización Empresarial · Módulo 1 · Clase 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Rectangle 2"/>
          <p:cNvSpPr/>
          <p:nvPr/>
        </p:nvSpPr>
        <p:spPr>
          <a:xfrm>
            <a:off x="658440" y="631080"/>
            <a:ext cx="10697760" cy="1008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65" name="TextBox 3"/>
          <p:cNvSpPr/>
          <p:nvPr/>
        </p:nvSpPr>
        <p:spPr>
          <a:xfrm>
            <a:off x="2259360" y="1051560"/>
            <a:ext cx="77335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800" spc="-1" strike="noStrike">
                <a:solidFill>
                  <a:srgbClr val="071d37"/>
                </a:solidFill>
                <a:latin typeface="Aptos Display"/>
              </a:rPr>
              <a:t>Memoria, contexto, sesión, retriever y RAG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4"/>
          <p:cNvSpPr/>
          <p:nvPr/>
        </p:nvSpPr>
        <p:spPr>
          <a:xfrm>
            <a:off x="3382200" y="1440000"/>
            <a:ext cx="52311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500" spc="-1" strike="noStrike">
                <a:solidFill>
                  <a:srgbClr val="506070"/>
                </a:solidFill>
                <a:latin typeface="Aptos"/>
              </a:rPr>
              <a:t>Conceptos parecidos que resuelven problemas distintos.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7" name="Table 5"/>
          <p:cNvGraphicFramePr/>
          <p:nvPr/>
        </p:nvGraphicFramePr>
        <p:xfrm>
          <a:off x="777240" y="1783080"/>
          <a:ext cx="10881000" cy="4067280"/>
        </p:xfrm>
        <a:graphic>
          <a:graphicData uri="http://schemas.openxmlformats.org/drawingml/2006/table">
            <a:tbl>
              <a:tblPr/>
              <a:tblGrid>
                <a:gridCol w="1920240"/>
                <a:gridCol w="3840480"/>
                <a:gridCol w="5120640"/>
              </a:tblGrid>
              <a:tr h="581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Concepto</a:t>
                      </a:r>
                      <a:endParaRPr b="0" lang="es-E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71d3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Qué es</a:t>
                      </a:r>
                      <a:endParaRPr b="0" lang="es-E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71d3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Cuándo usar</a:t>
                      </a:r>
                      <a:endParaRPr b="0" lang="es-E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71d37"/>
                    </a:solidFill>
                  </a:tcPr>
                </a:tc>
              </a:tr>
              <a:tr h="581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Contexto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Información enviada en una llamada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Responder una tarea puntual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Historial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Mensajes previos incluidos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Conversación multi-turn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</a:tr>
              <a:tr h="581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Sesión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ID que agrupa interacciones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Continuidad por usuario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Memoria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Datos guardados para reutilizar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Preferencias o resumen persistente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</a:tr>
              <a:tr h="581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Retriever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Busca fragmentos relevantes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Antes del prompt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RAG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Recuperación + generación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Respuestas con evidencia documental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68" name="Rounded Rectangle 6"/>
          <p:cNvSpPr/>
          <p:nvPr/>
        </p:nvSpPr>
        <p:spPr>
          <a:xfrm>
            <a:off x="1325880" y="5989320"/>
            <a:ext cx="9783360" cy="502200"/>
          </a:xfrm>
          <a:prstGeom prst="roundRect">
            <a:avLst>
              <a:gd name="adj" fmla="val 16667"/>
            </a:avLst>
          </a:prstGeom>
          <a:solidFill>
            <a:srgbClr val="fafc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69" name="Rectangle 7"/>
          <p:cNvSpPr/>
          <p:nvPr/>
        </p:nvSpPr>
        <p:spPr>
          <a:xfrm>
            <a:off x="1325880" y="5989320"/>
            <a:ext cx="54000" cy="50220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70" name="TextBox 8"/>
          <p:cNvSpPr/>
          <p:nvPr/>
        </p:nvSpPr>
        <p:spPr>
          <a:xfrm>
            <a:off x="1527120" y="6126480"/>
            <a:ext cx="9417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Idea clave </a:t>
            </a:r>
            <a:r>
              <a:rPr b="0" lang="es-ES" sz="1400" spc="-1" strike="noStrike">
                <a:solidFill>
                  <a:srgbClr val="2d3846"/>
                </a:solidFill>
                <a:latin typeface="Aptos"/>
              </a:rPr>
              <a:t>Memoria recuerda continuidad. RAG recupera evidencia. Una no reemplaza a la otra.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9"/>
          <p:cNvSpPr/>
          <p:nvPr/>
        </p:nvSpPr>
        <p:spPr>
          <a:xfrm>
            <a:off x="1800000" y="6646680"/>
            <a:ext cx="4178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800" spc="-1" strike="noStrike">
                <a:solidFill>
                  <a:srgbClr val="506070"/>
                </a:solidFill>
                <a:latin typeface="Aptos"/>
              </a:rPr>
              <a:t>Diplomado Ejecutivo en Confianza Digital, IA y Automatización Empresarial · Clase 3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2969280" y="246960"/>
            <a:ext cx="5252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900" spc="-1" strike="noStrike">
                <a:solidFill>
                  <a:srgbClr val="506070"/>
                </a:solidFill>
                <a:latin typeface="Aptos"/>
              </a:rPr>
              <a:t>Diplomado Ejecutivo en Confianza Digital, IA y Automatización Empresarial · Módulo 1 · Clase 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Rectangle 2"/>
          <p:cNvSpPr/>
          <p:nvPr/>
        </p:nvSpPr>
        <p:spPr>
          <a:xfrm>
            <a:off x="658440" y="631080"/>
            <a:ext cx="10697760" cy="1008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2269080" y="1051560"/>
            <a:ext cx="7713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800" spc="-1" strike="noStrike">
                <a:solidFill>
                  <a:srgbClr val="071d37"/>
                </a:solidFill>
                <a:latin typeface="Aptos Display"/>
              </a:rPr>
              <a:t>Qué significa “estado” en aplicaciones LLM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4"/>
          <p:cNvSpPr/>
          <p:nvPr/>
        </p:nvSpPr>
        <p:spPr>
          <a:xfrm>
            <a:off x="2259000" y="1554480"/>
            <a:ext cx="74775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500" spc="-1" strike="noStrike">
                <a:solidFill>
                  <a:srgbClr val="506070"/>
                </a:solidFill>
                <a:latin typeface="Aptos"/>
              </a:rPr>
              <a:t>Estado es la información que el sistema conserva para decidir qué hacer después.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Rounded Rectangle 5"/>
          <p:cNvSpPr/>
          <p:nvPr/>
        </p:nvSpPr>
        <p:spPr>
          <a:xfrm>
            <a:off x="868680" y="1828800"/>
            <a:ext cx="4845600" cy="1828080"/>
          </a:xfrm>
          <a:prstGeom prst="roundRect">
            <a:avLst>
              <a:gd name="adj" fmla="val 16667"/>
            </a:avLst>
          </a:prstGeom>
          <a:solidFill>
            <a:srgbClr val="ecf4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77" name="Rectangle 6"/>
          <p:cNvSpPr/>
          <p:nvPr/>
        </p:nvSpPr>
        <p:spPr>
          <a:xfrm>
            <a:off x="868680" y="1828800"/>
            <a:ext cx="54000" cy="182808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78" name="TextBox 7"/>
          <p:cNvSpPr/>
          <p:nvPr/>
        </p:nvSpPr>
        <p:spPr>
          <a:xfrm>
            <a:off x="1069920" y="1965960"/>
            <a:ext cx="4479840" cy="10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Definición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400" spc="-1" strike="noStrike">
                <a:solidFill>
                  <a:srgbClr val="2d3846"/>
                </a:solidFill>
                <a:latin typeface="Aptos"/>
              </a:rPr>
              <a:t>El estado representa variables, historial, decisiones o resultados intermedios que sobreviven entre pasos de un flujo o turnos de una conversación.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Rounded Rectangle 8"/>
          <p:cNvSpPr/>
          <p:nvPr/>
        </p:nvSpPr>
        <p:spPr>
          <a:xfrm>
            <a:off x="5989320" y="1828800"/>
            <a:ext cx="4845600" cy="1828080"/>
          </a:xfrm>
          <a:prstGeom prst="roundRect">
            <a:avLst>
              <a:gd name="adj" fmla="val 16667"/>
            </a:avLst>
          </a:prstGeom>
          <a:solidFill>
            <a:srgbClr val="ebf6f4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0" name="Rectangle 9"/>
          <p:cNvSpPr/>
          <p:nvPr/>
        </p:nvSpPr>
        <p:spPr>
          <a:xfrm>
            <a:off x="5989320" y="1828800"/>
            <a:ext cx="54000" cy="1828080"/>
          </a:xfrm>
          <a:prstGeom prst="rect">
            <a:avLst/>
          </a:prstGeom>
          <a:solidFill>
            <a:srgbClr val="2f8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6190560" y="1965960"/>
            <a:ext cx="4479840" cy="12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Por qué importa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400" spc="-1" strike="noStrike">
                <a:solidFill>
                  <a:srgbClr val="2d3846"/>
                </a:solidFill>
                <a:latin typeface="Aptos"/>
              </a:rPr>
              <a:t>Sin estado, cada llamada se comporta como aislada. Con estado, la app puede continuar una tarea, recordar contexto y controlar el siguiente paso.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2" name="Table 11"/>
          <p:cNvGraphicFramePr/>
          <p:nvPr/>
        </p:nvGraphicFramePr>
        <p:xfrm>
          <a:off x="868680" y="4160520"/>
          <a:ext cx="10149480" cy="1462320"/>
        </p:xfrm>
        <a:graphic>
          <a:graphicData uri="http://schemas.openxmlformats.org/drawingml/2006/table">
            <a:tbl>
              <a:tblPr/>
              <a:tblGrid>
                <a:gridCol w="4937760"/>
                <a:gridCol w="5212080"/>
              </a:tblGrid>
              <a:tr h="487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Sin estado</a:t>
                      </a:r>
                      <a:endParaRPr b="0" lang="es-E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71d3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Con estado</a:t>
                      </a:r>
                      <a:endParaRPr b="0" lang="es-E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71d37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“</a:t>
                      </a:r>
                      <a:r>
                        <a:rPr b="0" lang="en-US" sz="120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Responde esta pregunta”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“</a:t>
                      </a:r>
                      <a:r>
                        <a:rPr b="0" lang="en-US" sz="120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Sigue este caso, considerando lo ya decidido”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Una llamada independiente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Un flujo con continuidad, control y decisiones acumuladas</a:t>
                      </a:r>
                      <a:endParaRPr b="0" lang="es-E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83" name="TextBox 12"/>
          <p:cNvSpPr/>
          <p:nvPr/>
        </p:nvSpPr>
        <p:spPr>
          <a:xfrm>
            <a:off x="1769400" y="6446520"/>
            <a:ext cx="4178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800" spc="-1" strike="noStrike">
                <a:solidFill>
                  <a:srgbClr val="506070"/>
                </a:solidFill>
                <a:latin typeface="Aptos"/>
              </a:rPr>
              <a:t>Diplomado Ejecutivo en Confianza Digital, IA y Automatización Empresarial · Clase 3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2969280" y="246960"/>
            <a:ext cx="5252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900" spc="-1" strike="noStrike">
                <a:solidFill>
                  <a:srgbClr val="506070"/>
                </a:solidFill>
                <a:latin typeface="Aptos"/>
              </a:rPr>
              <a:t>Diplomado Ejecutivo en Confianza Digital, IA y Automatización Empresarial · Módulo 1 · Clase 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ectangle 2"/>
          <p:cNvSpPr/>
          <p:nvPr/>
        </p:nvSpPr>
        <p:spPr>
          <a:xfrm>
            <a:off x="658440" y="631080"/>
            <a:ext cx="10697760" cy="1008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3913560" y="1051560"/>
            <a:ext cx="44251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800" spc="-1" strike="noStrike">
                <a:solidFill>
                  <a:srgbClr val="071d37"/>
                </a:solidFill>
                <a:latin typeface="Aptos Display"/>
              </a:rPr>
              <a:t>Tres ejemplos de estado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4"/>
          <p:cNvSpPr/>
          <p:nvPr/>
        </p:nvSpPr>
        <p:spPr>
          <a:xfrm>
            <a:off x="2037240" y="1554480"/>
            <a:ext cx="7921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500" spc="-1" strike="noStrike">
                <a:solidFill>
                  <a:srgbClr val="506070"/>
                </a:solidFill>
                <a:latin typeface="Aptos"/>
              </a:rPr>
              <a:t>El estado no siempre es “memoria del usuario”; también puede ser estado del proceso.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Rounded Rectangle 5"/>
          <p:cNvSpPr/>
          <p:nvPr/>
        </p:nvSpPr>
        <p:spPr>
          <a:xfrm>
            <a:off x="868680" y="1828800"/>
            <a:ext cx="3245400" cy="2651040"/>
          </a:xfrm>
          <a:prstGeom prst="roundRect">
            <a:avLst>
              <a:gd name="adj" fmla="val 16667"/>
            </a:avLst>
          </a:prstGeom>
          <a:solidFill>
            <a:srgbClr val="ecf4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9" name="Rectangle 6"/>
          <p:cNvSpPr/>
          <p:nvPr/>
        </p:nvSpPr>
        <p:spPr>
          <a:xfrm>
            <a:off x="868680" y="1828800"/>
            <a:ext cx="54000" cy="26510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90" name="TextBox 7"/>
          <p:cNvSpPr/>
          <p:nvPr/>
        </p:nvSpPr>
        <p:spPr>
          <a:xfrm>
            <a:off x="1069920" y="1965960"/>
            <a:ext cx="2879640" cy="13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1. Conversación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300" spc="-1" strike="noStrike">
                <a:solidFill>
                  <a:srgbClr val="2d3846"/>
                </a:solidFill>
                <a:latin typeface="Aptos"/>
              </a:rPr>
              <a:t>Últimos mensajes, intención actual y respuesta anterior.</a:t>
            </a:r>
            <a:br>
              <a:rPr sz="1300"/>
            </a:br>
            <a:br>
              <a:rPr sz="1300"/>
            </a:br>
            <a:r>
              <a:rPr b="0" lang="es-ES" sz="1300" spc="-1" strike="noStrike">
                <a:solidFill>
                  <a:srgbClr val="2d3846"/>
                </a:solidFill>
                <a:latin typeface="Aptos"/>
              </a:rPr>
              <a:t>Ejemplo: “¿y en ese caso?” se entiende gracias al historial.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ounded Rectangle 8"/>
          <p:cNvSpPr/>
          <p:nvPr/>
        </p:nvSpPr>
        <p:spPr>
          <a:xfrm>
            <a:off x="4434840" y="1828800"/>
            <a:ext cx="3245400" cy="2651040"/>
          </a:xfrm>
          <a:prstGeom prst="roundRect">
            <a:avLst>
              <a:gd name="adj" fmla="val 16667"/>
            </a:avLst>
          </a:prstGeom>
          <a:solidFill>
            <a:srgbClr val="f5f8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92" name="Rectangle 9"/>
          <p:cNvSpPr/>
          <p:nvPr/>
        </p:nvSpPr>
        <p:spPr>
          <a:xfrm>
            <a:off x="4434840" y="1828800"/>
            <a:ext cx="54000" cy="2651040"/>
          </a:xfrm>
          <a:prstGeom prst="rect">
            <a:avLst/>
          </a:prstGeom>
          <a:solidFill>
            <a:srgbClr val="f59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4636080" y="1965960"/>
            <a:ext cx="2879640" cy="13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2. Flujo / agente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300" spc="-1" strike="noStrike">
                <a:solidFill>
                  <a:srgbClr val="2d3846"/>
                </a:solidFill>
                <a:latin typeface="Aptos"/>
              </a:rPr>
              <a:t>Paso actual, tool usada, resultado intermedio y decisión pendiente.</a:t>
            </a:r>
            <a:br>
              <a:rPr sz="1300"/>
            </a:br>
            <a:br>
              <a:rPr sz="1300"/>
            </a:br>
            <a:r>
              <a:rPr b="0" lang="es-ES" sz="1300" spc="-1" strike="noStrike">
                <a:solidFill>
                  <a:srgbClr val="2d3846"/>
                </a:solidFill>
                <a:latin typeface="Aptos"/>
              </a:rPr>
              <a:t>Ejemplo: ya consultó stock; falta crear ticket.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Rounded Rectangle 11"/>
          <p:cNvSpPr/>
          <p:nvPr/>
        </p:nvSpPr>
        <p:spPr>
          <a:xfrm>
            <a:off x="8001000" y="1828800"/>
            <a:ext cx="3245400" cy="2651040"/>
          </a:xfrm>
          <a:prstGeom prst="roundRect">
            <a:avLst>
              <a:gd name="adj" fmla="val 16667"/>
            </a:avLst>
          </a:prstGeom>
          <a:solidFill>
            <a:srgbClr val="ebf6f4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95" name="Rectangle 12"/>
          <p:cNvSpPr/>
          <p:nvPr/>
        </p:nvSpPr>
        <p:spPr>
          <a:xfrm>
            <a:off x="8001000" y="1828800"/>
            <a:ext cx="54000" cy="2651040"/>
          </a:xfrm>
          <a:prstGeom prst="rect">
            <a:avLst/>
          </a:prstGeom>
          <a:solidFill>
            <a:srgbClr val="2f8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96" name="TextBox 13"/>
          <p:cNvSpPr/>
          <p:nvPr/>
        </p:nvSpPr>
        <p:spPr>
          <a:xfrm>
            <a:off x="8202240" y="1965960"/>
            <a:ext cx="2879640" cy="175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3. Proceso de negocio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300" spc="-1" strike="noStrike">
                <a:solidFill>
                  <a:srgbClr val="2d3846"/>
                </a:solidFill>
                <a:latin typeface="Aptos"/>
              </a:rPr>
              <a:t>Caso activo, prioridad, documentos cargados, responsable o estado de validación.</a:t>
            </a:r>
            <a:br>
              <a:rPr sz="1300"/>
            </a:br>
            <a:br>
              <a:rPr sz="1300"/>
            </a:br>
            <a:r>
              <a:rPr b="0" lang="es-ES" sz="1300" spc="-1" strike="noStrike">
                <a:solidFill>
                  <a:srgbClr val="2d3846"/>
                </a:solidFill>
                <a:latin typeface="Aptos"/>
              </a:rPr>
              <a:t>Ejemplo: importación observada por cambio de ETA.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ounded Rectangle 14"/>
          <p:cNvSpPr/>
          <p:nvPr/>
        </p:nvSpPr>
        <p:spPr>
          <a:xfrm>
            <a:off x="1051560" y="5074920"/>
            <a:ext cx="9783360" cy="63936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98" name="Rectangle 15"/>
          <p:cNvSpPr/>
          <p:nvPr/>
        </p:nvSpPr>
        <p:spPr>
          <a:xfrm>
            <a:off x="1051560" y="5074920"/>
            <a:ext cx="54000" cy="639360"/>
          </a:xfrm>
          <a:prstGeom prst="rect">
            <a:avLst/>
          </a:prstGeom>
          <a:solidFill>
            <a:srgbClr val="f59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99" name="TextBox 16"/>
          <p:cNvSpPr/>
          <p:nvPr/>
        </p:nvSpPr>
        <p:spPr>
          <a:xfrm>
            <a:off x="1252800" y="5212080"/>
            <a:ext cx="94176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Criterio </a:t>
            </a:r>
            <a:r>
              <a:rPr b="0" lang="es-ES" sz="1400" spc="-1" strike="noStrike">
                <a:solidFill>
                  <a:srgbClr val="2d3846"/>
                </a:solidFill>
                <a:latin typeface="Aptos"/>
              </a:rPr>
              <a:t>Guardar estado siempre tiene costo y riesgo: se debe definir qué guardar, por cuánto tiempo y con qué propósito.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17"/>
          <p:cNvSpPr/>
          <p:nvPr/>
        </p:nvSpPr>
        <p:spPr>
          <a:xfrm>
            <a:off x="1769400" y="6446520"/>
            <a:ext cx="4178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800" spc="-1" strike="noStrike">
                <a:solidFill>
                  <a:srgbClr val="506070"/>
                </a:solidFill>
                <a:latin typeface="Aptos"/>
              </a:rPr>
              <a:t>Diplomado Ejecutivo en Confianza Digital, IA y Automatización Empresarial · Clase 3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245c94"/>
          </a:solidFill>
          <a:ln w="1270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2"/>
          <p:cNvSpPr/>
          <p:nvPr/>
        </p:nvSpPr>
        <p:spPr>
          <a:xfrm>
            <a:off x="685800" y="91440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45c94"/>
                </a:solidFill>
                <a:latin typeface="Aptos"/>
              </a:rPr>
              <a:t>PLATAFORMA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3"/>
          <p:cNvSpPr/>
          <p:nvPr/>
        </p:nvSpPr>
        <p:spPr>
          <a:xfrm>
            <a:off x="685800" y="1920240"/>
            <a:ext cx="10697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01 · Ecosistema LangChain</a:t>
            </a:r>
            <a:endParaRPr b="0" lang="es-E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704160" y="2788920"/>
            <a:ext cx="9966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4155"/>
                </a:solidFill>
                <a:latin typeface="Aptos"/>
              </a:rPr>
              <a:t>Primero entendemos qué ofrece la plataforma y cómo navegar su documentación.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378440" y="6080760"/>
            <a:ext cx="959400" cy="438120"/>
          </a:xfrm>
          <a:prstGeom prst="rect">
            <a:avLst/>
          </a:prstGeom>
          <a:ln w="0">
            <a:noFill/>
          </a:ln>
        </p:spPr>
      </p:pic>
      <p:sp>
        <p:nvSpPr>
          <p:cNvPr id="107" name="Text 5"/>
          <p:cNvSpPr/>
          <p:nvPr/>
        </p:nvSpPr>
        <p:spPr>
          <a:xfrm>
            <a:off x="1170432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03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Plataforma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1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112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04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Ecosistema LangChain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LangChain se presenta como una plataforma para construir, probar, observar y desplegar aplicaciones LLM/agentes.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5" name="Image 1" descr="/mnt/data/imagen.png"/>
          <p:cNvPicPr/>
          <p:nvPr/>
        </p:nvPicPr>
        <p:blipFill>
          <a:blip r:embed="rId2"/>
          <a:stretch/>
        </p:blipFill>
        <p:spPr>
          <a:xfrm>
            <a:off x="685800" y="1691640"/>
            <a:ext cx="5439960" cy="2925360"/>
          </a:xfrm>
          <a:prstGeom prst="rect">
            <a:avLst/>
          </a:prstGeom>
          <a:ln w="0">
            <a:noFill/>
          </a:ln>
        </p:spPr>
      </p:pic>
      <p:sp>
        <p:nvSpPr>
          <p:cNvPr id="116" name="Shape 6"/>
          <p:cNvSpPr/>
          <p:nvPr/>
        </p:nvSpPr>
        <p:spPr>
          <a:xfrm>
            <a:off x="6446520" y="1645920"/>
            <a:ext cx="5074200" cy="8222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7"/>
          <p:cNvSpPr/>
          <p:nvPr/>
        </p:nvSpPr>
        <p:spPr>
          <a:xfrm>
            <a:off x="6446520" y="1645920"/>
            <a:ext cx="72360" cy="822240"/>
          </a:xfrm>
          <a:prstGeom prst="rect">
            <a:avLst/>
          </a:prstGeom>
          <a:solidFill>
            <a:srgbClr val="245c94"/>
          </a:solidFill>
          <a:ln w="1270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8"/>
          <p:cNvSpPr/>
          <p:nvPr/>
        </p:nvSpPr>
        <p:spPr>
          <a:xfrm>
            <a:off x="6611040" y="1764720"/>
            <a:ext cx="4799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32238"/>
                </a:solidFill>
                <a:latin typeface="Aptos"/>
              </a:rPr>
              <a:t>LangChain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9"/>
          <p:cNvSpPr/>
          <p:nvPr/>
        </p:nvSpPr>
        <p:spPr>
          <a:xfrm>
            <a:off x="6611040" y="2121480"/>
            <a:ext cx="4772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 fontScale="81111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334155"/>
                </a:solidFill>
                <a:latin typeface="Aptos"/>
              </a:rPr>
              <a:t>Framework/librería para componer modelos, prompts, chains, retrievers, tools y agentes.</a:t>
            </a:r>
            <a:endParaRPr b="0" lang="es-E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10"/>
          <p:cNvSpPr/>
          <p:nvPr/>
        </p:nvSpPr>
        <p:spPr>
          <a:xfrm>
            <a:off x="6446520" y="2651760"/>
            <a:ext cx="5074200" cy="8222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11"/>
          <p:cNvSpPr/>
          <p:nvPr/>
        </p:nvSpPr>
        <p:spPr>
          <a:xfrm>
            <a:off x="6446520" y="2651760"/>
            <a:ext cx="72360" cy="822240"/>
          </a:xfrm>
          <a:prstGeom prst="rect">
            <a:avLst/>
          </a:prstGeom>
          <a:solidFill>
            <a:srgbClr val="5b4e9c"/>
          </a:solidFill>
          <a:ln w="12700">
            <a:solidFill>
              <a:srgbClr val="5b4e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12"/>
          <p:cNvSpPr/>
          <p:nvPr/>
        </p:nvSpPr>
        <p:spPr>
          <a:xfrm>
            <a:off x="6611040" y="2770560"/>
            <a:ext cx="4799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32238"/>
                </a:solidFill>
                <a:latin typeface="Aptos"/>
              </a:rPr>
              <a:t>LangGraph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13"/>
          <p:cNvSpPr/>
          <p:nvPr/>
        </p:nvSpPr>
        <p:spPr>
          <a:xfrm>
            <a:off x="6611040" y="3127320"/>
            <a:ext cx="4772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334155"/>
                </a:solidFill>
                <a:latin typeface="Aptos"/>
              </a:rPr>
              <a:t>Orquestación con estado para workflows y agentes más controlados.</a:t>
            </a:r>
            <a:endParaRPr b="0" lang="es-E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14"/>
          <p:cNvSpPr/>
          <p:nvPr/>
        </p:nvSpPr>
        <p:spPr>
          <a:xfrm>
            <a:off x="6446520" y="3657600"/>
            <a:ext cx="5074200" cy="8222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15"/>
          <p:cNvSpPr/>
          <p:nvPr/>
        </p:nvSpPr>
        <p:spPr>
          <a:xfrm>
            <a:off x="6446520" y="3657600"/>
            <a:ext cx="72360" cy="822240"/>
          </a:xfrm>
          <a:prstGeom prst="rect">
            <a:avLst/>
          </a:prstGeom>
          <a:solidFill>
            <a:srgbClr val="2d8a55"/>
          </a:solidFill>
          <a:ln w="1270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16"/>
          <p:cNvSpPr/>
          <p:nvPr/>
        </p:nvSpPr>
        <p:spPr>
          <a:xfrm>
            <a:off x="6611040" y="3776400"/>
            <a:ext cx="4799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32238"/>
                </a:solidFill>
                <a:latin typeface="Aptos"/>
              </a:rPr>
              <a:t>LangSmith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17"/>
          <p:cNvSpPr/>
          <p:nvPr/>
        </p:nvSpPr>
        <p:spPr>
          <a:xfrm>
            <a:off x="6611040" y="4133160"/>
            <a:ext cx="4772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334155"/>
                </a:solidFill>
                <a:latin typeface="Aptos"/>
              </a:rPr>
              <a:t>Observabilidad, evaluación, prompts, trazas, monitoreo y despliegue.</a:t>
            </a:r>
            <a:endParaRPr b="0" lang="es-E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18"/>
          <p:cNvSpPr/>
          <p:nvPr/>
        </p:nvSpPr>
        <p:spPr>
          <a:xfrm>
            <a:off x="685800" y="5166360"/>
            <a:ext cx="10834920" cy="529560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016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9"/>
          <p:cNvSpPr/>
          <p:nvPr/>
        </p:nvSpPr>
        <p:spPr>
          <a:xfrm>
            <a:off x="850320" y="5294520"/>
            <a:ext cx="10505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45c94"/>
                </a:solidFill>
                <a:latin typeface="Aptos"/>
              </a:rPr>
              <a:t>En esta clase usaremos LangChain como puerta de entrada: diseñar y leer flujos antes de complejizar.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Plataforma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134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05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Qué ofrece la plataforma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La plataforma combina documentación, SDKs, trazabilidad, evaluación y despliegue.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6"/>
          <p:cNvSpPr/>
          <p:nvPr/>
        </p:nvSpPr>
        <p:spPr>
          <a:xfrm>
            <a:off x="685800" y="1691640"/>
            <a:ext cx="1736640" cy="715680"/>
          </a:xfrm>
          <a:prstGeom prst="rect">
            <a:avLst/>
          </a:prstGeom>
          <a:solidFill>
            <a:srgbClr val="132238"/>
          </a:solidFill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731520" y="1764720"/>
            <a:ext cx="1645200" cy="6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Aptos"/>
              </a:rPr>
              <a:t>Elemento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8"/>
          <p:cNvSpPr/>
          <p:nvPr/>
        </p:nvSpPr>
        <p:spPr>
          <a:xfrm>
            <a:off x="2423160" y="1691640"/>
            <a:ext cx="4205520" cy="715680"/>
          </a:xfrm>
          <a:prstGeom prst="rect">
            <a:avLst/>
          </a:prstGeom>
          <a:solidFill>
            <a:srgbClr val="132238"/>
          </a:solidFill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2468880" y="1764720"/>
            <a:ext cx="4114080" cy="6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Aptos"/>
              </a:rPr>
              <a:t>Qué es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10"/>
          <p:cNvSpPr/>
          <p:nvPr/>
        </p:nvSpPr>
        <p:spPr>
          <a:xfrm>
            <a:off x="6629400" y="1691640"/>
            <a:ext cx="4891320" cy="715680"/>
          </a:xfrm>
          <a:prstGeom prst="rect">
            <a:avLst/>
          </a:prstGeom>
          <a:solidFill>
            <a:srgbClr val="132238"/>
          </a:solidFill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11"/>
          <p:cNvSpPr/>
          <p:nvPr/>
        </p:nvSpPr>
        <p:spPr>
          <a:xfrm>
            <a:off x="6675120" y="1764720"/>
            <a:ext cx="4799880" cy="6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Aptos"/>
              </a:rPr>
              <a:t>Para qué sirve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12"/>
          <p:cNvSpPr/>
          <p:nvPr/>
        </p:nvSpPr>
        <p:spPr>
          <a:xfrm>
            <a:off x="685800" y="2408040"/>
            <a:ext cx="1736640" cy="7156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13"/>
          <p:cNvSpPr/>
          <p:nvPr/>
        </p:nvSpPr>
        <p:spPr>
          <a:xfrm>
            <a:off x="731520" y="2453760"/>
            <a:ext cx="1645200" cy="62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pc="-1" strike="noStrike">
                <a:solidFill>
                  <a:srgbClr val="334155"/>
                </a:solidFill>
                <a:latin typeface="Aptos"/>
              </a:rPr>
              <a:t>Docs</a:t>
            </a:r>
            <a:endParaRPr b="0" lang="es-ES" sz="10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14"/>
          <p:cNvSpPr/>
          <p:nvPr/>
        </p:nvSpPr>
        <p:spPr>
          <a:xfrm>
            <a:off x="2423160" y="2408040"/>
            <a:ext cx="4205520" cy="7156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5"/>
          <p:cNvSpPr/>
          <p:nvPr/>
        </p:nvSpPr>
        <p:spPr>
          <a:xfrm>
            <a:off x="2468880" y="2453760"/>
            <a:ext cx="4114080" cy="62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pc="-1" strike="noStrike">
                <a:solidFill>
                  <a:srgbClr val="334155"/>
                </a:solidFill>
                <a:latin typeface="Aptos"/>
              </a:rPr>
              <a:t>Guías, referencias, conceptos, ejemplos y quickstarts.</a:t>
            </a:r>
            <a:endParaRPr b="0" lang="es-ES" sz="10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16"/>
          <p:cNvSpPr/>
          <p:nvPr/>
        </p:nvSpPr>
        <p:spPr>
          <a:xfrm>
            <a:off x="6629400" y="2408040"/>
            <a:ext cx="4891320" cy="7156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7"/>
          <p:cNvSpPr/>
          <p:nvPr/>
        </p:nvSpPr>
        <p:spPr>
          <a:xfrm>
            <a:off x="6675120" y="2453760"/>
            <a:ext cx="4799880" cy="62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pc="-1" strike="noStrike">
                <a:solidFill>
                  <a:srgbClr val="334155"/>
                </a:solidFill>
                <a:latin typeface="Aptos"/>
              </a:rPr>
              <a:t>Aprender patrones y buscar componentes.</a:t>
            </a:r>
            <a:endParaRPr b="0" lang="es-ES" sz="10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18"/>
          <p:cNvSpPr/>
          <p:nvPr/>
        </p:nvSpPr>
        <p:spPr>
          <a:xfrm>
            <a:off x="685800" y="3124080"/>
            <a:ext cx="1736640" cy="7156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19"/>
          <p:cNvSpPr/>
          <p:nvPr/>
        </p:nvSpPr>
        <p:spPr>
          <a:xfrm>
            <a:off x="731520" y="3169800"/>
            <a:ext cx="1645200" cy="62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pc="-1" strike="noStrike">
                <a:solidFill>
                  <a:srgbClr val="334155"/>
                </a:solidFill>
                <a:latin typeface="Aptos"/>
              </a:rPr>
              <a:t>LangChain</a:t>
            </a:r>
            <a:endParaRPr b="0" lang="es-ES" sz="10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20"/>
          <p:cNvSpPr/>
          <p:nvPr/>
        </p:nvSpPr>
        <p:spPr>
          <a:xfrm>
            <a:off x="2423160" y="3124080"/>
            <a:ext cx="4205520" cy="7156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21"/>
          <p:cNvSpPr/>
          <p:nvPr/>
        </p:nvSpPr>
        <p:spPr>
          <a:xfrm>
            <a:off x="2468880" y="3169800"/>
            <a:ext cx="4114080" cy="62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pc="-1" strike="noStrike">
                <a:solidFill>
                  <a:srgbClr val="334155"/>
                </a:solidFill>
                <a:latin typeface="Aptos"/>
              </a:rPr>
              <a:t>Abstracciones e integraciones para construir apps LLM.</a:t>
            </a:r>
            <a:endParaRPr b="0" lang="es-ES" sz="10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22"/>
          <p:cNvSpPr/>
          <p:nvPr/>
        </p:nvSpPr>
        <p:spPr>
          <a:xfrm>
            <a:off x="6629400" y="3124080"/>
            <a:ext cx="4891320" cy="7156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23"/>
          <p:cNvSpPr/>
          <p:nvPr/>
        </p:nvSpPr>
        <p:spPr>
          <a:xfrm>
            <a:off x="6675120" y="3169800"/>
            <a:ext cx="4799880" cy="62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pc="-1" strike="noStrike">
                <a:solidFill>
                  <a:srgbClr val="334155"/>
                </a:solidFill>
                <a:latin typeface="Aptos"/>
              </a:rPr>
              <a:t>Chains, prompts, modelos, parsers, retrievers, tools.</a:t>
            </a:r>
            <a:endParaRPr b="0" lang="es-ES" sz="10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24"/>
          <p:cNvSpPr/>
          <p:nvPr/>
        </p:nvSpPr>
        <p:spPr>
          <a:xfrm>
            <a:off x="685800" y="3840480"/>
            <a:ext cx="1736640" cy="7156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25"/>
          <p:cNvSpPr/>
          <p:nvPr/>
        </p:nvSpPr>
        <p:spPr>
          <a:xfrm>
            <a:off x="731520" y="3886200"/>
            <a:ext cx="1645200" cy="62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pc="-1" strike="noStrike">
                <a:solidFill>
                  <a:srgbClr val="334155"/>
                </a:solidFill>
                <a:latin typeface="Aptos"/>
              </a:rPr>
              <a:t>LangGraph</a:t>
            </a:r>
            <a:endParaRPr b="0" lang="es-ES" sz="10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26"/>
          <p:cNvSpPr/>
          <p:nvPr/>
        </p:nvSpPr>
        <p:spPr>
          <a:xfrm>
            <a:off x="2423160" y="3840480"/>
            <a:ext cx="4205520" cy="7156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27"/>
          <p:cNvSpPr/>
          <p:nvPr/>
        </p:nvSpPr>
        <p:spPr>
          <a:xfrm>
            <a:off x="2468880" y="3886200"/>
            <a:ext cx="4114080" cy="62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pc="-1" strike="noStrike">
                <a:solidFill>
                  <a:srgbClr val="334155"/>
                </a:solidFill>
                <a:latin typeface="Aptos"/>
              </a:rPr>
              <a:t>Runtime para workflows y agentes con estado.</a:t>
            </a:r>
            <a:endParaRPr b="0" lang="es-ES" sz="10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28"/>
          <p:cNvSpPr/>
          <p:nvPr/>
        </p:nvSpPr>
        <p:spPr>
          <a:xfrm>
            <a:off x="6629400" y="3840480"/>
            <a:ext cx="4891320" cy="7156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29"/>
          <p:cNvSpPr/>
          <p:nvPr/>
        </p:nvSpPr>
        <p:spPr>
          <a:xfrm>
            <a:off x="6675120" y="3886200"/>
            <a:ext cx="4799880" cy="62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pc="-1" strike="noStrike">
                <a:solidFill>
                  <a:srgbClr val="334155"/>
                </a:solidFill>
                <a:latin typeface="Aptos"/>
              </a:rPr>
              <a:t>Rutas dinámicas, persistencia y control.</a:t>
            </a:r>
            <a:endParaRPr b="0" lang="es-ES" sz="10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30"/>
          <p:cNvSpPr/>
          <p:nvPr/>
        </p:nvSpPr>
        <p:spPr>
          <a:xfrm>
            <a:off x="685800" y="4556880"/>
            <a:ext cx="1736640" cy="7156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31"/>
          <p:cNvSpPr/>
          <p:nvPr/>
        </p:nvSpPr>
        <p:spPr>
          <a:xfrm>
            <a:off x="731520" y="4602600"/>
            <a:ext cx="1645200" cy="62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pc="-1" strike="noStrike">
                <a:solidFill>
                  <a:srgbClr val="334155"/>
                </a:solidFill>
                <a:latin typeface="Aptos"/>
              </a:rPr>
              <a:t>LangSmith</a:t>
            </a:r>
            <a:endParaRPr b="0" lang="es-ES" sz="10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32"/>
          <p:cNvSpPr/>
          <p:nvPr/>
        </p:nvSpPr>
        <p:spPr>
          <a:xfrm>
            <a:off x="2423160" y="4556880"/>
            <a:ext cx="4205520" cy="7156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33"/>
          <p:cNvSpPr/>
          <p:nvPr/>
        </p:nvSpPr>
        <p:spPr>
          <a:xfrm>
            <a:off x="2468880" y="4602600"/>
            <a:ext cx="4114080" cy="62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pc="-1" strike="noStrike">
                <a:solidFill>
                  <a:srgbClr val="334155"/>
                </a:solidFill>
                <a:latin typeface="Aptos"/>
              </a:rPr>
              <a:t>Plataforma de observabilidad y evaluación.</a:t>
            </a:r>
            <a:endParaRPr b="0" lang="es-ES" sz="10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34"/>
          <p:cNvSpPr/>
          <p:nvPr/>
        </p:nvSpPr>
        <p:spPr>
          <a:xfrm>
            <a:off x="6629400" y="4556880"/>
            <a:ext cx="4891320" cy="7156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35"/>
          <p:cNvSpPr/>
          <p:nvPr/>
        </p:nvSpPr>
        <p:spPr>
          <a:xfrm>
            <a:off x="6675120" y="4602600"/>
            <a:ext cx="4799880" cy="62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pc="-1" strike="noStrike">
                <a:solidFill>
                  <a:srgbClr val="334155"/>
                </a:solidFill>
                <a:latin typeface="Aptos"/>
              </a:rPr>
              <a:t>Ver trazas, prompts, errores, datasets y métricas.</a:t>
            </a:r>
            <a:endParaRPr b="0" lang="es-ES" sz="10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36"/>
          <p:cNvSpPr/>
          <p:nvPr/>
        </p:nvSpPr>
        <p:spPr>
          <a:xfrm>
            <a:off x="685800" y="5272920"/>
            <a:ext cx="1736640" cy="7156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37"/>
          <p:cNvSpPr/>
          <p:nvPr/>
        </p:nvSpPr>
        <p:spPr>
          <a:xfrm>
            <a:off x="731520" y="5318640"/>
            <a:ext cx="1645200" cy="62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pc="-1" strike="noStrike">
                <a:solidFill>
                  <a:srgbClr val="334155"/>
                </a:solidFill>
                <a:latin typeface="Aptos"/>
              </a:rPr>
              <a:t>Deployment</a:t>
            </a:r>
            <a:endParaRPr b="0" lang="es-ES" sz="10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38"/>
          <p:cNvSpPr/>
          <p:nvPr/>
        </p:nvSpPr>
        <p:spPr>
          <a:xfrm>
            <a:off x="2423160" y="5272920"/>
            <a:ext cx="4205520" cy="7156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39"/>
          <p:cNvSpPr/>
          <p:nvPr/>
        </p:nvSpPr>
        <p:spPr>
          <a:xfrm>
            <a:off x="2468880" y="5318640"/>
            <a:ext cx="4114080" cy="62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pc="-1" strike="noStrike">
                <a:solidFill>
                  <a:srgbClr val="334155"/>
                </a:solidFill>
                <a:latin typeface="Aptos"/>
              </a:rPr>
              <a:t>Publicar una app/agent como servicio ejecutable.</a:t>
            </a:r>
            <a:endParaRPr b="0" lang="es-ES" sz="10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40"/>
          <p:cNvSpPr/>
          <p:nvPr/>
        </p:nvSpPr>
        <p:spPr>
          <a:xfrm>
            <a:off x="6629400" y="5272920"/>
            <a:ext cx="4891320" cy="7156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41"/>
          <p:cNvSpPr/>
          <p:nvPr/>
        </p:nvSpPr>
        <p:spPr>
          <a:xfrm>
            <a:off x="6675120" y="5318640"/>
            <a:ext cx="4799880" cy="62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pc="-1" strike="noStrike">
                <a:solidFill>
                  <a:srgbClr val="334155"/>
                </a:solidFill>
                <a:latin typeface="Aptos"/>
              </a:rPr>
              <a:t>Pasar de prototipo local a servicio disponible.</a:t>
            </a:r>
            <a:endParaRPr b="0" lang="es-ES" sz="10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42"/>
          <p:cNvSpPr/>
          <p:nvPr/>
        </p:nvSpPr>
        <p:spPr>
          <a:xfrm>
            <a:off x="685800" y="6099120"/>
            <a:ext cx="10834920" cy="410760"/>
          </a:xfrm>
          <a:prstGeom prst="roundRect">
            <a:avLst>
              <a:gd name="adj" fmla="val 17778"/>
            </a:avLst>
          </a:prstGeom>
          <a:solidFill>
            <a:srgbClr val="f8fafc"/>
          </a:solidFill>
          <a:ln w="1016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43"/>
          <p:cNvSpPr/>
          <p:nvPr/>
        </p:nvSpPr>
        <p:spPr>
          <a:xfrm>
            <a:off x="850320" y="6226920"/>
            <a:ext cx="10505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238"/>
                </a:solidFill>
                <a:latin typeface="Aptos"/>
              </a:rPr>
              <a:t>La documentación no se memoriza: se usa para identificar patrones y responsabilidades.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Plataforma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8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179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06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¿Qué significa “deployment” en este contexto?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Publicar una chain, workflow o agente para que pueda ejecutarse como servicio, con configuración y observabilidad.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6"/>
          <p:cNvSpPr/>
          <p:nvPr/>
        </p:nvSpPr>
        <p:spPr>
          <a:xfrm>
            <a:off x="2757600" y="233172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7"/>
          <p:cNvSpPr/>
          <p:nvPr/>
        </p:nvSpPr>
        <p:spPr>
          <a:xfrm>
            <a:off x="4948560" y="233172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8"/>
          <p:cNvSpPr/>
          <p:nvPr/>
        </p:nvSpPr>
        <p:spPr>
          <a:xfrm>
            <a:off x="7139520" y="233172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9"/>
          <p:cNvSpPr/>
          <p:nvPr/>
        </p:nvSpPr>
        <p:spPr>
          <a:xfrm>
            <a:off x="9330480" y="2331720"/>
            <a:ext cx="6372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10"/>
          <p:cNvSpPr/>
          <p:nvPr/>
        </p:nvSpPr>
        <p:spPr>
          <a:xfrm>
            <a:off x="685800" y="2011680"/>
            <a:ext cx="2025720" cy="63936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143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11"/>
          <p:cNvSpPr/>
          <p:nvPr/>
        </p:nvSpPr>
        <p:spPr>
          <a:xfrm>
            <a:off x="749880" y="2103120"/>
            <a:ext cx="18975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32238"/>
                </a:solidFill>
                <a:latin typeface="Aptos"/>
              </a:rPr>
              <a:t>Repositorio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12"/>
          <p:cNvSpPr/>
          <p:nvPr/>
        </p:nvSpPr>
        <p:spPr>
          <a:xfrm>
            <a:off x="2876760" y="2011680"/>
            <a:ext cx="2025720" cy="6393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143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13"/>
          <p:cNvSpPr/>
          <p:nvPr/>
        </p:nvSpPr>
        <p:spPr>
          <a:xfrm>
            <a:off x="2940840" y="2103120"/>
            <a:ext cx="18975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32238"/>
                </a:solidFill>
                <a:latin typeface="Aptos"/>
              </a:rPr>
              <a:t>Configuración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14"/>
          <p:cNvSpPr/>
          <p:nvPr/>
        </p:nvSpPr>
        <p:spPr>
          <a:xfrm>
            <a:off x="5067720" y="2011680"/>
            <a:ext cx="2025720" cy="6393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143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15"/>
          <p:cNvSpPr/>
          <p:nvPr/>
        </p:nvSpPr>
        <p:spPr>
          <a:xfrm>
            <a:off x="5131440" y="2103120"/>
            <a:ext cx="18975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32238"/>
                </a:solidFill>
                <a:latin typeface="Aptos"/>
              </a:rPr>
              <a:t>Servidor / Runtime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16"/>
          <p:cNvSpPr/>
          <p:nvPr/>
        </p:nvSpPr>
        <p:spPr>
          <a:xfrm>
            <a:off x="7258680" y="2011680"/>
            <a:ext cx="2025720" cy="6393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143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17"/>
          <p:cNvSpPr/>
          <p:nvPr/>
        </p:nvSpPr>
        <p:spPr>
          <a:xfrm>
            <a:off x="7322400" y="2103120"/>
            <a:ext cx="18975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32238"/>
                </a:solidFill>
                <a:latin typeface="Aptos"/>
              </a:rPr>
              <a:t>Endpoint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18"/>
          <p:cNvSpPr/>
          <p:nvPr/>
        </p:nvSpPr>
        <p:spPr>
          <a:xfrm>
            <a:off x="9449280" y="2011680"/>
            <a:ext cx="2025720" cy="6393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143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19"/>
          <p:cNvSpPr/>
          <p:nvPr/>
        </p:nvSpPr>
        <p:spPr>
          <a:xfrm>
            <a:off x="9513360" y="2103120"/>
            <a:ext cx="18975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32238"/>
                </a:solidFill>
                <a:latin typeface="Aptos"/>
              </a:rPr>
              <a:t>Monitoreo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20"/>
          <p:cNvSpPr/>
          <p:nvPr/>
        </p:nvSpPr>
        <p:spPr>
          <a:xfrm>
            <a:off x="777240" y="3063240"/>
            <a:ext cx="3382560" cy="11880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21"/>
          <p:cNvSpPr/>
          <p:nvPr/>
        </p:nvSpPr>
        <p:spPr>
          <a:xfrm>
            <a:off x="777240" y="3063240"/>
            <a:ext cx="72360" cy="1188000"/>
          </a:xfrm>
          <a:prstGeom prst="rect">
            <a:avLst/>
          </a:prstGeom>
          <a:solidFill>
            <a:srgbClr val="245c94"/>
          </a:solidFill>
          <a:ln w="1270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22"/>
          <p:cNvSpPr/>
          <p:nvPr/>
        </p:nvSpPr>
        <p:spPr>
          <a:xfrm>
            <a:off x="941760" y="3182040"/>
            <a:ext cx="3108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32238"/>
                </a:solidFill>
                <a:latin typeface="Aptos"/>
              </a:rPr>
              <a:t>Chain desplegada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23"/>
          <p:cNvSpPr/>
          <p:nvPr/>
        </p:nvSpPr>
        <p:spPr>
          <a:xfrm>
            <a:off x="941760" y="3538800"/>
            <a:ext cx="30808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Aptos"/>
              </a:rPr>
              <a:t>Un flujo fijo se expone como endpoint: input → procesamiento → output.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24"/>
          <p:cNvSpPr/>
          <p:nvPr/>
        </p:nvSpPr>
        <p:spPr>
          <a:xfrm>
            <a:off x="4407480" y="3063240"/>
            <a:ext cx="3382560" cy="11880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25"/>
          <p:cNvSpPr/>
          <p:nvPr/>
        </p:nvSpPr>
        <p:spPr>
          <a:xfrm>
            <a:off x="4407480" y="3063240"/>
            <a:ext cx="72360" cy="1188000"/>
          </a:xfrm>
          <a:prstGeom prst="rect">
            <a:avLst/>
          </a:prstGeom>
          <a:solidFill>
            <a:srgbClr val="5b4e9c"/>
          </a:solidFill>
          <a:ln w="12700">
            <a:solidFill>
              <a:srgbClr val="5b4e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26"/>
          <p:cNvSpPr/>
          <p:nvPr/>
        </p:nvSpPr>
        <p:spPr>
          <a:xfrm>
            <a:off x="4572000" y="3182040"/>
            <a:ext cx="3108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32238"/>
                </a:solidFill>
                <a:latin typeface="Aptos"/>
              </a:rPr>
              <a:t>Agente desplegado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27"/>
          <p:cNvSpPr/>
          <p:nvPr/>
        </p:nvSpPr>
        <p:spPr>
          <a:xfrm>
            <a:off x="4572000" y="3538800"/>
            <a:ext cx="30808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Aptos"/>
              </a:rPr>
              <a:t>Un workflow con estado puede ejecutar pasos, tools y devolver trazas.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28"/>
          <p:cNvSpPr/>
          <p:nvPr/>
        </p:nvSpPr>
        <p:spPr>
          <a:xfrm>
            <a:off x="8028360" y="3063240"/>
            <a:ext cx="3382560" cy="11880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29"/>
          <p:cNvSpPr/>
          <p:nvPr/>
        </p:nvSpPr>
        <p:spPr>
          <a:xfrm>
            <a:off x="8028360" y="3063240"/>
            <a:ext cx="72360" cy="1188000"/>
          </a:xfrm>
          <a:prstGeom prst="rect">
            <a:avLst/>
          </a:prstGeom>
          <a:solidFill>
            <a:srgbClr val="2d8a55"/>
          </a:solidFill>
          <a:ln w="1270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30"/>
          <p:cNvSpPr/>
          <p:nvPr/>
        </p:nvSpPr>
        <p:spPr>
          <a:xfrm>
            <a:off x="8192880" y="3182040"/>
            <a:ext cx="3108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32238"/>
                </a:solidFill>
                <a:latin typeface="Aptos"/>
              </a:rPr>
              <a:t>Qué se opera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31"/>
          <p:cNvSpPr/>
          <p:nvPr/>
        </p:nvSpPr>
        <p:spPr>
          <a:xfrm>
            <a:off x="8192880" y="3538800"/>
            <a:ext cx="30808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34155"/>
                </a:solidFill>
                <a:latin typeface="Aptos"/>
              </a:rPr>
              <a:t>Versiones, variables de entorno, logs, trazas, errores y métricas.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32"/>
          <p:cNvSpPr/>
          <p:nvPr/>
        </p:nvSpPr>
        <p:spPr>
          <a:xfrm>
            <a:off x="777240" y="5166360"/>
            <a:ext cx="10606320" cy="566280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016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33"/>
          <p:cNvSpPr/>
          <p:nvPr/>
        </p:nvSpPr>
        <p:spPr>
          <a:xfrm>
            <a:off x="941760" y="5294520"/>
            <a:ext cx="102772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45c94"/>
                </a:solidFill>
                <a:latin typeface="Aptos"/>
              </a:rPr>
              <a:t>Para esta clase no necesitamos desplegar: necesitamos entender qué se diseñaría para poder desplegar después.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Plataforma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3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214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07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Cómo navegar la documentación sin perderse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Leer documentación técnica es buscar patrones, no copiar fragmentos al azar.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6"/>
          <p:cNvSpPr/>
          <p:nvPr/>
        </p:nvSpPr>
        <p:spPr>
          <a:xfrm>
            <a:off x="822960" y="1828800"/>
            <a:ext cx="5211360" cy="31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334155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334155"/>
                </a:solidFill>
                <a:latin typeface="Aptos"/>
              </a:rPr>
              <a:t>1. Identificar el patrón: chain, RAG, tool, agent o tracing.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334155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334155"/>
                </a:solidFill>
                <a:latin typeface="Aptos"/>
              </a:rPr>
              <a:t>2. Revisar el quickstart para el lenguaje: Python o JavaScript.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334155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334155"/>
                </a:solidFill>
                <a:latin typeface="Aptos"/>
              </a:rPr>
              <a:t>3. Ubicar componentes: model, prompt, parser, retriever, tool.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334155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334155"/>
                </a:solidFill>
                <a:latin typeface="Aptos"/>
              </a:rPr>
              <a:t>4. Leer la firma mínima: input, output y configuración.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334155"/>
                </a:solidFill>
                <a:latin typeface="Aptos"/>
              </a:rPr>
              <a:t>• </a:t>
            </a:r>
            <a:r>
              <a:rPr b="0" lang="en-US" sz="1500" spc="-1" strike="noStrike">
                <a:solidFill>
                  <a:srgbClr val="334155"/>
                </a:solidFill>
                <a:latin typeface="Aptos"/>
              </a:rPr>
              <a:t>5. Adaptar al caso: datos, límites, validación y pruebas.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7"/>
          <p:cNvSpPr/>
          <p:nvPr/>
        </p:nvSpPr>
        <p:spPr>
          <a:xfrm>
            <a:off x="6446520" y="1828800"/>
            <a:ext cx="4754160" cy="1919520"/>
          </a:xfrm>
          <a:prstGeom prst="roundRect">
            <a:avLst>
              <a:gd name="adj" fmla="val 3810"/>
            </a:avLst>
          </a:prstGeom>
          <a:solidFill>
            <a:srgbClr val="0b1220"/>
          </a:solidFill>
          <a:ln w="10160">
            <a:solidFill>
              <a:srgbClr val="18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8"/>
          <p:cNvSpPr/>
          <p:nvPr/>
        </p:nvSpPr>
        <p:spPr>
          <a:xfrm>
            <a:off x="6611040" y="1965960"/>
            <a:ext cx="442512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docs.langchain.com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  </a:t>
            </a: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/oss/python/langchain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  </a:t>
            </a: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/oss/python/langgraph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  </a:t>
            </a: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/langsmith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  </a:t>
            </a: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/langsmith/deployment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9"/>
          <p:cNvSpPr/>
          <p:nvPr/>
        </p:nvSpPr>
        <p:spPr>
          <a:xfrm>
            <a:off x="6446520" y="4069080"/>
            <a:ext cx="4754160" cy="913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10"/>
          <p:cNvSpPr/>
          <p:nvPr/>
        </p:nvSpPr>
        <p:spPr>
          <a:xfrm>
            <a:off x="6446520" y="4069080"/>
            <a:ext cx="72360" cy="913680"/>
          </a:xfrm>
          <a:prstGeom prst="rect">
            <a:avLst/>
          </a:prstGeom>
          <a:solidFill>
            <a:srgbClr val="b6202a"/>
          </a:solidFill>
          <a:ln w="12700">
            <a:solidFill>
              <a:srgbClr val="b620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11"/>
          <p:cNvSpPr/>
          <p:nvPr/>
        </p:nvSpPr>
        <p:spPr>
          <a:xfrm>
            <a:off x="6611040" y="4187880"/>
            <a:ext cx="4479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32238"/>
                </a:solidFill>
                <a:latin typeface="Aptos"/>
              </a:rPr>
              <a:t>Regla de lectura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12"/>
          <p:cNvSpPr/>
          <p:nvPr/>
        </p:nvSpPr>
        <p:spPr>
          <a:xfrm>
            <a:off x="6611040" y="4544640"/>
            <a:ext cx="4452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 fontScale="93333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20" spc="-1" strike="noStrike">
                <a:solidFill>
                  <a:srgbClr val="334155"/>
                </a:solidFill>
                <a:latin typeface="Aptos"/>
              </a:rPr>
              <a:t>Antes de copiar código, pregunte: ¿qué pieza cumple qué responsabilidad en el flujo?</a:t>
            </a:r>
            <a:endParaRPr b="0" lang="es-ES" sz="12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Box 1"/>
          <p:cNvSpPr/>
          <p:nvPr/>
        </p:nvSpPr>
        <p:spPr>
          <a:xfrm>
            <a:off x="2969280" y="246960"/>
            <a:ext cx="5252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900" spc="-1" strike="noStrike">
                <a:solidFill>
                  <a:srgbClr val="506070"/>
                </a:solidFill>
                <a:latin typeface="Aptos"/>
              </a:rPr>
              <a:t>Diplomado Ejecutivo en Confianza Digital, IA y Automatización Empresarial · Módulo 1 · Clase 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Rectangle 2"/>
          <p:cNvSpPr/>
          <p:nvPr/>
        </p:nvSpPr>
        <p:spPr>
          <a:xfrm>
            <a:off x="658440" y="631080"/>
            <a:ext cx="10697760" cy="1008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26" name="TextBox 3"/>
          <p:cNvSpPr/>
          <p:nvPr/>
        </p:nvSpPr>
        <p:spPr>
          <a:xfrm>
            <a:off x="1847880" y="1051560"/>
            <a:ext cx="85564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800" spc="-1" strike="noStrike">
                <a:solidFill>
                  <a:srgbClr val="071d37"/>
                </a:solidFill>
                <a:latin typeface="Aptos Display"/>
              </a:rPr>
              <a:t>Ecosistema LangChain: de librería a plataforma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Box 4"/>
          <p:cNvSpPr/>
          <p:nvPr/>
        </p:nvSpPr>
        <p:spPr>
          <a:xfrm>
            <a:off x="1388880" y="1554480"/>
            <a:ext cx="92181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500" spc="-1" strike="noStrike">
                <a:solidFill>
                  <a:srgbClr val="506070"/>
                </a:solidFill>
                <a:latin typeface="Aptos"/>
              </a:rPr>
              <a:t>No es solo una librería: es un ecosistema para construir, probar, observar y operar agentes/apps LLM.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Rounded Rectangle 5"/>
          <p:cNvSpPr/>
          <p:nvPr/>
        </p:nvSpPr>
        <p:spPr>
          <a:xfrm>
            <a:off x="731520" y="1828800"/>
            <a:ext cx="2239560" cy="2010960"/>
          </a:xfrm>
          <a:prstGeom prst="roundRect">
            <a:avLst>
              <a:gd name="adj" fmla="val 16667"/>
            </a:avLst>
          </a:prstGeom>
          <a:solidFill>
            <a:srgbClr val="ecf4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29" name="Rectangle 6"/>
          <p:cNvSpPr/>
          <p:nvPr/>
        </p:nvSpPr>
        <p:spPr>
          <a:xfrm>
            <a:off x="731520" y="1828800"/>
            <a:ext cx="54000" cy="201096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30" name="TextBox 7"/>
          <p:cNvSpPr/>
          <p:nvPr/>
        </p:nvSpPr>
        <p:spPr>
          <a:xfrm>
            <a:off x="932760" y="1965960"/>
            <a:ext cx="1873800" cy="12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LangChain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200" spc="-1" strike="noStrike">
                <a:solidFill>
                  <a:srgbClr val="2d3846"/>
                </a:solidFill>
                <a:latin typeface="Aptos"/>
              </a:rPr>
              <a:t>Framework para prompts, modelos, parsers, chains, retrievers, tools y agentes desde código.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Rounded Rectangle 8"/>
          <p:cNvSpPr/>
          <p:nvPr/>
        </p:nvSpPr>
        <p:spPr>
          <a:xfrm>
            <a:off x="3154680" y="1828800"/>
            <a:ext cx="2239560" cy="2010960"/>
          </a:xfrm>
          <a:prstGeom prst="roundRect">
            <a:avLst>
              <a:gd name="adj" fmla="val 16667"/>
            </a:avLst>
          </a:prstGeom>
          <a:solidFill>
            <a:srgbClr val="ecf4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32" name="Rectangle 9"/>
          <p:cNvSpPr/>
          <p:nvPr/>
        </p:nvSpPr>
        <p:spPr>
          <a:xfrm>
            <a:off x="3154680" y="1828800"/>
            <a:ext cx="54000" cy="201096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33" name="TextBox 10"/>
          <p:cNvSpPr/>
          <p:nvPr/>
        </p:nvSpPr>
        <p:spPr>
          <a:xfrm>
            <a:off x="3355920" y="1965960"/>
            <a:ext cx="1873800" cy="10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LangGraph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200" spc="-1" strike="noStrike">
                <a:solidFill>
                  <a:srgbClr val="2d3846"/>
                </a:solidFill>
                <a:latin typeface="Aptos"/>
              </a:rPr>
              <a:t>Orquestación con estado, ramas, ciclos, human-in-the-loop y agentes controlados.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Rounded Rectangle 11"/>
          <p:cNvSpPr/>
          <p:nvPr/>
        </p:nvSpPr>
        <p:spPr>
          <a:xfrm>
            <a:off x="5577840" y="1828800"/>
            <a:ext cx="2239560" cy="2010960"/>
          </a:xfrm>
          <a:prstGeom prst="roundRect">
            <a:avLst>
              <a:gd name="adj" fmla="val 16667"/>
            </a:avLst>
          </a:prstGeom>
          <a:solidFill>
            <a:srgbClr val="ecf4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35" name="Rectangle 12"/>
          <p:cNvSpPr/>
          <p:nvPr/>
        </p:nvSpPr>
        <p:spPr>
          <a:xfrm>
            <a:off x="5577840" y="1828800"/>
            <a:ext cx="54000" cy="201096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36" name="TextBox 13"/>
          <p:cNvSpPr/>
          <p:nvPr/>
        </p:nvSpPr>
        <p:spPr>
          <a:xfrm>
            <a:off x="5779080" y="1965960"/>
            <a:ext cx="1873800" cy="12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LangSmith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200" spc="-1" strike="noStrike">
                <a:solidFill>
                  <a:srgbClr val="2d3846"/>
                </a:solidFill>
                <a:latin typeface="Aptos"/>
              </a:rPr>
              <a:t>Observabilidad, evaluación, trazas, prompts, datasets, monitoreo y deployment.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Rounded Rectangle 14"/>
          <p:cNvSpPr/>
          <p:nvPr/>
        </p:nvSpPr>
        <p:spPr>
          <a:xfrm>
            <a:off x="8001000" y="1828800"/>
            <a:ext cx="2239560" cy="2010960"/>
          </a:xfrm>
          <a:prstGeom prst="roundRect">
            <a:avLst>
              <a:gd name="adj" fmla="val 16667"/>
            </a:avLst>
          </a:prstGeom>
          <a:solidFill>
            <a:srgbClr val="ecf4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38" name="Rectangle 15"/>
          <p:cNvSpPr/>
          <p:nvPr/>
        </p:nvSpPr>
        <p:spPr>
          <a:xfrm>
            <a:off x="8001000" y="1828800"/>
            <a:ext cx="54000" cy="201096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39" name="TextBox 16"/>
          <p:cNvSpPr/>
          <p:nvPr/>
        </p:nvSpPr>
        <p:spPr>
          <a:xfrm>
            <a:off x="8202240" y="1965960"/>
            <a:ext cx="1873800" cy="12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Fleet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200" spc="-1" strike="noStrike">
                <a:solidFill>
                  <a:srgbClr val="2d3846"/>
                </a:solidFill>
                <a:latin typeface="Aptos"/>
              </a:rPr>
              <a:t>Capa no-code/low-code para crear agentes desde lenguaje natural y conectarlos a herramientas.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Rounded Rectangle 17"/>
          <p:cNvSpPr/>
          <p:nvPr/>
        </p:nvSpPr>
        <p:spPr>
          <a:xfrm>
            <a:off x="1260000" y="4389120"/>
            <a:ext cx="9539640" cy="1010520"/>
          </a:xfrm>
          <a:prstGeom prst="roundRect">
            <a:avLst>
              <a:gd name="adj" fmla="val 16667"/>
            </a:avLst>
          </a:prstGeom>
          <a:solidFill>
            <a:srgbClr val="fafc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41" name="Rectangle 18"/>
          <p:cNvSpPr/>
          <p:nvPr/>
        </p:nvSpPr>
        <p:spPr>
          <a:xfrm>
            <a:off x="1188720" y="4389120"/>
            <a:ext cx="54000" cy="822240"/>
          </a:xfrm>
          <a:prstGeom prst="rect">
            <a:avLst/>
          </a:prstGeom>
          <a:solidFill>
            <a:srgbClr val="2f8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42" name="TextBox 19"/>
          <p:cNvSpPr/>
          <p:nvPr/>
        </p:nvSpPr>
        <p:spPr>
          <a:xfrm>
            <a:off x="1260000" y="4526280"/>
            <a:ext cx="9359640" cy="5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Documentación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400" spc="-1" strike="noStrike">
                <a:solidFill>
                  <a:srgbClr val="2d3846"/>
                </a:solidFill>
                <a:latin typeface="Aptos"/>
              </a:rPr>
              <a:t>La documentación se usa para identificar patrones: chain, RAG, tool, agent, memory, tracing y deployment.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Box 20"/>
          <p:cNvSpPr/>
          <p:nvPr/>
        </p:nvSpPr>
        <p:spPr>
          <a:xfrm>
            <a:off x="1769400" y="6446520"/>
            <a:ext cx="4178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800" spc="-1" strike="noStrike">
                <a:solidFill>
                  <a:srgbClr val="506070"/>
                </a:solidFill>
                <a:latin typeface="Aptos"/>
              </a:rPr>
              <a:t>Diplomado Ejecutivo en Confianza Digital, IA y Automatización Empresarial · Clase 3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Box 1"/>
          <p:cNvSpPr/>
          <p:nvPr/>
        </p:nvSpPr>
        <p:spPr>
          <a:xfrm>
            <a:off x="2969280" y="246960"/>
            <a:ext cx="5252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900" spc="-1" strike="noStrike">
                <a:solidFill>
                  <a:srgbClr val="506070"/>
                </a:solidFill>
                <a:latin typeface="Aptos"/>
              </a:rPr>
              <a:t>Diplomado Ejecutivo en Confianza Digital, IA y Automatización Empresarial · Módulo 1 · Clase 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Rectangle 2"/>
          <p:cNvSpPr/>
          <p:nvPr/>
        </p:nvSpPr>
        <p:spPr>
          <a:xfrm>
            <a:off x="658440" y="631080"/>
            <a:ext cx="10697760" cy="1008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46" name="TextBox 3"/>
          <p:cNvSpPr/>
          <p:nvPr/>
        </p:nvSpPr>
        <p:spPr>
          <a:xfrm>
            <a:off x="2586960" y="1051560"/>
            <a:ext cx="70783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800" spc="-1" strike="noStrike">
                <a:solidFill>
                  <a:srgbClr val="071d37"/>
                </a:solidFill>
                <a:latin typeface="Aptos Display"/>
              </a:rPr>
              <a:t>LangSmith: operar agentes con control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Box 4"/>
          <p:cNvSpPr/>
          <p:nvPr/>
        </p:nvSpPr>
        <p:spPr>
          <a:xfrm>
            <a:off x="2599560" y="1554480"/>
            <a:ext cx="67964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300" spc="-1" strike="noStrike">
                <a:solidFill>
                  <a:srgbClr val="506070"/>
                </a:solidFill>
                <a:latin typeface="Aptos"/>
              </a:rPr>
              <a:t>Construir una app LLM no termina en el código: hay que observar, evaluar y gobernar.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Rounded Rectangle 5"/>
          <p:cNvSpPr/>
          <p:nvPr/>
        </p:nvSpPr>
        <p:spPr>
          <a:xfrm>
            <a:off x="868680" y="1828800"/>
            <a:ext cx="3153960" cy="1188000"/>
          </a:xfrm>
          <a:prstGeom prst="roundRect">
            <a:avLst>
              <a:gd name="adj" fmla="val 16667"/>
            </a:avLst>
          </a:prstGeom>
          <a:solidFill>
            <a:srgbClr val="ecf4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49" name="Rectangle 6"/>
          <p:cNvSpPr/>
          <p:nvPr/>
        </p:nvSpPr>
        <p:spPr>
          <a:xfrm>
            <a:off x="868680" y="1828800"/>
            <a:ext cx="54000" cy="118800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50" name="TextBox 7"/>
          <p:cNvSpPr/>
          <p:nvPr/>
        </p:nvSpPr>
        <p:spPr>
          <a:xfrm>
            <a:off x="1069920" y="1965960"/>
            <a:ext cx="2788200" cy="54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Observability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200" spc="-1" strike="noStrike">
                <a:solidFill>
                  <a:srgbClr val="2d3846"/>
                </a:solidFill>
                <a:latin typeface="Aptos"/>
              </a:rPr>
              <a:t>ver qué pasó.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Rounded Rectangle 8"/>
          <p:cNvSpPr/>
          <p:nvPr/>
        </p:nvSpPr>
        <p:spPr>
          <a:xfrm>
            <a:off x="4389120" y="1828800"/>
            <a:ext cx="3153960" cy="1188000"/>
          </a:xfrm>
          <a:prstGeom prst="roundRect">
            <a:avLst>
              <a:gd name="adj" fmla="val 16667"/>
            </a:avLst>
          </a:prstGeom>
          <a:solidFill>
            <a:srgbClr val="ecf4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52" name="Rectangle 9"/>
          <p:cNvSpPr/>
          <p:nvPr/>
        </p:nvSpPr>
        <p:spPr>
          <a:xfrm>
            <a:off x="4389120" y="1828800"/>
            <a:ext cx="54000" cy="118800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53" name="TextBox 10"/>
          <p:cNvSpPr/>
          <p:nvPr/>
        </p:nvSpPr>
        <p:spPr>
          <a:xfrm>
            <a:off x="4590360" y="1965960"/>
            <a:ext cx="2788200" cy="73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Engine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200" spc="-1" strike="noStrike">
                <a:solidFill>
                  <a:srgbClr val="2d3846"/>
                </a:solidFill>
                <a:latin typeface="Aptos"/>
              </a:rPr>
              <a:t>detectar fallas repetidas y proponer mejoras.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Rounded Rectangle 11"/>
          <p:cNvSpPr/>
          <p:nvPr/>
        </p:nvSpPr>
        <p:spPr>
          <a:xfrm>
            <a:off x="7909560" y="1828800"/>
            <a:ext cx="3153960" cy="1188000"/>
          </a:xfrm>
          <a:prstGeom prst="roundRect">
            <a:avLst>
              <a:gd name="adj" fmla="val 16667"/>
            </a:avLst>
          </a:prstGeom>
          <a:solidFill>
            <a:srgbClr val="ecf4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55" name="Rectangle 12"/>
          <p:cNvSpPr/>
          <p:nvPr/>
        </p:nvSpPr>
        <p:spPr>
          <a:xfrm>
            <a:off x="7909560" y="1828800"/>
            <a:ext cx="54000" cy="118800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56" name="TextBox 13"/>
          <p:cNvSpPr/>
          <p:nvPr/>
        </p:nvSpPr>
        <p:spPr>
          <a:xfrm>
            <a:off x="8110800" y="1965960"/>
            <a:ext cx="2788200" cy="54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Evaluation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200" spc="-1" strike="noStrike">
                <a:solidFill>
                  <a:srgbClr val="2d3846"/>
                </a:solidFill>
                <a:latin typeface="Aptos"/>
              </a:rPr>
              <a:t>medir si responde bien.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Rounded Rectangle 14"/>
          <p:cNvSpPr/>
          <p:nvPr/>
        </p:nvSpPr>
        <p:spPr>
          <a:xfrm>
            <a:off x="868680" y="3429000"/>
            <a:ext cx="3153960" cy="1188000"/>
          </a:xfrm>
          <a:prstGeom prst="roundRect">
            <a:avLst>
              <a:gd name="adj" fmla="val 16667"/>
            </a:avLst>
          </a:prstGeom>
          <a:solidFill>
            <a:srgbClr val="ebf6f4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58" name="Rectangle 15"/>
          <p:cNvSpPr/>
          <p:nvPr/>
        </p:nvSpPr>
        <p:spPr>
          <a:xfrm>
            <a:off x="868680" y="3429000"/>
            <a:ext cx="54000" cy="1188000"/>
          </a:xfrm>
          <a:prstGeom prst="rect">
            <a:avLst/>
          </a:prstGeom>
          <a:solidFill>
            <a:srgbClr val="2f8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59" name="TextBox 16"/>
          <p:cNvSpPr/>
          <p:nvPr/>
        </p:nvSpPr>
        <p:spPr>
          <a:xfrm>
            <a:off x="1069920" y="3566160"/>
            <a:ext cx="2788200" cy="54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Prompt Engineering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200" spc="-1" strike="noStrike">
                <a:solidFill>
                  <a:srgbClr val="2d3846"/>
                </a:solidFill>
                <a:latin typeface="Aptos"/>
              </a:rPr>
              <a:t>mejorar/versionar instrucciones.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Rounded Rectangle 17"/>
          <p:cNvSpPr/>
          <p:nvPr/>
        </p:nvSpPr>
        <p:spPr>
          <a:xfrm>
            <a:off x="4389120" y="3429000"/>
            <a:ext cx="3153960" cy="1188000"/>
          </a:xfrm>
          <a:prstGeom prst="roundRect">
            <a:avLst>
              <a:gd name="adj" fmla="val 16667"/>
            </a:avLst>
          </a:prstGeom>
          <a:solidFill>
            <a:srgbClr val="ebf6f4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61" name="Rectangle 18"/>
          <p:cNvSpPr/>
          <p:nvPr/>
        </p:nvSpPr>
        <p:spPr>
          <a:xfrm>
            <a:off x="4389120" y="3429000"/>
            <a:ext cx="54000" cy="1188000"/>
          </a:xfrm>
          <a:prstGeom prst="rect">
            <a:avLst/>
          </a:prstGeom>
          <a:solidFill>
            <a:srgbClr val="2f8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62" name="TextBox 19"/>
          <p:cNvSpPr/>
          <p:nvPr/>
        </p:nvSpPr>
        <p:spPr>
          <a:xfrm>
            <a:off x="4590360" y="3566160"/>
            <a:ext cx="2788200" cy="54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Deployment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200" spc="-1" strike="noStrike">
                <a:solidFill>
                  <a:srgbClr val="2d3846"/>
                </a:solidFill>
                <a:latin typeface="Aptos"/>
              </a:rPr>
              <a:t>publicar agentes/apps.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Rounded Rectangle 20"/>
          <p:cNvSpPr/>
          <p:nvPr/>
        </p:nvSpPr>
        <p:spPr>
          <a:xfrm>
            <a:off x="7909560" y="3429000"/>
            <a:ext cx="3153960" cy="1188000"/>
          </a:xfrm>
          <a:prstGeom prst="roundRect">
            <a:avLst>
              <a:gd name="adj" fmla="val 16667"/>
            </a:avLst>
          </a:prstGeom>
          <a:solidFill>
            <a:srgbClr val="ebf6f4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64" name="Rectangle 21"/>
          <p:cNvSpPr/>
          <p:nvPr/>
        </p:nvSpPr>
        <p:spPr>
          <a:xfrm>
            <a:off x="7909560" y="3429000"/>
            <a:ext cx="54000" cy="1188000"/>
          </a:xfrm>
          <a:prstGeom prst="rect">
            <a:avLst/>
          </a:prstGeom>
          <a:solidFill>
            <a:srgbClr val="2f8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65" name="TextBox 22"/>
          <p:cNvSpPr/>
          <p:nvPr/>
        </p:nvSpPr>
        <p:spPr>
          <a:xfrm>
            <a:off x="8110800" y="3566160"/>
            <a:ext cx="2788200" cy="73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LLM Gateway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200" spc="-1" strike="noStrike">
                <a:solidFill>
                  <a:srgbClr val="2d3846"/>
                </a:solidFill>
                <a:latin typeface="Aptos"/>
              </a:rPr>
              <a:t>controlar gasto, datos sensibles y acceso a modelos.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Box 23"/>
          <p:cNvSpPr/>
          <p:nvPr/>
        </p:nvSpPr>
        <p:spPr>
          <a:xfrm>
            <a:off x="1769400" y="6446520"/>
            <a:ext cx="4178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800" spc="-1" strike="noStrike">
                <a:solidFill>
                  <a:srgbClr val="506070"/>
                </a:solidFill>
                <a:latin typeface="Aptos"/>
              </a:rPr>
              <a:t>Diplomado Ejecutivo en Confianza Digital, IA y Automatización Empresarial · Clase 3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Box 1"/>
          <p:cNvSpPr/>
          <p:nvPr/>
        </p:nvSpPr>
        <p:spPr>
          <a:xfrm>
            <a:off x="2969280" y="246960"/>
            <a:ext cx="5252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900" spc="-1" strike="noStrike">
                <a:solidFill>
                  <a:srgbClr val="506070"/>
                </a:solidFill>
                <a:latin typeface="Aptos"/>
              </a:rPr>
              <a:t>Diplomado Ejecutivo en Confianza Digital, IA y Automatización Empresarial · Módulo 1 · Clase 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Rectangle 2"/>
          <p:cNvSpPr/>
          <p:nvPr/>
        </p:nvSpPr>
        <p:spPr>
          <a:xfrm>
            <a:off x="658440" y="631080"/>
            <a:ext cx="10697760" cy="1008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69" name="TextBox 3"/>
          <p:cNvSpPr/>
          <p:nvPr/>
        </p:nvSpPr>
        <p:spPr>
          <a:xfrm>
            <a:off x="3801600" y="1051560"/>
            <a:ext cx="4649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800" spc="-1" strike="noStrike">
                <a:solidFill>
                  <a:srgbClr val="071d37"/>
                </a:solidFill>
                <a:latin typeface="Aptos Display"/>
              </a:rPr>
              <a:t>Alternativas a LangChain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Box 4"/>
          <p:cNvSpPr/>
          <p:nvPr/>
        </p:nvSpPr>
        <p:spPr>
          <a:xfrm>
            <a:off x="3166560" y="1554480"/>
            <a:ext cx="56624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500" spc="-1" strike="noStrike">
                <a:solidFill>
                  <a:srgbClr val="506070"/>
                </a:solidFill>
                <a:latin typeface="Aptos"/>
              </a:rPr>
              <a:t>La herramienta se elige por ajuste al problema, no por moda.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71" name="Table 5"/>
          <p:cNvGraphicFramePr/>
          <p:nvPr/>
        </p:nvGraphicFramePr>
        <p:xfrm>
          <a:off x="777240" y="1828800"/>
          <a:ext cx="10881000" cy="3518640"/>
        </p:xfrm>
        <a:graphic>
          <a:graphicData uri="http://schemas.openxmlformats.org/drawingml/2006/table">
            <a:tbl>
              <a:tblPr/>
              <a:tblGrid>
                <a:gridCol w="2377440"/>
                <a:gridCol w="2834640"/>
                <a:gridCol w="5669280"/>
              </a:tblGrid>
              <a:tr h="586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Herramienta</a:t>
                      </a:r>
                      <a:endParaRPr b="0" lang="es-E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71d3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Foco típico</a:t>
                      </a:r>
                      <a:endParaRPr b="0" lang="es-E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71d3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Cuándo mirarla</a:t>
                      </a:r>
                      <a:endParaRPr b="0" lang="es-E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71d37"/>
                    </a:solidFill>
                  </a:tcPr>
                </a:tc>
              </a:tr>
              <a:tr h="586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LangChain</a:t>
                      </a:r>
                      <a:endParaRPr b="0" lang="es-E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Componentes LLM generales</a:t>
                      </a:r>
                      <a:endParaRPr b="0" lang="es-E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Chains, prompts, tools, RAG y prototipos modulares</a:t>
                      </a:r>
                      <a:endParaRPr b="0" lang="es-E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6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LlamaIndex</a:t>
                      </a:r>
                      <a:endParaRPr b="0" lang="es-E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Datos y RAG</a:t>
                      </a:r>
                      <a:endParaRPr b="0" lang="es-E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Documentos, índices, retrievers y contexto externo</a:t>
                      </a:r>
                      <a:endParaRPr b="0" lang="es-E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</a:tr>
              <a:tr h="586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Semantic Kernel</a:t>
                      </a:r>
                      <a:endParaRPr b="0" lang="es-E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Ecosistema Microsoft / enterprise</a:t>
                      </a:r>
                      <a:endParaRPr b="0" lang="es-E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Apps .NET/Python/Java con plugins y agentes</a:t>
                      </a:r>
                      <a:endParaRPr b="0" lang="es-E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6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Haystack</a:t>
                      </a:r>
                      <a:endParaRPr b="0" lang="es-E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Pipelines de búsqueda y RAG</a:t>
                      </a:r>
                      <a:endParaRPr b="0" lang="es-E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QA documental, búsqueda semántica y producción</a:t>
                      </a:r>
                      <a:endParaRPr b="0" lang="es-E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</a:tr>
              <a:tr h="586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Código propio</a:t>
                      </a:r>
                      <a:endParaRPr b="0" lang="es-E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Control total</a:t>
                      </a:r>
                      <a:endParaRPr b="0" lang="es-E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Flujos pequeños, simples y específicos</a:t>
                      </a:r>
                      <a:endParaRPr b="0" lang="es-E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2" name="Rounded Rectangle 6"/>
          <p:cNvSpPr/>
          <p:nvPr/>
        </p:nvSpPr>
        <p:spPr>
          <a:xfrm>
            <a:off x="1280160" y="5715000"/>
            <a:ext cx="9600480" cy="50220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73" name="Rectangle 7"/>
          <p:cNvSpPr/>
          <p:nvPr/>
        </p:nvSpPr>
        <p:spPr>
          <a:xfrm>
            <a:off x="1280160" y="5715000"/>
            <a:ext cx="54000" cy="502200"/>
          </a:xfrm>
          <a:prstGeom prst="rect">
            <a:avLst/>
          </a:prstGeom>
          <a:solidFill>
            <a:srgbClr val="f59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274" name="TextBox 8"/>
          <p:cNvSpPr/>
          <p:nvPr/>
        </p:nvSpPr>
        <p:spPr>
          <a:xfrm>
            <a:off x="1481400" y="5852160"/>
            <a:ext cx="9858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Criterio </a:t>
            </a:r>
            <a:r>
              <a:rPr b="0" lang="es-ES" sz="1300" spc="-1" strike="noStrike">
                <a:solidFill>
                  <a:srgbClr val="2d3846"/>
                </a:solidFill>
                <a:latin typeface="Aptos"/>
              </a:rPr>
              <a:t>Si el flujo es simple, una API directa o código propio puede ser mejor que agregar una abstracción.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Box 9"/>
          <p:cNvSpPr/>
          <p:nvPr/>
        </p:nvSpPr>
        <p:spPr>
          <a:xfrm>
            <a:off x="1769400" y="6446520"/>
            <a:ext cx="4178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800" spc="-1" strike="noStrike">
                <a:solidFill>
                  <a:srgbClr val="506070"/>
                </a:solidFill>
                <a:latin typeface="Aptos"/>
              </a:rPr>
              <a:t>Diplomado Ejecutivo en Confianza Digital, IA y Automatización Empresarial · Clase 3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2d8a55"/>
          </a:solidFill>
          <a:ln w="1270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2"/>
          <p:cNvSpPr/>
          <p:nvPr/>
        </p:nvSpPr>
        <p:spPr>
          <a:xfrm>
            <a:off x="685800" y="91440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d8a55"/>
                </a:solidFill>
                <a:latin typeface="Aptos"/>
              </a:rPr>
              <a:t>PRÁCTICA BASE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3"/>
          <p:cNvSpPr/>
          <p:nvPr/>
        </p:nvSpPr>
        <p:spPr>
          <a:xfrm>
            <a:off x="685800" y="1920240"/>
            <a:ext cx="10697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03 · Instalación y primer proyecto</a:t>
            </a:r>
            <a:endParaRPr b="0" lang="es-E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4"/>
          <p:cNvSpPr/>
          <p:nvPr/>
        </p:nvSpPr>
        <p:spPr>
          <a:xfrm>
            <a:off x="704160" y="2788920"/>
            <a:ext cx="9966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4155"/>
                </a:solidFill>
                <a:latin typeface="Aptos"/>
              </a:rPr>
              <a:t>LangChain se usa desde código: entorno, paquetes, variables y estructura mínima.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1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378440" y="6080760"/>
            <a:ext cx="959400" cy="438120"/>
          </a:xfrm>
          <a:prstGeom prst="rect">
            <a:avLst/>
          </a:prstGeom>
          <a:ln w="0">
            <a:noFill/>
          </a:ln>
        </p:spPr>
      </p:pic>
      <p:sp>
        <p:nvSpPr>
          <p:cNvPr id="282" name="Text 5"/>
          <p:cNvSpPr/>
          <p:nvPr/>
        </p:nvSpPr>
        <p:spPr>
          <a:xfrm>
            <a:off x="1170432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12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Instalación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6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287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13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Instalación desde terminal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Una base local simple permite probar chains antes de pensar en despliegue.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6"/>
          <p:cNvSpPr/>
          <p:nvPr/>
        </p:nvSpPr>
        <p:spPr>
          <a:xfrm>
            <a:off x="777240" y="1645920"/>
            <a:ext cx="5119920" cy="329112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0160">
            <a:solidFill>
              <a:srgbClr val="18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7"/>
          <p:cNvSpPr/>
          <p:nvPr/>
        </p:nvSpPr>
        <p:spPr>
          <a:xfrm>
            <a:off x="941760" y="1783080"/>
            <a:ext cx="4790880" cy="30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5e7eb"/>
                </a:solidFill>
                <a:latin typeface="Aptos Mono"/>
                <a:ea typeface="Aptos Mono"/>
              </a:rPr>
              <a:t># Crear entorno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5e7eb"/>
                </a:solidFill>
                <a:latin typeface="Aptos Mono"/>
                <a:ea typeface="Aptos Mono"/>
              </a:rPr>
              <a:t>python -m venv .venv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5e7eb"/>
                </a:solidFill>
                <a:latin typeface="Aptos Mono"/>
                <a:ea typeface="Aptos Mono"/>
              </a:rPr>
              <a:t>source .venv/bin/activate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5e7eb"/>
                </a:solidFill>
                <a:latin typeface="Aptos Mono"/>
                <a:ea typeface="Aptos Mono"/>
              </a:rPr>
              <a:t># Instalar base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5e7eb"/>
                </a:solidFill>
                <a:latin typeface="Aptos Mono"/>
                <a:ea typeface="Aptos Mono"/>
              </a:rPr>
              <a:t>pip install langchain langchain-openai python-dotenv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5e7eb"/>
                </a:solidFill>
                <a:latin typeface="Aptos Mono"/>
                <a:ea typeface="Aptos Mono"/>
              </a:rPr>
              <a:t># Opcional según caso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5e7eb"/>
                </a:solidFill>
                <a:latin typeface="Aptos Mono"/>
                <a:ea typeface="Aptos Mono"/>
              </a:rPr>
              <a:t>pip install langchain-chroma pydantic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8"/>
          <p:cNvSpPr/>
          <p:nvPr/>
        </p:nvSpPr>
        <p:spPr>
          <a:xfrm>
            <a:off x="6400800" y="1645920"/>
            <a:ext cx="4937040" cy="10051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9"/>
          <p:cNvSpPr/>
          <p:nvPr/>
        </p:nvSpPr>
        <p:spPr>
          <a:xfrm>
            <a:off x="6400800" y="1645920"/>
            <a:ext cx="72360" cy="1005120"/>
          </a:xfrm>
          <a:prstGeom prst="rect">
            <a:avLst/>
          </a:prstGeom>
          <a:solidFill>
            <a:srgbClr val="b6202a"/>
          </a:solidFill>
          <a:ln w="12700">
            <a:solidFill>
              <a:srgbClr val="b620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10"/>
          <p:cNvSpPr/>
          <p:nvPr/>
        </p:nvSpPr>
        <p:spPr>
          <a:xfrm>
            <a:off x="6565320" y="1764720"/>
            <a:ext cx="46627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32238"/>
                </a:solidFill>
                <a:latin typeface="Aptos"/>
              </a:rPr>
              <a:t>Variables de entorno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11"/>
          <p:cNvSpPr/>
          <p:nvPr/>
        </p:nvSpPr>
        <p:spPr>
          <a:xfrm>
            <a:off x="6565320" y="2121480"/>
            <a:ext cx="46353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Aptos"/>
              </a:rPr>
              <a:t>.env guarda claves y configuración local. Nunca se pegan API keys en el frontend ni en slides.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12"/>
          <p:cNvSpPr/>
          <p:nvPr/>
        </p:nvSpPr>
        <p:spPr>
          <a:xfrm>
            <a:off x="6400800" y="2971800"/>
            <a:ext cx="4937040" cy="1233720"/>
          </a:xfrm>
          <a:prstGeom prst="roundRect">
            <a:avLst>
              <a:gd name="adj" fmla="val 5926"/>
            </a:avLst>
          </a:prstGeom>
          <a:solidFill>
            <a:srgbClr val="0b1220"/>
          </a:solidFill>
          <a:ln w="10160">
            <a:solidFill>
              <a:srgbClr val="18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 13"/>
          <p:cNvSpPr/>
          <p:nvPr/>
        </p:nvSpPr>
        <p:spPr>
          <a:xfrm>
            <a:off x="6565320" y="3108960"/>
            <a:ext cx="46080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5e7eb"/>
                </a:solidFill>
                <a:latin typeface="Aptos Mono"/>
                <a:ea typeface="Aptos Mono"/>
              </a:rPr>
              <a:t>OPENAI_API_KEY=...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5e7eb"/>
                </a:solidFill>
                <a:latin typeface="Aptos Mono"/>
                <a:ea typeface="Aptos Mono"/>
              </a:rPr>
              <a:t>OPENAI_MODEL=gpt-4.1-mini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5e7eb"/>
                </a:solidFill>
                <a:latin typeface="Aptos Mono"/>
                <a:ea typeface="Aptos Mono"/>
              </a:rPr>
              <a:t>LANGSMITH_TRACING=true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5e7eb"/>
                </a:solidFill>
                <a:latin typeface="Aptos Mono"/>
                <a:ea typeface="Aptos Mono"/>
              </a:rPr>
              <a:t>LANGSMITH_API_KEY=...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5e7eb"/>
                </a:solidFill>
                <a:latin typeface="Aptos Mono"/>
                <a:ea typeface="Aptos Mono"/>
              </a:rPr>
              <a:t>LANGSMITH_PROJECT=diplomado-modulo-1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14"/>
          <p:cNvSpPr/>
          <p:nvPr/>
        </p:nvSpPr>
        <p:spPr>
          <a:xfrm>
            <a:off x="777240" y="5715000"/>
            <a:ext cx="10560600" cy="50220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016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15"/>
          <p:cNvSpPr/>
          <p:nvPr/>
        </p:nvSpPr>
        <p:spPr>
          <a:xfrm>
            <a:off x="941760" y="5843160"/>
            <a:ext cx="10231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d8a55"/>
                </a:solidFill>
                <a:latin typeface="Aptos"/>
              </a:rPr>
              <a:t>El entorno local es para aprender el patrón; producción exige secretos, permisos y trazabilidad.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Instalación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3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304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14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Paquetes principales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No se memorizan paquetes: se entiende qué responsabilidad cubre cada uno.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6"/>
          <p:cNvSpPr/>
          <p:nvPr/>
        </p:nvSpPr>
        <p:spPr>
          <a:xfrm>
            <a:off x="822960" y="1600200"/>
            <a:ext cx="2925360" cy="559440"/>
          </a:xfrm>
          <a:prstGeom prst="rect">
            <a:avLst/>
          </a:prstGeom>
          <a:solidFill>
            <a:srgbClr val="132238"/>
          </a:solidFill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Text 7"/>
          <p:cNvSpPr/>
          <p:nvPr/>
        </p:nvSpPr>
        <p:spPr>
          <a:xfrm>
            <a:off x="868680" y="1673280"/>
            <a:ext cx="2833920" cy="4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Aptos"/>
              </a:rPr>
              <a:t>Paquete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8"/>
          <p:cNvSpPr/>
          <p:nvPr/>
        </p:nvSpPr>
        <p:spPr>
          <a:xfrm>
            <a:off x="3749040" y="1600200"/>
            <a:ext cx="7634520" cy="559440"/>
          </a:xfrm>
          <a:prstGeom prst="rect">
            <a:avLst/>
          </a:prstGeom>
          <a:solidFill>
            <a:srgbClr val="132238"/>
          </a:solidFill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Text 9"/>
          <p:cNvSpPr/>
          <p:nvPr/>
        </p:nvSpPr>
        <p:spPr>
          <a:xfrm>
            <a:off x="3794760" y="1673280"/>
            <a:ext cx="7543080" cy="4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Aptos"/>
              </a:rPr>
              <a:t>Uso típico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10"/>
          <p:cNvSpPr/>
          <p:nvPr/>
        </p:nvSpPr>
        <p:spPr>
          <a:xfrm>
            <a:off x="822960" y="2160360"/>
            <a:ext cx="2925360" cy="55944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11"/>
          <p:cNvSpPr/>
          <p:nvPr/>
        </p:nvSpPr>
        <p:spPr>
          <a:xfrm>
            <a:off x="868680" y="2206080"/>
            <a:ext cx="2833920" cy="46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20" spc="-1" strike="noStrike">
                <a:solidFill>
                  <a:srgbClr val="334155"/>
                </a:solidFill>
                <a:latin typeface="Aptos"/>
              </a:rPr>
              <a:t>langchain</a:t>
            </a:r>
            <a:endParaRPr b="0" lang="es-E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12"/>
          <p:cNvSpPr/>
          <p:nvPr/>
        </p:nvSpPr>
        <p:spPr>
          <a:xfrm>
            <a:off x="3749040" y="2160360"/>
            <a:ext cx="7634520" cy="55944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13"/>
          <p:cNvSpPr/>
          <p:nvPr/>
        </p:nvSpPr>
        <p:spPr>
          <a:xfrm>
            <a:off x="3794760" y="2206080"/>
            <a:ext cx="7543080" cy="46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20" spc="-1" strike="noStrike">
                <a:solidFill>
                  <a:srgbClr val="334155"/>
                </a:solidFill>
                <a:latin typeface="Aptos"/>
              </a:rPr>
              <a:t>Abstracciones, agentes y composición general.</a:t>
            </a:r>
            <a:endParaRPr b="0" lang="es-E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14"/>
          <p:cNvSpPr/>
          <p:nvPr/>
        </p:nvSpPr>
        <p:spPr>
          <a:xfrm>
            <a:off x="822960" y="2720520"/>
            <a:ext cx="2925360" cy="55944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 15"/>
          <p:cNvSpPr/>
          <p:nvPr/>
        </p:nvSpPr>
        <p:spPr>
          <a:xfrm>
            <a:off x="868680" y="2766240"/>
            <a:ext cx="2833920" cy="46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20" spc="-1" strike="noStrike">
                <a:solidFill>
                  <a:srgbClr val="334155"/>
                </a:solidFill>
                <a:latin typeface="Aptos"/>
              </a:rPr>
              <a:t>langchain-core</a:t>
            </a:r>
            <a:endParaRPr b="0" lang="es-E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16"/>
          <p:cNvSpPr/>
          <p:nvPr/>
        </p:nvSpPr>
        <p:spPr>
          <a:xfrm>
            <a:off x="3749040" y="2720520"/>
            <a:ext cx="7634520" cy="55944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17"/>
          <p:cNvSpPr/>
          <p:nvPr/>
        </p:nvSpPr>
        <p:spPr>
          <a:xfrm>
            <a:off x="3794760" y="2766240"/>
            <a:ext cx="7543080" cy="46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20" spc="-1" strike="noStrike">
                <a:solidFill>
                  <a:srgbClr val="334155"/>
                </a:solidFill>
                <a:latin typeface="Aptos"/>
              </a:rPr>
              <a:t>Prompts, messages, runnables, parsers y contratos base.</a:t>
            </a:r>
            <a:endParaRPr b="0" lang="es-E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18"/>
          <p:cNvSpPr/>
          <p:nvPr/>
        </p:nvSpPr>
        <p:spPr>
          <a:xfrm>
            <a:off x="822960" y="3280320"/>
            <a:ext cx="2925360" cy="55944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 19"/>
          <p:cNvSpPr/>
          <p:nvPr/>
        </p:nvSpPr>
        <p:spPr>
          <a:xfrm>
            <a:off x="868680" y="3326040"/>
            <a:ext cx="2833920" cy="46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20" spc="-1" strike="noStrike">
                <a:solidFill>
                  <a:srgbClr val="334155"/>
                </a:solidFill>
                <a:latin typeface="Aptos"/>
              </a:rPr>
              <a:t>langchain-openai / anthropic</a:t>
            </a:r>
            <a:endParaRPr b="0" lang="es-E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20"/>
          <p:cNvSpPr/>
          <p:nvPr/>
        </p:nvSpPr>
        <p:spPr>
          <a:xfrm>
            <a:off x="3749040" y="3280320"/>
            <a:ext cx="7634520" cy="55944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21"/>
          <p:cNvSpPr/>
          <p:nvPr/>
        </p:nvSpPr>
        <p:spPr>
          <a:xfrm>
            <a:off x="3794760" y="3326040"/>
            <a:ext cx="7543080" cy="46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20" spc="-1" strike="noStrike">
                <a:solidFill>
                  <a:srgbClr val="334155"/>
                </a:solidFill>
                <a:latin typeface="Aptos"/>
              </a:rPr>
              <a:t>Conectores oficiales a proveedores.</a:t>
            </a:r>
            <a:endParaRPr b="0" lang="es-E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22"/>
          <p:cNvSpPr/>
          <p:nvPr/>
        </p:nvSpPr>
        <p:spPr>
          <a:xfrm>
            <a:off x="822960" y="3840480"/>
            <a:ext cx="2925360" cy="55944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23"/>
          <p:cNvSpPr/>
          <p:nvPr/>
        </p:nvSpPr>
        <p:spPr>
          <a:xfrm>
            <a:off x="868680" y="3886200"/>
            <a:ext cx="2833920" cy="46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20" spc="-1" strike="noStrike">
                <a:solidFill>
                  <a:srgbClr val="334155"/>
                </a:solidFill>
                <a:latin typeface="Aptos"/>
              </a:rPr>
              <a:t>langchain-community</a:t>
            </a:r>
            <a:endParaRPr b="0" lang="es-E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24"/>
          <p:cNvSpPr/>
          <p:nvPr/>
        </p:nvSpPr>
        <p:spPr>
          <a:xfrm>
            <a:off x="3749040" y="3840480"/>
            <a:ext cx="7634520" cy="55944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 25"/>
          <p:cNvSpPr/>
          <p:nvPr/>
        </p:nvSpPr>
        <p:spPr>
          <a:xfrm>
            <a:off x="3794760" y="3886200"/>
            <a:ext cx="7543080" cy="46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20" spc="-1" strike="noStrike">
                <a:solidFill>
                  <a:srgbClr val="334155"/>
                </a:solidFill>
                <a:latin typeface="Aptos"/>
              </a:rPr>
              <a:t>Integraciones mantenidas por comunidad.</a:t>
            </a:r>
            <a:endParaRPr b="0" lang="es-E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26"/>
          <p:cNvSpPr/>
          <p:nvPr/>
        </p:nvSpPr>
        <p:spPr>
          <a:xfrm>
            <a:off x="822960" y="4400640"/>
            <a:ext cx="2925360" cy="55944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27"/>
          <p:cNvSpPr/>
          <p:nvPr/>
        </p:nvSpPr>
        <p:spPr>
          <a:xfrm>
            <a:off x="868680" y="4446360"/>
            <a:ext cx="2833920" cy="46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20" spc="-1" strike="noStrike">
                <a:solidFill>
                  <a:srgbClr val="334155"/>
                </a:solidFill>
                <a:latin typeface="Aptos"/>
              </a:rPr>
              <a:t>langchain-chroma / pgvector</a:t>
            </a:r>
            <a:endParaRPr b="0" lang="es-E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28"/>
          <p:cNvSpPr/>
          <p:nvPr/>
        </p:nvSpPr>
        <p:spPr>
          <a:xfrm>
            <a:off x="3749040" y="4400640"/>
            <a:ext cx="7634520" cy="55944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 29"/>
          <p:cNvSpPr/>
          <p:nvPr/>
        </p:nvSpPr>
        <p:spPr>
          <a:xfrm>
            <a:off x="3794760" y="4446360"/>
            <a:ext cx="7543080" cy="46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20" spc="-1" strike="noStrike">
                <a:solidFill>
                  <a:srgbClr val="334155"/>
                </a:solidFill>
                <a:latin typeface="Aptos"/>
              </a:rPr>
              <a:t>Vector stores para recuperación.</a:t>
            </a:r>
            <a:endParaRPr b="0" lang="es-E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30"/>
          <p:cNvSpPr/>
          <p:nvPr/>
        </p:nvSpPr>
        <p:spPr>
          <a:xfrm>
            <a:off x="822960" y="4960800"/>
            <a:ext cx="2925360" cy="55944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 31"/>
          <p:cNvSpPr/>
          <p:nvPr/>
        </p:nvSpPr>
        <p:spPr>
          <a:xfrm>
            <a:off x="868680" y="5006520"/>
            <a:ext cx="2833920" cy="46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20" spc="-1" strike="noStrike">
                <a:solidFill>
                  <a:srgbClr val="334155"/>
                </a:solidFill>
                <a:latin typeface="Aptos"/>
              </a:rPr>
              <a:t>python-dotenv</a:t>
            </a:r>
            <a:endParaRPr b="0" lang="es-E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32"/>
          <p:cNvSpPr/>
          <p:nvPr/>
        </p:nvSpPr>
        <p:spPr>
          <a:xfrm>
            <a:off x="3749040" y="4960800"/>
            <a:ext cx="7634520" cy="55944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 33"/>
          <p:cNvSpPr/>
          <p:nvPr/>
        </p:nvSpPr>
        <p:spPr>
          <a:xfrm>
            <a:off x="3794760" y="5006520"/>
            <a:ext cx="7543080" cy="46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20" spc="-1" strike="noStrike">
                <a:solidFill>
                  <a:srgbClr val="334155"/>
                </a:solidFill>
                <a:latin typeface="Aptos"/>
              </a:rPr>
              <a:t>Cargar configuración local desde .env.</a:t>
            </a:r>
            <a:endParaRPr b="0" lang="es-E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34"/>
          <p:cNvSpPr/>
          <p:nvPr/>
        </p:nvSpPr>
        <p:spPr>
          <a:xfrm>
            <a:off x="822960" y="5520600"/>
            <a:ext cx="2925360" cy="55944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35"/>
          <p:cNvSpPr/>
          <p:nvPr/>
        </p:nvSpPr>
        <p:spPr>
          <a:xfrm>
            <a:off x="868680" y="5566320"/>
            <a:ext cx="2833920" cy="46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20" spc="-1" strike="noStrike">
                <a:solidFill>
                  <a:srgbClr val="334155"/>
                </a:solidFill>
                <a:latin typeface="Aptos"/>
              </a:rPr>
              <a:t>pydantic</a:t>
            </a:r>
            <a:endParaRPr b="0" lang="es-E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36"/>
          <p:cNvSpPr/>
          <p:nvPr/>
        </p:nvSpPr>
        <p:spPr>
          <a:xfrm>
            <a:off x="3749040" y="5520600"/>
            <a:ext cx="7634520" cy="55944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37"/>
          <p:cNvSpPr/>
          <p:nvPr/>
        </p:nvSpPr>
        <p:spPr>
          <a:xfrm>
            <a:off x="3794760" y="5566320"/>
            <a:ext cx="7543080" cy="46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20" spc="-1" strike="noStrike">
                <a:solidFill>
                  <a:srgbClr val="334155"/>
                </a:solidFill>
                <a:latin typeface="Aptos"/>
              </a:rPr>
              <a:t>Schemas y validación de salida estructurada.</a:t>
            </a:r>
            <a:endParaRPr b="0" lang="es-ES" sz="11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Instalación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2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343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15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Estructura mínima de proyecto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Separar prompts, chains, datos y pruebas evita que el prototipo se vuelva inmantenible.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6"/>
          <p:cNvSpPr/>
          <p:nvPr/>
        </p:nvSpPr>
        <p:spPr>
          <a:xfrm>
            <a:off x="777240" y="1554480"/>
            <a:ext cx="5028480" cy="4114080"/>
          </a:xfrm>
          <a:prstGeom prst="roundRect">
            <a:avLst>
              <a:gd name="adj" fmla="val 1778"/>
            </a:avLst>
          </a:prstGeom>
          <a:solidFill>
            <a:srgbClr val="0b1220"/>
          </a:solidFill>
          <a:ln w="10160">
            <a:solidFill>
              <a:srgbClr val="18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 7"/>
          <p:cNvSpPr/>
          <p:nvPr/>
        </p:nvSpPr>
        <p:spPr>
          <a:xfrm>
            <a:off x="941760" y="1691640"/>
            <a:ext cx="4699440" cy="38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proyecto-langchain/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  </a:t>
            </a: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.env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  </a:t>
            </a: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requirements.txt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  </a:t>
            </a: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app.py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  </a:t>
            </a: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chains/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    </a:t>
            </a: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classify_chain.py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    </a:t>
            </a: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extraction_chain.py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  </a:t>
            </a: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prompts/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    </a:t>
            </a: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system_prompt.txt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  </a:t>
            </a: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data/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    </a:t>
            </a: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documentos/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  </a:t>
            </a: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tests/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    </a:t>
            </a:r>
            <a:r>
              <a:rPr b="0" lang="en-US" sz="1300" spc="-1" strike="noStrike">
                <a:solidFill>
                  <a:srgbClr val="e5e7eb"/>
                </a:solidFill>
                <a:latin typeface="Aptos Mono"/>
                <a:ea typeface="Aptos Mono"/>
              </a:rPr>
              <a:t>test_cases.json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8"/>
          <p:cNvSpPr/>
          <p:nvPr/>
        </p:nvSpPr>
        <p:spPr>
          <a:xfrm>
            <a:off x="6355080" y="1737360"/>
            <a:ext cx="4845600" cy="913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9"/>
          <p:cNvSpPr/>
          <p:nvPr/>
        </p:nvSpPr>
        <p:spPr>
          <a:xfrm>
            <a:off x="6355080" y="1737360"/>
            <a:ext cx="72360" cy="913680"/>
          </a:xfrm>
          <a:prstGeom prst="rect">
            <a:avLst/>
          </a:prstGeom>
          <a:solidFill>
            <a:srgbClr val="b6202a"/>
          </a:solidFill>
          <a:ln w="12700">
            <a:solidFill>
              <a:srgbClr val="b620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Text 10"/>
          <p:cNvSpPr/>
          <p:nvPr/>
        </p:nvSpPr>
        <p:spPr>
          <a:xfrm>
            <a:off x="6519600" y="1856160"/>
            <a:ext cx="4571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32238"/>
                </a:solidFill>
                <a:latin typeface="Aptos"/>
              </a:rPr>
              <a:t>Regla 1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11"/>
          <p:cNvSpPr/>
          <p:nvPr/>
        </p:nvSpPr>
        <p:spPr>
          <a:xfrm>
            <a:off x="6519600" y="2212920"/>
            <a:ext cx="45439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 fontScale="96666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Aptos"/>
              </a:rPr>
              <a:t>No mezclar API keys, prompts, datos y lógica en un solo archivo.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12"/>
          <p:cNvSpPr/>
          <p:nvPr/>
        </p:nvSpPr>
        <p:spPr>
          <a:xfrm>
            <a:off x="6355080" y="2880360"/>
            <a:ext cx="4845600" cy="913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13"/>
          <p:cNvSpPr/>
          <p:nvPr/>
        </p:nvSpPr>
        <p:spPr>
          <a:xfrm>
            <a:off x="6355080" y="2880360"/>
            <a:ext cx="72360" cy="913680"/>
          </a:xfrm>
          <a:prstGeom prst="rect">
            <a:avLst/>
          </a:prstGeom>
          <a:solidFill>
            <a:srgbClr val="245c94"/>
          </a:solidFill>
          <a:ln w="1270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14"/>
          <p:cNvSpPr/>
          <p:nvPr/>
        </p:nvSpPr>
        <p:spPr>
          <a:xfrm>
            <a:off x="6519600" y="2999160"/>
            <a:ext cx="4571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32238"/>
                </a:solidFill>
                <a:latin typeface="Aptos"/>
              </a:rPr>
              <a:t>Regla 2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 15"/>
          <p:cNvSpPr/>
          <p:nvPr/>
        </p:nvSpPr>
        <p:spPr>
          <a:xfrm>
            <a:off x="6519600" y="3355920"/>
            <a:ext cx="45439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 fontScale="93333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Aptos"/>
              </a:rPr>
              <a:t>Cada chain debería poder probarse con casos pequeños antes de integrarse a UI o backend.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16"/>
          <p:cNvSpPr/>
          <p:nvPr/>
        </p:nvSpPr>
        <p:spPr>
          <a:xfrm>
            <a:off x="6355080" y="4023360"/>
            <a:ext cx="4845600" cy="913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17"/>
          <p:cNvSpPr/>
          <p:nvPr/>
        </p:nvSpPr>
        <p:spPr>
          <a:xfrm>
            <a:off x="6355080" y="4023360"/>
            <a:ext cx="72360" cy="913680"/>
          </a:xfrm>
          <a:prstGeom prst="rect">
            <a:avLst/>
          </a:prstGeom>
          <a:solidFill>
            <a:srgbClr val="2d8a55"/>
          </a:solidFill>
          <a:ln w="1270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 18"/>
          <p:cNvSpPr/>
          <p:nvPr/>
        </p:nvSpPr>
        <p:spPr>
          <a:xfrm>
            <a:off x="6519600" y="4142160"/>
            <a:ext cx="4571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32238"/>
                </a:solidFill>
                <a:latin typeface="Aptos"/>
              </a:rPr>
              <a:t>Regla 3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 19"/>
          <p:cNvSpPr/>
          <p:nvPr/>
        </p:nvSpPr>
        <p:spPr>
          <a:xfrm>
            <a:off x="6519600" y="4498920"/>
            <a:ext cx="45439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 fontScale="93333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Aptos"/>
              </a:rPr>
              <a:t>La estructura del proyecto debe reflejar el flujo de negocio que se está automatizando.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Instalación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3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364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16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Dónde vive LangChain en una arquitectura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Normalmente se ejecuta en backend o servicios internos, no en el navegador.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6"/>
          <p:cNvSpPr/>
          <p:nvPr/>
        </p:nvSpPr>
        <p:spPr>
          <a:xfrm>
            <a:off x="2392560" y="230868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7"/>
          <p:cNvSpPr/>
          <p:nvPr/>
        </p:nvSpPr>
        <p:spPr>
          <a:xfrm>
            <a:off x="4218120" y="230868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8"/>
          <p:cNvSpPr/>
          <p:nvPr/>
        </p:nvSpPr>
        <p:spPr>
          <a:xfrm>
            <a:off x="6044040" y="230868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9"/>
          <p:cNvSpPr/>
          <p:nvPr/>
        </p:nvSpPr>
        <p:spPr>
          <a:xfrm>
            <a:off x="7869600" y="230868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hape 10"/>
          <p:cNvSpPr/>
          <p:nvPr/>
        </p:nvSpPr>
        <p:spPr>
          <a:xfrm>
            <a:off x="9695520" y="230868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11"/>
          <p:cNvSpPr/>
          <p:nvPr/>
        </p:nvSpPr>
        <p:spPr>
          <a:xfrm>
            <a:off x="685800" y="1965960"/>
            <a:ext cx="1660320" cy="6850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143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 12"/>
          <p:cNvSpPr/>
          <p:nvPr/>
        </p:nvSpPr>
        <p:spPr>
          <a:xfrm>
            <a:off x="749880" y="2057400"/>
            <a:ext cx="153252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32238"/>
                </a:solidFill>
                <a:latin typeface="Aptos"/>
              </a:rPr>
              <a:t>Frontend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13"/>
          <p:cNvSpPr/>
          <p:nvPr/>
        </p:nvSpPr>
        <p:spPr>
          <a:xfrm>
            <a:off x="2511720" y="1965960"/>
            <a:ext cx="1660320" cy="685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14"/>
          <p:cNvSpPr/>
          <p:nvPr/>
        </p:nvSpPr>
        <p:spPr>
          <a:xfrm>
            <a:off x="2575440" y="2057400"/>
            <a:ext cx="153252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32238"/>
                </a:solidFill>
                <a:latin typeface="Aptos"/>
              </a:rPr>
              <a:t>Backend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15"/>
          <p:cNvSpPr/>
          <p:nvPr/>
        </p:nvSpPr>
        <p:spPr>
          <a:xfrm>
            <a:off x="4337280" y="1965960"/>
            <a:ext cx="1660320" cy="685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 16"/>
          <p:cNvSpPr/>
          <p:nvPr/>
        </p:nvSpPr>
        <p:spPr>
          <a:xfrm>
            <a:off x="4401360" y="2057400"/>
            <a:ext cx="153252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32238"/>
                </a:solidFill>
                <a:latin typeface="Aptos"/>
              </a:rPr>
              <a:t>LangChain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17"/>
          <p:cNvSpPr/>
          <p:nvPr/>
        </p:nvSpPr>
        <p:spPr>
          <a:xfrm>
            <a:off x="6163200" y="1965960"/>
            <a:ext cx="1660320" cy="685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18"/>
          <p:cNvSpPr/>
          <p:nvPr/>
        </p:nvSpPr>
        <p:spPr>
          <a:xfrm>
            <a:off x="6226920" y="2057400"/>
            <a:ext cx="153252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32238"/>
                </a:solidFill>
                <a:latin typeface="Aptos"/>
              </a:rPr>
              <a:t>LLM API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19"/>
          <p:cNvSpPr/>
          <p:nvPr/>
        </p:nvSpPr>
        <p:spPr>
          <a:xfrm>
            <a:off x="7988760" y="1965960"/>
            <a:ext cx="1660320" cy="685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 20"/>
          <p:cNvSpPr/>
          <p:nvPr/>
        </p:nvSpPr>
        <p:spPr>
          <a:xfrm>
            <a:off x="8052840" y="2057400"/>
            <a:ext cx="153252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32238"/>
                </a:solidFill>
                <a:latin typeface="Aptos"/>
              </a:rPr>
              <a:t>Datos / APIs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21"/>
          <p:cNvSpPr/>
          <p:nvPr/>
        </p:nvSpPr>
        <p:spPr>
          <a:xfrm>
            <a:off x="9814680" y="1965960"/>
            <a:ext cx="1660320" cy="685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22"/>
          <p:cNvSpPr/>
          <p:nvPr/>
        </p:nvSpPr>
        <p:spPr>
          <a:xfrm>
            <a:off x="9878400" y="2057400"/>
            <a:ext cx="153252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32238"/>
                </a:solidFill>
                <a:latin typeface="Aptos"/>
              </a:rPr>
              <a:t>Logs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23"/>
          <p:cNvSpPr/>
          <p:nvPr/>
        </p:nvSpPr>
        <p:spPr>
          <a:xfrm>
            <a:off x="777240" y="3200400"/>
            <a:ext cx="2422440" cy="10051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24"/>
          <p:cNvSpPr/>
          <p:nvPr/>
        </p:nvSpPr>
        <p:spPr>
          <a:xfrm>
            <a:off x="777240" y="3200400"/>
            <a:ext cx="72360" cy="10051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Text 25"/>
          <p:cNvSpPr/>
          <p:nvPr/>
        </p:nvSpPr>
        <p:spPr>
          <a:xfrm>
            <a:off x="941760" y="3319200"/>
            <a:ext cx="21481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32238"/>
                </a:solidFill>
                <a:latin typeface="Aptos"/>
              </a:rPr>
              <a:t>Frontend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26"/>
          <p:cNvSpPr/>
          <p:nvPr/>
        </p:nvSpPr>
        <p:spPr>
          <a:xfrm>
            <a:off x="941760" y="3675960"/>
            <a:ext cx="21207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60" spc="-1" strike="noStrike">
                <a:solidFill>
                  <a:srgbClr val="334155"/>
                </a:solidFill>
                <a:latin typeface="Aptos"/>
              </a:rPr>
              <a:t>Formulario, chat o dashboard. No contiene claves.</a:t>
            </a:r>
            <a:endParaRPr b="0" lang="es-ES" sz="11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27"/>
          <p:cNvSpPr/>
          <p:nvPr/>
        </p:nvSpPr>
        <p:spPr>
          <a:xfrm>
            <a:off x="3337560" y="3200400"/>
            <a:ext cx="2422440" cy="10051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28"/>
          <p:cNvSpPr/>
          <p:nvPr/>
        </p:nvSpPr>
        <p:spPr>
          <a:xfrm>
            <a:off x="3337560" y="3200400"/>
            <a:ext cx="72360" cy="1005120"/>
          </a:xfrm>
          <a:prstGeom prst="rect">
            <a:avLst/>
          </a:prstGeom>
          <a:solidFill>
            <a:srgbClr val="245c94"/>
          </a:solidFill>
          <a:ln w="1270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Text 29"/>
          <p:cNvSpPr/>
          <p:nvPr/>
        </p:nvSpPr>
        <p:spPr>
          <a:xfrm>
            <a:off x="3502080" y="3319200"/>
            <a:ext cx="21481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32238"/>
                </a:solidFill>
                <a:latin typeface="Aptos"/>
              </a:rPr>
              <a:t>Backend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 30"/>
          <p:cNvSpPr/>
          <p:nvPr/>
        </p:nvSpPr>
        <p:spPr>
          <a:xfrm>
            <a:off x="3502080" y="3675960"/>
            <a:ext cx="21207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60" spc="-1" strike="noStrike">
                <a:solidFill>
                  <a:srgbClr val="334155"/>
                </a:solidFill>
                <a:latin typeface="Aptos"/>
              </a:rPr>
              <a:t>Valida usuarios, permisos, cuotas, entrada y salida.</a:t>
            </a:r>
            <a:endParaRPr b="0" lang="es-ES" sz="11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31"/>
          <p:cNvSpPr/>
          <p:nvPr/>
        </p:nvSpPr>
        <p:spPr>
          <a:xfrm>
            <a:off x="5897880" y="3200400"/>
            <a:ext cx="2422440" cy="10051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32"/>
          <p:cNvSpPr/>
          <p:nvPr/>
        </p:nvSpPr>
        <p:spPr>
          <a:xfrm>
            <a:off x="5897880" y="3200400"/>
            <a:ext cx="72360" cy="1005120"/>
          </a:xfrm>
          <a:prstGeom prst="rect">
            <a:avLst/>
          </a:prstGeom>
          <a:solidFill>
            <a:srgbClr val="2d8a55"/>
          </a:solidFill>
          <a:ln w="1270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Text 33"/>
          <p:cNvSpPr/>
          <p:nvPr/>
        </p:nvSpPr>
        <p:spPr>
          <a:xfrm>
            <a:off x="6062400" y="3319200"/>
            <a:ext cx="21481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32238"/>
                </a:solidFill>
                <a:latin typeface="Aptos"/>
              </a:rPr>
              <a:t>LangChain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34"/>
          <p:cNvSpPr/>
          <p:nvPr/>
        </p:nvSpPr>
        <p:spPr>
          <a:xfrm>
            <a:off x="6062400" y="3675960"/>
            <a:ext cx="21207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60" spc="-1" strike="noStrike">
                <a:solidFill>
                  <a:srgbClr val="334155"/>
                </a:solidFill>
                <a:latin typeface="Aptos"/>
              </a:rPr>
              <a:t>Compone prompts, modelos, parsers, retrievers y tools.</a:t>
            </a:r>
            <a:endParaRPr b="0" lang="es-ES" sz="11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35"/>
          <p:cNvSpPr/>
          <p:nvPr/>
        </p:nvSpPr>
        <p:spPr>
          <a:xfrm>
            <a:off x="8458200" y="3200400"/>
            <a:ext cx="2833920" cy="10051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36"/>
          <p:cNvSpPr/>
          <p:nvPr/>
        </p:nvSpPr>
        <p:spPr>
          <a:xfrm>
            <a:off x="8458200" y="3200400"/>
            <a:ext cx="72360" cy="1005120"/>
          </a:xfrm>
          <a:prstGeom prst="rect">
            <a:avLst/>
          </a:prstGeom>
          <a:solidFill>
            <a:srgbClr val="b6202a"/>
          </a:solidFill>
          <a:ln w="12700">
            <a:solidFill>
              <a:srgbClr val="b620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Text 37"/>
          <p:cNvSpPr/>
          <p:nvPr/>
        </p:nvSpPr>
        <p:spPr>
          <a:xfrm>
            <a:off x="8622720" y="3319200"/>
            <a:ext cx="2559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32238"/>
                </a:solidFill>
                <a:latin typeface="Aptos"/>
              </a:rPr>
              <a:t>Operación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 38"/>
          <p:cNvSpPr/>
          <p:nvPr/>
        </p:nvSpPr>
        <p:spPr>
          <a:xfrm>
            <a:off x="8622720" y="3675960"/>
            <a:ext cx="253224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60" spc="-1" strike="noStrike">
                <a:solidFill>
                  <a:srgbClr val="334155"/>
                </a:solidFill>
                <a:latin typeface="Aptos"/>
              </a:rPr>
              <a:t>Mide errores, trazas, costo, calidad y fallback.</a:t>
            </a:r>
            <a:endParaRPr b="0" lang="es-ES" sz="11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39"/>
          <p:cNvSpPr/>
          <p:nvPr/>
        </p:nvSpPr>
        <p:spPr>
          <a:xfrm>
            <a:off x="777240" y="5349240"/>
            <a:ext cx="10514880" cy="566280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016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Text 40"/>
          <p:cNvSpPr/>
          <p:nvPr/>
        </p:nvSpPr>
        <p:spPr>
          <a:xfrm>
            <a:off x="941760" y="5477400"/>
            <a:ext cx="101858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238"/>
                </a:solidFill>
                <a:latin typeface="Aptos"/>
              </a:rPr>
              <a:t>LangChain no reemplaza el backend, la base de datos ni el proveedor: los conecta bajo una lógica de ejecución.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245c94"/>
          </a:solidFill>
          <a:ln w="1270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Text 2"/>
          <p:cNvSpPr/>
          <p:nvPr/>
        </p:nvSpPr>
        <p:spPr>
          <a:xfrm>
            <a:off x="685800" y="91440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45c94"/>
                </a:solidFill>
                <a:latin typeface="Aptos"/>
              </a:rPr>
              <a:t>COMPONENTES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 3"/>
          <p:cNvSpPr/>
          <p:nvPr/>
        </p:nvSpPr>
        <p:spPr>
          <a:xfrm>
            <a:off x="685800" y="1920240"/>
            <a:ext cx="10697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05 · Componentes base de LangChain</a:t>
            </a:r>
            <a:endParaRPr b="0" lang="es-E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Text 4"/>
          <p:cNvSpPr/>
          <p:nvPr/>
        </p:nvSpPr>
        <p:spPr>
          <a:xfrm>
            <a:off x="704160" y="2788920"/>
            <a:ext cx="9966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4155"/>
                </a:solidFill>
                <a:latin typeface="Aptos"/>
              </a:rPr>
              <a:t>Cada componente debe responder: qué entra, qué hace, qué devuelve y cuándo conviene usarlo.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7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378440" y="6080760"/>
            <a:ext cx="959400" cy="438120"/>
          </a:xfrm>
          <a:prstGeom prst="rect">
            <a:avLst/>
          </a:prstGeom>
          <a:ln w="0">
            <a:noFill/>
          </a:ln>
        </p:spPr>
      </p:pic>
      <p:sp>
        <p:nvSpPr>
          <p:cNvPr id="408" name="Text 5"/>
          <p:cNvSpPr/>
          <p:nvPr/>
        </p:nvSpPr>
        <p:spPr>
          <a:xfrm>
            <a:off x="1170432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22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Componentes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2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413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23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Mapa de componentes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Runnables son la unidad componible, pero el ecosistema incluye prompts, modelos, parsers, retrievers, tools, agentes y memoria.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Shape 6"/>
          <p:cNvSpPr/>
          <p:nvPr/>
        </p:nvSpPr>
        <p:spPr>
          <a:xfrm>
            <a:off x="2757600" y="212580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Shape 7"/>
          <p:cNvSpPr/>
          <p:nvPr/>
        </p:nvSpPr>
        <p:spPr>
          <a:xfrm>
            <a:off x="4948560" y="212580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8"/>
          <p:cNvSpPr/>
          <p:nvPr/>
        </p:nvSpPr>
        <p:spPr>
          <a:xfrm>
            <a:off x="7139520" y="212580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9"/>
          <p:cNvSpPr/>
          <p:nvPr/>
        </p:nvSpPr>
        <p:spPr>
          <a:xfrm>
            <a:off x="9330480" y="2125800"/>
            <a:ext cx="6372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Shape 10"/>
          <p:cNvSpPr/>
          <p:nvPr/>
        </p:nvSpPr>
        <p:spPr>
          <a:xfrm>
            <a:off x="685800" y="1828800"/>
            <a:ext cx="2025720" cy="59364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143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 11"/>
          <p:cNvSpPr/>
          <p:nvPr/>
        </p:nvSpPr>
        <p:spPr>
          <a:xfrm>
            <a:off x="749880" y="1920240"/>
            <a:ext cx="18975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32238"/>
                </a:solidFill>
                <a:latin typeface="Aptos"/>
              </a:rPr>
              <a:t>Input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Shape 12"/>
          <p:cNvSpPr/>
          <p:nvPr/>
        </p:nvSpPr>
        <p:spPr>
          <a:xfrm>
            <a:off x="2876760" y="1828800"/>
            <a:ext cx="202572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 13"/>
          <p:cNvSpPr/>
          <p:nvPr/>
        </p:nvSpPr>
        <p:spPr>
          <a:xfrm>
            <a:off x="2940840" y="1920240"/>
            <a:ext cx="18975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32238"/>
                </a:solidFill>
                <a:latin typeface="Aptos"/>
              </a:rPr>
              <a:t>Prompt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Shape 14"/>
          <p:cNvSpPr/>
          <p:nvPr/>
        </p:nvSpPr>
        <p:spPr>
          <a:xfrm>
            <a:off x="5067720" y="1828800"/>
            <a:ext cx="202572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Text 15"/>
          <p:cNvSpPr/>
          <p:nvPr/>
        </p:nvSpPr>
        <p:spPr>
          <a:xfrm>
            <a:off x="5131440" y="1920240"/>
            <a:ext cx="18975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32238"/>
                </a:solidFill>
                <a:latin typeface="Aptos"/>
              </a:rPr>
              <a:t>Model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Shape 16"/>
          <p:cNvSpPr/>
          <p:nvPr/>
        </p:nvSpPr>
        <p:spPr>
          <a:xfrm>
            <a:off x="7258680" y="1828800"/>
            <a:ext cx="202572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 17"/>
          <p:cNvSpPr/>
          <p:nvPr/>
        </p:nvSpPr>
        <p:spPr>
          <a:xfrm>
            <a:off x="7322400" y="1920240"/>
            <a:ext cx="18975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32238"/>
                </a:solidFill>
                <a:latin typeface="Aptos"/>
              </a:rPr>
              <a:t>Parser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18"/>
          <p:cNvSpPr/>
          <p:nvPr/>
        </p:nvSpPr>
        <p:spPr>
          <a:xfrm>
            <a:off x="9449280" y="1828800"/>
            <a:ext cx="202572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 19"/>
          <p:cNvSpPr/>
          <p:nvPr/>
        </p:nvSpPr>
        <p:spPr>
          <a:xfrm>
            <a:off x="9513360" y="1920240"/>
            <a:ext cx="18975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32238"/>
                </a:solidFill>
                <a:latin typeface="Aptos"/>
              </a:rPr>
              <a:t>Output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Shape 20"/>
          <p:cNvSpPr/>
          <p:nvPr/>
        </p:nvSpPr>
        <p:spPr>
          <a:xfrm>
            <a:off x="731520" y="2834640"/>
            <a:ext cx="2376720" cy="10508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hape 21"/>
          <p:cNvSpPr/>
          <p:nvPr/>
        </p:nvSpPr>
        <p:spPr>
          <a:xfrm>
            <a:off x="731520" y="2834640"/>
            <a:ext cx="72360" cy="1050840"/>
          </a:xfrm>
          <a:prstGeom prst="rect">
            <a:avLst/>
          </a:prstGeom>
          <a:solidFill>
            <a:srgbClr val="245c94"/>
          </a:solidFill>
          <a:ln w="1270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Text 22"/>
          <p:cNvSpPr/>
          <p:nvPr/>
        </p:nvSpPr>
        <p:spPr>
          <a:xfrm>
            <a:off x="896040" y="2953440"/>
            <a:ext cx="21024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32238"/>
                </a:solidFill>
                <a:latin typeface="Aptos"/>
              </a:rPr>
              <a:t>Runnable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 23"/>
          <p:cNvSpPr/>
          <p:nvPr/>
        </p:nvSpPr>
        <p:spPr>
          <a:xfrm>
            <a:off x="896040" y="3310200"/>
            <a:ext cx="207504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34155"/>
                </a:solidFill>
                <a:latin typeface="Aptos"/>
              </a:rPr>
              <a:t>Pieza ejecutable: invoke, batch, stream.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Shape 24"/>
          <p:cNvSpPr/>
          <p:nvPr/>
        </p:nvSpPr>
        <p:spPr>
          <a:xfrm>
            <a:off x="3337560" y="2834640"/>
            <a:ext cx="2376720" cy="10508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Shape 25"/>
          <p:cNvSpPr/>
          <p:nvPr/>
        </p:nvSpPr>
        <p:spPr>
          <a:xfrm>
            <a:off x="3337560" y="2834640"/>
            <a:ext cx="72360" cy="1050840"/>
          </a:xfrm>
          <a:prstGeom prst="rect">
            <a:avLst/>
          </a:prstGeom>
          <a:solidFill>
            <a:srgbClr val="2d8a55"/>
          </a:solidFill>
          <a:ln w="1270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 26"/>
          <p:cNvSpPr/>
          <p:nvPr/>
        </p:nvSpPr>
        <p:spPr>
          <a:xfrm>
            <a:off x="3502080" y="2953440"/>
            <a:ext cx="21024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32238"/>
                </a:solidFill>
                <a:latin typeface="Aptos"/>
              </a:rPr>
              <a:t>Retriever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Text 27"/>
          <p:cNvSpPr/>
          <p:nvPr/>
        </p:nvSpPr>
        <p:spPr>
          <a:xfrm>
            <a:off x="3502080" y="3310200"/>
            <a:ext cx="207504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34155"/>
                </a:solidFill>
                <a:latin typeface="Aptos"/>
              </a:rPr>
              <a:t>Busca contexto relevante para RAG.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28"/>
          <p:cNvSpPr/>
          <p:nvPr/>
        </p:nvSpPr>
        <p:spPr>
          <a:xfrm>
            <a:off x="5943600" y="2834640"/>
            <a:ext cx="2376720" cy="10508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29"/>
          <p:cNvSpPr/>
          <p:nvPr/>
        </p:nvSpPr>
        <p:spPr>
          <a:xfrm>
            <a:off x="5943600" y="2834640"/>
            <a:ext cx="72360" cy="1050840"/>
          </a:xfrm>
          <a:prstGeom prst="rect">
            <a:avLst/>
          </a:prstGeom>
          <a:solidFill>
            <a:srgbClr val="f08a24"/>
          </a:solidFill>
          <a:ln w="12700">
            <a:solidFill>
              <a:srgbClr val="f08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Text 30"/>
          <p:cNvSpPr/>
          <p:nvPr/>
        </p:nvSpPr>
        <p:spPr>
          <a:xfrm>
            <a:off x="6108120" y="2953440"/>
            <a:ext cx="21024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32238"/>
                </a:solidFill>
                <a:latin typeface="Aptos"/>
              </a:rPr>
              <a:t>Tool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 31"/>
          <p:cNvSpPr/>
          <p:nvPr/>
        </p:nvSpPr>
        <p:spPr>
          <a:xfrm>
            <a:off x="6108120" y="3310200"/>
            <a:ext cx="207504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34155"/>
                </a:solidFill>
                <a:latin typeface="Aptos"/>
              </a:rPr>
              <a:t>Función controlada para consultar o actuar.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Shape 32"/>
          <p:cNvSpPr/>
          <p:nvPr/>
        </p:nvSpPr>
        <p:spPr>
          <a:xfrm>
            <a:off x="8549640" y="2834640"/>
            <a:ext cx="2376720" cy="10508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33"/>
          <p:cNvSpPr/>
          <p:nvPr/>
        </p:nvSpPr>
        <p:spPr>
          <a:xfrm>
            <a:off x="8549640" y="2834640"/>
            <a:ext cx="72360" cy="1050840"/>
          </a:xfrm>
          <a:prstGeom prst="rect">
            <a:avLst/>
          </a:prstGeom>
          <a:solidFill>
            <a:srgbClr val="5b4e9c"/>
          </a:solidFill>
          <a:ln w="12700">
            <a:solidFill>
              <a:srgbClr val="5b4e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Text 34"/>
          <p:cNvSpPr/>
          <p:nvPr/>
        </p:nvSpPr>
        <p:spPr>
          <a:xfrm>
            <a:off x="8714160" y="2953440"/>
            <a:ext cx="21024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32238"/>
                </a:solidFill>
                <a:latin typeface="Aptos"/>
              </a:rPr>
              <a:t>Agent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Text 35"/>
          <p:cNvSpPr/>
          <p:nvPr/>
        </p:nvSpPr>
        <p:spPr>
          <a:xfrm>
            <a:off x="8714160" y="3310200"/>
            <a:ext cx="207504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34155"/>
                </a:solidFill>
                <a:latin typeface="Aptos"/>
              </a:rPr>
              <a:t>Decide pasos o herramientas dentro de límites.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36"/>
          <p:cNvSpPr/>
          <p:nvPr/>
        </p:nvSpPr>
        <p:spPr>
          <a:xfrm>
            <a:off x="731520" y="4251960"/>
            <a:ext cx="2376720" cy="10508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Shape 37"/>
          <p:cNvSpPr/>
          <p:nvPr/>
        </p:nvSpPr>
        <p:spPr>
          <a:xfrm>
            <a:off x="731520" y="4251960"/>
            <a:ext cx="72360" cy="1050840"/>
          </a:xfrm>
          <a:prstGeom prst="rect">
            <a:avLst/>
          </a:prstGeom>
          <a:solidFill>
            <a:srgbClr val="b6202a"/>
          </a:solidFill>
          <a:ln w="12700">
            <a:solidFill>
              <a:srgbClr val="b620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Text 38"/>
          <p:cNvSpPr/>
          <p:nvPr/>
        </p:nvSpPr>
        <p:spPr>
          <a:xfrm>
            <a:off x="896040" y="4370760"/>
            <a:ext cx="21024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32238"/>
                </a:solidFill>
                <a:latin typeface="Aptos"/>
              </a:rPr>
              <a:t>Memory / State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 39"/>
          <p:cNvSpPr/>
          <p:nvPr/>
        </p:nvSpPr>
        <p:spPr>
          <a:xfrm>
            <a:off x="896040" y="4727520"/>
            <a:ext cx="207504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34155"/>
                </a:solidFill>
                <a:latin typeface="Aptos"/>
              </a:rPr>
              <a:t>Historial, sesión o estado persistente.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40"/>
          <p:cNvSpPr/>
          <p:nvPr/>
        </p:nvSpPr>
        <p:spPr>
          <a:xfrm>
            <a:off x="3337560" y="4251960"/>
            <a:ext cx="2376720" cy="10508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Shape 41"/>
          <p:cNvSpPr/>
          <p:nvPr/>
        </p:nvSpPr>
        <p:spPr>
          <a:xfrm>
            <a:off x="3337560" y="4251960"/>
            <a:ext cx="72360" cy="1050840"/>
          </a:xfrm>
          <a:prstGeom prst="rect">
            <a:avLst/>
          </a:prstGeom>
          <a:solidFill>
            <a:srgbClr val="245c94"/>
          </a:solidFill>
          <a:ln w="1270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Text 42"/>
          <p:cNvSpPr/>
          <p:nvPr/>
        </p:nvSpPr>
        <p:spPr>
          <a:xfrm>
            <a:off x="3502080" y="4370760"/>
            <a:ext cx="21024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32238"/>
                </a:solidFill>
                <a:latin typeface="Aptos"/>
              </a:rPr>
              <a:t>PromptTemplate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Text 43"/>
          <p:cNvSpPr/>
          <p:nvPr/>
        </p:nvSpPr>
        <p:spPr>
          <a:xfrm>
            <a:off x="3502080" y="4727520"/>
            <a:ext cx="207504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34155"/>
                </a:solidFill>
                <a:latin typeface="Aptos"/>
              </a:rPr>
              <a:t>Instrucciones estables + variables.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44"/>
          <p:cNvSpPr/>
          <p:nvPr/>
        </p:nvSpPr>
        <p:spPr>
          <a:xfrm>
            <a:off x="5943600" y="4251960"/>
            <a:ext cx="2376720" cy="10508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45"/>
          <p:cNvSpPr/>
          <p:nvPr/>
        </p:nvSpPr>
        <p:spPr>
          <a:xfrm>
            <a:off x="5943600" y="4251960"/>
            <a:ext cx="72360" cy="1050840"/>
          </a:xfrm>
          <a:prstGeom prst="rect">
            <a:avLst/>
          </a:prstGeom>
          <a:solidFill>
            <a:srgbClr val="2d8a55"/>
          </a:solidFill>
          <a:ln w="1270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Text 46"/>
          <p:cNvSpPr/>
          <p:nvPr/>
        </p:nvSpPr>
        <p:spPr>
          <a:xfrm>
            <a:off x="6108120" y="4370760"/>
            <a:ext cx="21024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32238"/>
                </a:solidFill>
                <a:latin typeface="Aptos"/>
              </a:rPr>
              <a:t>ChatModel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Text 47"/>
          <p:cNvSpPr/>
          <p:nvPr/>
        </p:nvSpPr>
        <p:spPr>
          <a:xfrm>
            <a:off x="6108120" y="4727520"/>
            <a:ext cx="207504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34155"/>
                </a:solidFill>
                <a:latin typeface="Aptos"/>
              </a:rPr>
              <a:t>Conector al proveedor/modelo.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48"/>
          <p:cNvSpPr/>
          <p:nvPr/>
        </p:nvSpPr>
        <p:spPr>
          <a:xfrm>
            <a:off x="8549640" y="4251960"/>
            <a:ext cx="2376720" cy="10508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49"/>
          <p:cNvSpPr/>
          <p:nvPr/>
        </p:nvSpPr>
        <p:spPr>
          <a:xfrm>
            <a:off x="8549640" y="4251960"/>
            <a:ext cx="72360" cy="1050840"/>
          </a:xfrm>
          <a:prstGeom prst="rect">
            <a:avLst/>
          </a:prstGeom>
          <a:solidFill>
            <a:srgbClr val="f08a24"/>
          </a:solidFill>
          <a:ln w="12700">
            <a:solidFill>
              <a:srgbClr val="f08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Text 50"/>
          <p:cNvSpPr/>
          <p:nvPr/>
        </p:nvSpPr>
        <p:spPr>
          <a:xfrm>
            <a:off x="8714160" y="4370760"/>
            <a:ext cx="21024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32238"/>
                </a:solidFill>
                <a:latin typeface="Aptos"/>
              </a:rPr>
              <a:t>OutputParser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Text 51"/>
          <p:cNvSpPr/>
          <p:nvPr/>
        </p:nvSpPr>
        <p:spPr>
          <a:xfrm>
            <a:off x="8714160" y="4727520"/>
            <a:ext cx="207504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334155"/>
                </a:solidFill>
                <a:latin typeface="Aptos"/>
              </a:rPr>
              <a:t>Convierte salida en datos usables.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Componentes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5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466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24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Runnable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Pieza ejecutable que permite componer flujos.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6"/>
          <p:cNvSpPr/>
          <p:nvPr/>
        </p:nvSpPr>
        <p:spPr>
          <a:xfrm>
            <a:off x="777240" y="1645920"/>
            <a:ext cx="3885480" cy="13708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7"/>
          <p:cNvSpPr/>
          <p:nvPr/>
        </p:nvSpPr>
        <p:spPr>
          <a:xfrm>
            <a:off x="777240" y="1645920"/>
            <a:ext cx="72360" cy="1370880"/>
          </a:xfrm>
          <a:prstGeom prst="rect">
            <a:avLst/>
          </a:prstGeom>
          <a:solidFill>
            <a:srgbClr val="245c94"/>
          </a:solidFill>
          <a:ln w="1270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Text 8"/>
          <p:cNvSpPr/>
          <p:nvPr/>
        </p:nvSpPr>
        <p:spPr>
          <a:xfrm>
            <a:off x="941760" y="1764720"/>
            <a:ext cx="3611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32238"/>
                </a:solidFill>
                <a:latin typeface="Aptos"/>
              </a:rPr>
              <a:t>Qué 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Text 9"/>
          <p:cNvSpPr/>
          <p:nvPr/>
        </p:nvSpPr>
        <p:spPr>
          <a:xfrm>
            <a:off x="941760" y="2121480"/>
            <a:ext cx="358380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Aptos"/>
              </a:rPr>
              <a:t>Un Runnable recibe input, ejecuta una operación y devuelve output. Permite usar invoke(), batch() y stream().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Shape 10"/>
          <p:cNvSpPr/>
          <p:nvPr/>
        </p:nvSpPr>
        <p:spPr>
          <a:xfrm>
            <a:off x="5074920" y="1645920"/>
            <a:ext cx="6262920" cy="2559600"/>
          </a:xfrm>
          <a:prstGeom prst="roundRect">
            <a:avLst>
              <a:gd name="adj" fmla="val 2857"/>
            </a:avLst>
          </a:prstGeom>
          <a:solidFill>
            <a:srgbClr val="0b1220"/>
          </a:solidFill>
          <a:ln w="10160">
            <a:solidFill>
              <a:srgbClr val="18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Text 11"/>
          <p:cNvSpPr/>
          <p:nvPr/>
        </p:nvSpPr>
        <p:spPr>
          <a:xfrm>
            <a:off x="5239440" y="1783080"/>
            <a:ext cx="593388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respuesta = chain.invoke({"tema": "APIs"})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resultados = chain.batch([caso1, caso2])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for chunk in chain.stream(input):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    </a:t>
            </a: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print(chunk, end="")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Shape 12"/>
          <p:cNvSpPr/>
          <p:nvPr/>
        </p:nvSpPr>
        <p:spPr>
          <a:xfrm>
            <a:off x="777240" y="3429000"/>
            <a:ext cx="3885480" cy="114228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13"/>
          <p:cNvSpPr/>
          <p:nvPr/>
        </p:nvSpPr>
        <p:spPr>
          <a:xfrm>
            <a:off x="777240" y="3429000"/>
            <a:ext cx="72360" cy="1142280"/>
          </a:xfrm>
          <a:prstGeom prst="rect">
            <a:avLst/>
          </a:prstGeom>
          <a:solidFill>
            <a:srgbClr val="245c94"/>
          </a:solidFill>
          <a:ln w="1270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Text 14"/>
          <p:cNvSpPr/>
          <p:nvPr/>
        </p:nvSpPr>
        <p:spPr>
          <a:xfrm>
            <a:off x="941760" y="3547800"/>
            <a:ext cx="3611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238"/>
                </a:solidFill>
                <a:latin typeface="Aptos"/>
              </a:rPr>
              <a:t>Ejemplo de uso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Text 15"/>
          <p:cNvSpPr/>
          <p:nvPr/>
        </p:nvSpPr>
        <p:spPr>
          <a:xfrm>
            <a:off x="941760" y="3904560"/>
            <a:ext cx="358380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Cuando una chain debe probarse con un caso, un lote de casos o una UI con streaming.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TextBox 1"/>
          <p:cNvSpPr/>
          <p:nvPr/>
        </p:nvSpPr>
        <p:spPr>
          <a:xfrm>
            <a:off x="2969280" y="246960"/>
            <a:ext cx="5252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900" spc="-1" strike="noStrike">
                <a:solidFill>
                  <a:srgbClr val="506070"/>
                </a:solidFill>
                <a:latin typeface="Aptos"/>
              </a:rPr>
              <a:t>Diplomado Ejecutivo en Confianza Digital, IA y Automatización Empresarial · Módulo 1 · Clase 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Rectangle 2"/>
          <p:cNvSpPr/>
          <p:nvPr/>
        </p:nvSpPr>
        <p:spPr>
          <a:xfrm>
            <a:off x="658440" y="631080"/>
            <a:ext cx="10697760" cy="1008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481" name="TextBox 3"/>
          <p:cNvSpPr/>
          <p:nvPr/>
        </p:nvSpPr>
        <p:spPr>
          <a:xfrm>
            <a:off x="3305520" y="1051560"/>
            <a:ext cx="56761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800" spc="-1" strike="noStrike">
                <a:solidFill>
                  <a:srgbClr val="071d37"/>
                </a:solidFill>
                <a:latin typeface="Aptos Display"/>
              </a:rPr>
              <a:t>Otras abstracciones operativas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TextBox 4"/>
          <p:cNvSpPr/>
          <p:nvPr/>
        </p:nvSpPr>
        <p:spPr>
          <a:xfrm>
            <a:off x="1762200" y="1554480"/>
            <a:ext cx="84711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500" spc="-1" strike="noStrike">
                <a:solidFill>
                  <a:srgbClr val="506070"/>
                </a:solidFill>
                <a:latin typeface="Aptos"/>
              </a:rPr>
              <a:t>Runnable es central, pero LangChain/LangGraph también usan abstracciones especializadas.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83" name="Table 5"/>
          <p:cNvGraphicFramePr/>
          <p:nvPr/>
        </p:nvGraphicFramePr>
        <p:xfrm>
          <a:off x="685800" y="2160000"/>
          <a:ext cx="11063880" cy="3782520"/>
        </p:xfrm>
        <a:graphic>
          <a:graphicData uri="http://schemas.openxmlformats.org/drawingml/2006/table">
            <a:tbl>
              <a:tblPr/>
              <a:tblGrid>
                <a:gridCol w="2011680"/>
                <a:gridCol w="3931920"/>
                <a:gridCol w="5120640"/>
              </a:tblGrid>
              <a:tr h="630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02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Abstracción</a:t>
                      </a:r>
                      <a:endParaRPr b="0" lang="es-ES" sz="102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71d3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02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Qué resuelve</a:t>
                      </a:r>
                      <a:endParaRPr b="0" lang="es-ES" sz="102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71d3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02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Métodos típicos</a:t>
                      </a:r>
                      <a:endParaRPr b="0" lang="es-ES" sz="102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71d37"/>
                    </a:solidFill>
                  </a:tcPr>
                </a:tc>
              </a:tr>
              <a:tr h="630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2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Callbacks</a:t>
                      </a:r>
                      <a:endParaRPr b="0" lang="es-ES" sz="10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2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Observabilidad y eventos del ciclo de vida</a:t>
                      </a:r>
                      <a:endParaRPr b="0" lang="es-ES" sz="10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2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on_llm_start, on_llm_new_token, on_tool_start/end, on_chain_error</a:t>
                      </a:r>
                      <a:endParaRPr b="0" lang="es-ES" sz="10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0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2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BaseLoader</a:t>
                      </a:r>
                      <a:endParaRPr b="0" lang="es-ES" sz="10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2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Carga inicial de información desde fuentes externas</a:t>
                      </a:r>
                      <a:endParaRPr b="0" lang="es-ES" sz="10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2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load(), lazy_load()</a:t>
                      </a:r>
                      <a:endParaRPr b="0" lang="es-ES" sz="10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</a:tr>
              <a:tr h="630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2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TextSplitter</a:t>
                      </a:r>
                      <a:endParaRPr b="0" lang="es-ES" sz="10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2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Divide texto/documentos para preparar RAG</a:t>
                      </a:r>
                      <a:endParaRPr b="0" lang="es-ES" sz="10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2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split_text(), split_documents()</a:t>
                      </a:r>
                      <a:endParaRPr b="0" lang="es-ES" sz="10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0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2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VectorStore</a:t>
                      </a:r>
                      <a:endParaRPr b="0" lang="es-ES" sz="10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2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Guarda/busca embeddings y documentos similares</a:t>
                      </a:r>
                      <a:endParaRPr b="0" lang="es-ES" sz="10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2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as_retriever(), similarity_search(), add_documents()</a:t>
                      </a:r>
                      <a:endParaRPr b="0" lang="es-ES" sz="10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</a:tr>
              <a:tr h="6289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2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Graph / StateGraph</a:t>
                      </a:r>
                      <a:endParaRPr b="0" lang="es-ES" sz="10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2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Orquesta pasos con estado en LangGraph</a:t>
                      </a:r>
                      <a:endParaRPr b="0" lang="es-ES" sz="10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02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add_node(), add_edge(), add_conditional_edges(), compile()</a:t>
                      </a:r>
                      <a:endParaRPr b="0" lang="es-ES" sz="10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4" name="TextBox 6"/>
          <p:cNvSpPr/>
          <p:nvPr/>
        </p:nvSpPr>
        <p:spPr>
          <a:xfrm>
            <a:off x="1769400" y="6446520"/>
            <a:ext cx="4178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800" spc="-1" strike="noStrike">
                <a:solidFill>
                  <a:srgbClr val="506070"/>
                </a:solidFill>
                <a:latin typeface="Aptos"/>
              </a:rPr>
              <a:t>Diplomado Ejecutivo en Confianza Digital, IA y Automatización Empresarial · Clase 3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TextBox 1"/>
          <p:cNvSpPr/>
          <p:nvPr/>
        </p:nvSpPr>
        <p:spPr>
          <a:xfrm>
            <a:off x="2969280" y="246960"/>
            <a:ext cx="5252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900" spc="-1" strike="noStrike">
                <a:solidFill>
                  <a:srgbClr val="506070"/>
                </a:solidFill>
                <a:latin typeface="Aptos"/>
              </a:rPr>
              <a:t>Diplomado Ejecutivo en Confianza Digital, IA y Automatización Empresarial · Módulo 1 · Clase 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Rectangle 2"/>
          <p:cNvSpPr/>
          <p:nvPr/>
        </p:nvSpPr>
        <p:spPr>
          <a:xfrm>
            <a:off x="658440" y="631080"/>
            <a:ext cx="10697760" cy="1008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487" name="TextBox 3"/>
          <p:cNvSpPr/>
          <p:nvPr/>
        </p:nvSpPr>
        <p:spPr>
          <a:xfrm>
            <a:off x="3354120" y="1051560"/>
            <a:ext cx="554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800" spc="-1" strike="noStrike">
                <a:solidFill>
                  <a:srgbClr val="071d37"/>
                </a:solidFill>
                <a:latin typeface="Aptos Display"/>
              </a:rPr>
              <a:t>Cómo leer estas abstracciones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TextBox 4"/>
          <p:cNvSpPr/>
          <p:nvPr/>
        </p:nvSpPr>
        <p:spPr>
          <a:xfrm>
            <a:off x="4013640" y="1448640"/>
            <a:ext cx="39679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300" spc="-1" strike="noStrike">
                <a:solidFill>
                  <a:srgbClr val="506070"/>
                </a:solidFill>
                <a:latin typeface="Aptos"/>
              </a:rPr>
              <a:t>Cada una responde a una etapa distinta del flujo.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Rounded Rectangle 5"/>
          <p:cNvSpPr/>
          <p:nvPr/>
        </p:nvSpPr>
        <p:spPr>
          <a:xfrm>
            <a:off x="822960" y="1737360"/>
            <a:ext cx="3291120" cy="1325160"/>
          </a:xfrm>
          <a:prstGeom prst="roundRect">
            <a:avLst>
              <a:gd name="adj" fmla="val 16667"/>
            </a:avLst>
          </a:prstGeom>
          <a:solidFill>
            <a:srgbClr val="ecf4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490" name="Rectangle 6"/>
          <p:cNvSpPr/>
          <p:nvPr/>
        </p:nvSpPr>
        <p:spPr>
          <a:xfrm>
            <a:off x="822960" y="1737360"/>
            <a:ext cx="54000" cy="132516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491" name="TextBox 7"/>
          <p:cNvSpPr/>
          <p:nvPr/>
        </p:nvSpPr>
        <p:spPr>
          <a:xfrm>
            <a:off x="1024200" y="1874520"/>
            <a:ext cx="2925360" cy="10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Callbacks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200" spc="-1" strike="noStrike">
                <a:solidFill>
                  <a:srgbClr val="2d3846"/>
                </a:solidFill>
                <a:latin typeface="Aptos"/>
              </a:rPr>
              <a:t>Permiten auditar, hacer tracing, streaming y capturar errores. Son la puerta a observabilidad como LangSmith.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Rounded Rectangle 8"/>
          <p:cNvSpPr/>
          <p:nvPr/>
        </p:nvSpPr>
        <p:spPr>
          <a:xfrm>
            <a:off x="4434840" y="1737360"/>
            <a:ext cx="3291120" cy="1325160"/>
          </a:xfrm>
          <a:prstGeom prst="roundRect">
            <a:avLst>
              <a:gd name="adj" fmla="val 16667"/>
            </a:avLst>
          </a:prstGeom>
          <a:solidFill>
            <a:srgbClr val="ebf6f4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493" name="Rectangle 9"/>
          <p:cNvSpPr/>
          <p:nvPr/>
        </p:nvSpPr>
        <p:spPr>
          <a:xfrm>
            <a:off x="4434840" y="1737360"/>
            <a:ext cx="54000" cy="1325160"/>
          </a:xfrm>
          <a:prstGeom prst="rect">
            <a:avLst/>
          </a:prstGeom>
          <a:solidFill>
            <a:srgbClr val="2f8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494" name="TextBox 10"/>
          <p:cNvSpPr/>
          <p:nvPr/>
        </p:nvSpPr>
        <p:spPr>
          <a:xfrm>
            <a:off x="4636080" y="1874520"/>
            <a:ext cx="2925360" cy="9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Loaders + Splitters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200" spc="-1" strike="noStrike">
                <a:solidFill>
                  <a:srgbClr val="2d3846"/>
                </a:solidFill>
                <a:latin typeface="Aptos"/>
              </a:rPr>
              <a:t>Preparan datos: cargan documentos y los dividen en fragmentos antes de embeddings/RAG.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Rounded Rectangle 11"/>
          <p:cNvSpPr/>
          <p:nvPr/>
        </p:nvSpPr>
        <p:spPr>
          <a:xfrm>
            <a:off x="8046720" y="1737360"/>
            <a:ext cx="3291120" cy="1325160"/>
          </a:xfrm>
          <a:prstGeom prst="roundRect">
            <a:avLst>
              <a:gd name="adj" fmla="val 16667"/>
            </a:avLst>
          </a:prstGeom>
          <a:solidFill>
            <a:srgbClr val="ecf4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496" name="Rectangle 12"/>
          <p:cNvSpPr/>
          <p:nvPr/>
        </p:nvSpPr>
        <p:spPr>
          <a:xfrm>
            <a:off x="8046720" y="1737360"/>
            <a:ext cx="54000" cy="132516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497" name="TextBox 13"/>
          <p:cNvSpPr/>
          <p:nvPr/>
        </p:nvSpPr>
        <p:spPr>
          <a:xfrm>
            <a:off x="8247960" y="1874520"/>
            <a:ext cx="2925360" cy="9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VectorStore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200" spc="-1" strike="noStrike">
                <a:solidFill>
                  <a:srgbClr val="2d3846"/>
                </a:solidFill>
                <a:latin typeface="Aptos"/>
              </a:rPr>
              <a:t>No “responde”; permite buscar similitud y alimentar al retriever con contexto relevante.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Rounded Rectangle 14"/>
          <p:cNvSpPr/>
          <p:nvPr/>
        </p:nvSpPr>
        <p:spPr>
          <a:xfrm>
            <a:off x="1920240" y="3657600"/>
            <a:ext cx="3565440" cy="1416600"/>
          </a:xfrm>
          <a:prstGeom prst="roundRect">
            <a:avLst>
              <a:gd name="adj" fmla="val 16667"/>
            </a:avLst>
          </a:prstGeom>
          <a:solidFill>
            <a:srgbClr val="f5f8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499" name="Rectangle 15"/>
          <p:cNvSpPr/>
          <p:nvPr/>
        </p:nvSpPr>
        <p:spPr>
          <a:xfrm>
            <a:off x="1920240" y="3657600"/>
            <a:ext cx="54000" cy="1416600"/>
          </a:xfrm>
          <a:prstGeom prst="rect">
            <a:avLst/>
          </a:prstGeom>
          <a:solidFill>
            <a:srgbClr val="f59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500" name="TextBox 16"/>
          <p:cNvSpPr/>
          <p:nvPr/>
        </p:nvSpPr>
        <p:spPr>
          <a:xfrm>
            <a:off x="2121480" y="3794760"/>
            <a:ext cx="3199680" cy="9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Graph / StateGraph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200" spc="-1" strike="noStrike">
                <a:solidFill>
                  <a:srgbClr val="2d3846"/>
                </a:solidFill>
                <a:latin typeface="Aptos"/>
              </a:rPr>
              <a:t>Define nodos, bordes y condiciones. Se usa cuando el flujo requiere estado, ramas o loops.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Rounded Rectangle 17"/>
          <p:cNvSpPr/>
          <p:nvPr/>
        </p:nvSpPr>
        <p:spPr>
          <a:xfrm>
            <a:off x="6080760" y="3657600"/>
            <a:ext cx="3565440" cy="141660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502" name="Rectangle 18"/>
          <p:cNvSpPr/>
          <p:nvPr/>
        </p:nvSpPr>
        <p:spPr>
          <a:xfrm>
            <a:off x="6080760" y="3657600"/>
            <a:ext cx="54000" cy="1416600"/>
          </a:xfrm>
          <a:prstGeom prst="rect">
            <a:avLst/>
          </a:prstGeom>
          <a:solidFill>
            <a:srgbClr val="f59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503" name="TextBox 19"/>
          <p:cNvSpPr/>
          <p:nvPr/>
        </p:nvSpPr>
        <p:spPr>
          <a:xfrm>
            <a:off x="6282000" y="3794760"/>
            <a:ext cx="3199680" cy="76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Idea clave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300" spc="-1" strike="noStrike">
                <a:solidFill>
                  <a:srgbClr val="2d3846"/>
                </a:solidFill>
                <a:latin typeface="Aptos"/>
              </a:rPr>
              <a:t>No memorizar métodos: entender qué pieza aparece en qué fase del sistema.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TextBox 20"/>
          <p:cNvSpPr/>
          <p:nvPr/>
        </p:nvSpPr>
        <p:spPr>
          <a:xfrm>
            <a:off x="1769400" y="6446520"/>
            <a:ext cx="4178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800" spc="-1" strike="noStrike">
                <a:solidFill>
                  <a:srgbClr val="506070"/>
                </a:solidFill>
                <a:latin typeface="Aptos"/>
              </a:rPr>
              <a:t>Diplomado Ejecutivo en Confianza Digital, IA y Automatización Empresarial · Clase 3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Componentes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8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509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25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PromptTemplate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El prompt deja de ser texto suelto y pasa a ser componente.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Shape 6"/>
          <p:cNvSpPr/>
          <p:nvPr/>
        </p:nvSpPr>
        <p:spPr>
          <a:xfrm>
            <a:off x="777240" y="1645920"/>
            <a:ext cx="3885480" cy="13708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Shape 7"/>
          <p:cNvSpPr/>
          <p:nvPr/>
        </p:nvSpPr>
        <p:spPr>
          <a:xfrm>
            <a:off x="777240" y="1645920"/>
            <a:ext cx="72360" cy="1370880"/>
          </a:xfrm>
          <a:prstGeom prst="rect">
            <a:avLst/>
          </a:prstGeom>
          <a:solidFill>
            <a:srgbClr val="2d8a55"/>
          </a:solidFill>
          <a:ln w="1270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Text 8"/>
          <p:cNvSpPr/>
          <p:nvPr/>
        </p:nvSpPr>
        <p:spPr>
          <a:xfrm>
            <a:off x="941760" y="1764720"/>
            <a:ext cx="3611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32238"/>
                </a:solidFill>
                <a:latin typeface="Aptos"/>
              </a:rPr>
              <a:t>Qué 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Text 9"/>
          <p:cNvSpPr/>
          <p:nvPr/>
        </p:nvSpPr>
        <p:spPr>
          <a:xfrm>
            <a:off x="941760" y="2121480"/>
            <a:ext cx="358380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Aptos"/>
              </a:rPr>
              <a:t>Define instrucciones estables y variables de entrada. Permite reutilizar, versionar y probar la misma lógica.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10"/>
          <p:cNvSpPr/>
          <p:nvPr/>
        </p:nvSpPr>
        <p:spPr>
          <a:xfrm>
            <a:off x="5074920" y="1645920"/>
            <a:ext cx="6262920" cy="2559600"/>
          </a:xfrm>
          <a:prstGeom prst="roundRect">
            <a:avLst>
              <a:gd name="adj" fmla="val 2857"/>
            </a:avLst>
          </a:prstGeom>
          <a:solidFill>
            <a:srgbClr val="0b1220"/>
          </a:solidFill>
          <a:ln w="10160">
            <a:solidFill>
              <a:srgbClr val="18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Text 11"/>
          <p:cNvSpPr/>
          <p:nvPr/>
        </p:nvSpPr>
        <p:spPr>
          <a:xfrm>
            <a:off x="5239440" y="1783080"/>
            <a:ext cx="593388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from langchain_core.prompts import ChatPromptTemplate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prompt = ChatPromptTemplate.from_messages([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  </a:t>
            </a: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("system", "Eres analista de procesos."),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  </a:t>
            </a: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("user", "Resume {texto} en {n} puntos")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])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12"/>
          <p:cNvSpPr/>
          <p:nvPr/>
        </p:nvSpPr>
        <p:spPr>
          <a:xfrm>
            <a:off x="777240" y="3429000"/>
            <a:ext cx="3885480" cy="114228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Shape 13"/>
          <p:cNvSpPr/>
          <p:nvPr/>
        </p:nvSpPr>
        <p:spPr>
          <a:xfrm>
            <a:off x="777240" y="3429000"/>
            <a:ext cx="72360" cy="1142280"/>
          </a:xfrm>
          <a:prstGeom prst="rect">
            <a:avLst/>
          </a:prstGeom>
          <a:solidFill>
            <a:srgbClr val="2d8a55"/>
          </a:solidFill>
          <a:ln w="1270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Text 14"/>
          <p:cNvSpPr/>
          <p:nvPr/>
        </p:nvSpPr>
        <p:spPr>
          <a:xfrm>
            <a:off x="941760" y="3547800"/>
            <a:ext cx="3611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238"/>
                </a:solidFill>
                <a:latin typeface="Aptos"/>
              </a:rPr>
              <a:t>Ejemplo de uso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Text 15"/>
          <p:cNvSpPr/>
          <p:nvPr/>
        </p:nvSpPr>
        <p:spPr>
          <a:xfrm>
            <a:off x="941760" y="3904560"/>
            <a:ext cx="358380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Resumen ejecutivo, clasificación, extracción o redacción con reglas claras.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Componentes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5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526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26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ChatModel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Conector al modelo de lenguaje.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Shape 6"/>
          <p:cNvSpPr/>
          <p:nvPr/>
        </p:nvSpPr>
        <p:spPr>
          <a:xfrm>
            <a:off x="777240" y="1645920"/>
            <a:ext cx="3885480" cy="13708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Shape 7"/>
          <p:cNvSpPr/>
          <p:nvPr/>
        </p:nvSpPr>
        <p:spPr>
          <a:xfrm>
            <a:off x="777240" y="1645920"/>
            <a:ext cx="72360" cy="1370880"/>
          </a:xfrm>
          <a:prstGeom prst="rect">
            <a:avLst/>
          </a:prstGeom>
          <a:solidFill>
            <a:srgbClr val="245c94"/>
          </a:solidFill>
          <a:ln w="1270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Text 8"/>
          <p:cNvSpPr/>
          <p:nvPr/>
        </p:nvSpPr>
        <p:spPr>
          <a:xfrm>
            <a:off x="941760" y="1764720"/>
            <a:ext cx="3611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32238"/>
                </a:solidFill>
                <a:latin typeface="Aptos"/>
              </a:rPr>
              <a:t>Qué 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Text 9"/>
          <p:cNvSpPr/>
          <p:nvPr/>
        </p:nvSpPr>
        <p:spPr>
          <a:xfrm>
            <a:off x="941760" y="2121480"/>
            <a:ext cx="358380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Aptos"/>
              </a:rPr>
              <a:t>Encapsula proveedor, modelo, temperatura y configuración. No elimina costos, límites ni diferencias reales entre proveedores.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Shape 10"/>
          <p:cNvSpPr/>
          <p:nvPr/>
        </p:nvSpPr>
        <p:spPr>
          <a:xfrm>
            <a:off x="5074920" y="1645920"/>
            <a:ext cx="6262920" cy="2559600"/>
          </a:xfrm>
          <a:prstGeom prst="roundRect">
            <a:avLst>
              <a:gd name="adj" fmla="val 2857"/>
            </a:avLst>
          </a:prstGeom>
          <a:solidFill>
            <a:srgbClr val="0b1220"/>
          </a:solidFill>
          <a:ln w="10160">
            <a:solidFill>
              <a:srgbClr val="18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Text 11"/>
          <p:cNvSpPr/>
          <p:nvPr/>
        </p:nvSpPr>
        <p:spPr>
          <a:xfrm>
            <a:off x="5239440" y="1783080"/>
            <a:ext cx="593388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ES" sz="980" spc="-1" strike="noStrike">
                <a:solidFill>
                  <a:srgbClr val="ffffff"/>
                </a:solidFill>
                <a:latin typeface="Arial"/>
                <a:ea typeface="Aptos Mono"/>
              </a:rPr>
              <a:t>import os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ES" sz="980" spc="-1" strike="noStrike">
                <a:solidFill>
                  <a:srgbClr val="ffffff"/>
                </a:solidFill>
                <a:latin typeface="Arial"/>
                <a:ea typeface="Aptos Mono"/>
              </a:rPr>
              <a:t>from langchain_openai import ChatOpenAI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ES" sz="980" spc="-1" strike="noStrike">
                <a:solidFill>
                  <a:srgbClr val="ffffff"/>
                </a:solidFill>
                <a:latin typeface="Arial"/>
                <a:ea typeface="Aptos Mono"/>
              </a:rPr>
              <a:t>model = ChatOpenAI(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ES" sz="980" spc="-1" strike="noStrike">
                <a:solidFill>
                  <a:srgbClr val="ffffff"/>
                </a:solidFill>
                <a:latin typeface="Arial"/>
                <a:ea typeface="Aptos Mono"/>
              </a:rPr>
              <a:t>    </a:t>
            </a:r>
            <a:r>
              <a:rPr b="0" lang="es-ES" sz="980" spc="-1" strike="noStrike">
                <a:solidFill>
                  <a:srgbClr val="ffffff"/>
                </a:solidFill>
                <a:latin typeface="Arial"/>
                <a:ea typeface="Aptos Mono"/>
              </a:rPr>
              <a:t>model=os.getenv("OPENAI_MODEL", "gpt-4.1-mini"),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ES" sz="980" spc="-1" strike="noStrike">
                <a:solidFill>
                  <a:srgbClr val="ffffff"/>
                </a:solidFill>
                <a:latin typeface="Arial"/>
                <a:ea typeface="Aptos Mono"/>
              </a:rPr>
              <a:t>    </a:t>
            </a:r>
            <a:r>
              <a:rPr b="0" lang="es-ES" sz="980" spc="-1" strike="noStrike">
                <a:solidFill>
                  <a:srgbClr val="ffffff"/>
                </a:solidFill>
                <a:latin typeface="Arial"/>
                <a:ea typeface="Aptos Mono"/>
              </a:rPr>
              <a:t>temperature=0.2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ES" sz="980" spc="-1" strike="noStrike">
                <a:solidFill>
                  <a:srgbClr val="ffffff"/>
                </a:solidFill>
                <a:latin typeface="Arial"/>
                <a:ea typeface="Aptos Mono"/>
              </a:rPr>
              <a:t>)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Shape 12"/>
          <p:cNvSpPr/>
          <p:nvPr/>
        </p:nvSpPr>
        <p:spPr>
          <a:xfrm>
            <a:off x="777240" y="3429000"/>
            <a:ext cx="3885480" cy="114228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13"/>
          <p:cNvSpPr/>
          <p:nvPr/>
        </p:nvSpPr>
        <p:spPr>
          <a:xfrm>
            <a:off x="777240" y="3429000"/>
            <a:ext cx="72360" cy="1142280"/>
          </a:xfrm>
          <a:prstGeom prst="rect">
            <a:avLst/>
          </a:prstGeom>
          <a:solidFill>
            <a:srgbClr val="245c94"/>
          </a:solidFill>
          <a:ln w="1270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Text 14"/>
          <p:cNvSpPr/>
          <p:nvPr/>
        </p:nvSpPr>
        <p:spPr>
          <a:xfrm>
            <a:off x="941760" y="3547800"/>
            <a:ext cx="3611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238"/>
                </a:solidFill>
                <a:latin typeface="Aptos"/>
              </a:rPr>
              <a:t>Ejemplo de uso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Text 15"/>
          <p:cNvSpPr/>
          <p:nvPr/>
        </p:nvSpPr>
        <p:spPr>
          <a:xfrm>
            <a:off x="941760" y="3904560"/>
            <a:ext cx="358380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Usar un modelo mini para clasificación masiva y uno avanzado para análisis complejo.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Componentes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2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543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27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OutputParser / Structured output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Transforma la respuesta en datos usables por una app.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Shape 6"/>
          <p:cNvSpPr/>
          <p:nvPr/>
        </p:nvSpPr>
        <p:spPr>
          <a:xfrm>
            <a:off x="777240" y="1645920"/>
            <a:ext cx="3885480" cy="13708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Shape 7"/>
          <p:cNvSpPr/>
          <p:nvPr/>
        </p:nvSpPr>
        <p:spPr>
          <a:xfrm>
            <a:off x="777240" y="1645920"/>
            <a:ext cx="72360" cy="1370880"/>
          </a:xfrm>
          <a:prstGeom prst="rect">
            <a:avLst/>
          </a:prstGeom>
          <a:solidFill>
            <a:srgbClr val="f08a24"/>
          </a:solidFill>
          <a:ln w="12700">
            <a:solidFill>
              <a:srgbClr val="f08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Text 8"/>
          <p:cNvSpPr/>
          <p:nvPr/>
        </p:nvSpPr>
        <p:spPr>
          <a:xfrm>
            <a:off x="941760" y="1764720"/>
            <a:ext cx="3611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32238"/>
                </a:solidFill>
                <a:latin typeface="Aptos"/>
              </a:rPr>
              <a:t>Qué 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Text 9"/>
          <p:cNvSpPr/>
          <p:nvPr/>
        </p:nvSpPr>
        <p:spPr>
          <a:xfrm>
            <a:off x="941760" y="2121480"/>
            <a:ext cx="358380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Aptos"/>
              </a:rPr>
              <a:t>Evita depender de texto libre cuando la salida debe alimentar Excel, CRM, mesa de ayuda o dashboard.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Shape 10"/>
          <p:cNvSpPr/>
          <p:nvPr/>
        </p:nvSpPr>
        <p:spPr>
          <a:xfrm>
            <a:off x="5074920" y="1645920"/>
            <a:ext cx="6262920" cy="2559600"/>
          </a:xfrm>
          <a:prstGeom prst="roundRect">
            <a:avLst>
              <a:gd name="adj" fmla="val 2857"/>
            </a:avLst>
          </a:prstGeom>
          <a:solidFill>
            <a:srgbClr val="0b1220"/>
          </a:solidFill>
          <a:ln w="10160">
            <a:solidFill>
              <a:srgbClr val="18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Text 11"/>
          <p:cNvSpPr/>
          <p:nvPr/>
        </p:nvSpPr>
        <p:spPr>
          <a:xfrm>
            <a:off x="5239440" y="1783080"/>
            <a:ext cx="593388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from pydantic import BaseModel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class Ticket(BaseModel):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    </a:t>
            </a: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categoria: str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    </a:t>
            </a: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prioridad: str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    </a:t>
            </a: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resumen: str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structured_model = model.with_structured_output(Ticket)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Shape 12"/>
          <p:cNvSpPr/>
          <p:nvPr/>
        </p:nvSpPr>
        <p:spPr>
          <a:xfrm>
            <a:off x="777240" y="3429000"/>
            <a:ext cx="3885480" cy="114228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Shape 13"/>
          <p:cNvSpPr/>
          <p:nvPr/>
        </p:nvSpPr>
        <p:spPr>
          <a:xfrm>
            <a:off x="777240" y="3429000"/>
            <a:ext cx="72360" cy="1142280"/>
          </a:xfrm>
          <a:prstGeom prst="rect">
            <a:avLst/>
          </a:prstGeom>
          <a:solidFill>
            <a:srgbClr val="f08a24"/>
          </a:solidFill>
          <a:ln w="12700">
            <a:solidFill>
              <a:srgbClr val="f08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Text 14"/>
          <p:cNvSpPr/>
          <p:nvPr/>
        </p:nvSpPr>
        <p:spPr>
          <a:xfrm>
            <a:off x="941760" y="3547800"/>
            <a:ext cx="3611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238"/>
                </a:solidFill>
                <a:latin typeface="Aptos"/>
              </a:rPr>
              <a:t>Ejemplo de uso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Text 15"/>
          <p:cNvSpPr/>
          <p:nvPr/>
        </p:nvSpPr>
        <p:spPr>
          <a:xfrm>
            <a:off x="941760" y="3904560"/>
            <a:ext cx="358380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Clasificación de tickets, extracción de campos, priorización o respuesta en JSON.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Componentes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9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560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28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Chain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Secuencia de pasos conectados.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Shape 6"/>
          <p:cNvSpPr/>
          <p:nvPr/>
        </p:nvSpPr>
        <p:spPr>
          <a:xfrm>
            <a:off x="777240" y="1645920"/>
            <a:ext cx="3885480" cy="13708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7"/>
          <p:cNvSpPr/>
          <p:nvPr/>
        </p:nvSpPr>
        <p:spPr>
          <a:xfrm>
            <a:off x="777240" y="1645920"/>
            <a:ext cx="72360" cy="1370880"/>
          </a:xfrm>
          <a:prstGeom prst="rect">
            <a:avLst/>
          </a:prstGeom>
          <a:solidFill>
            <a:srgbClr val="245c94"/>
          </a:solidFill>
          <a:ln w="1270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" name="Text 8"/>
          <p:cNvSpPr/>
          <p:nvPr/>
        </p:nvSpPr>
        <p:spPr>
          <a:xfrm>
            <a:off x="941760" y="1764720"/>
            <a:ext cx="3611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32238"/>
                </a:solidFill>
                <a:latin typeface="Aptos"/>
              </a:rPr>
              <a:t>Qué 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Text 9"/>
          <p:cNvSpPr/>
          <p:nvPr/>
        </p:nvSpPr>
        <p:spPr>
          <a:xfrm>
            <a:off x="941760" y="2121480"/>
            <a:ext cx="358380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Aptos"/>
              </a:rPr>
              <a:t>Une prompt, modelo, parser y otros componentes en un flujo legible y reutilizable.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Shape 10"/>
          <p:cNvSpPr/>
          <p:nvPr/>
        </p:nvSpPr>
        <p:spPr>
          <a:xfrm>
            <a:off x="5074920" y="1645920"/>
            <a:ext cx="6262920" cy="2559600"/>
          </a:xfrm>
          <a:prstGeom prst="roundRect">
            <a:avLst>
              <a:gd name="adj" fmla="val 2857"/>
            </a:avLst>
          </a:prstGeom>
          <a:solidFill>
            <a:srgbClr val="0b1220"/>
          </a:solidFill>
          <a:ln w="10160">
            <a:solidFill>
              <a:srgbClr val="18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Text 11"/>
          <p:cNvSpPr/>
          <p:nvPr/>
        </p:nvSpPr>
        <p:spPr>
          <a:xfrm>
            <a:off x="5239440" y="1783080"/>
            <a:ext cx="593388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parser = StrOutputParser()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chain = prompt | model | parser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respuesta = chain.invoke({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  </a:t>
            </a: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"texto": correo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})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Shape 12"/>
          <p:cNvSpPr/>
          <p:nvPr/>
        </p:nvSpPr>
        <p:spPr>
          <a:xfrm>
            <a:off x="777240" y="3429000"/>
            <a:ext cx="3885480" cy="114228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Shape 13"/>
          <p:cNvSpPr/>
          <p:nvPr/>
        </p:nvSpPr>
        <p:spPr>
          <a:xfrm>
            <a:off x="777240" y="3429000"/>
            <a:ext cx="72360" cy="1142280"/>
          </a:xfrm>
          <a:prstGeom prst="rect">
            <a:avLst/>
          </a:prstGeom>
          <a:solidFill>
            <a:srgbClr val="245c94"/>
          </a:solidFill>
          <a:ln w="1270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" name="Text 14"/>
          <p:cNvSpPr/>
          <p:nvPr/>
        </p:nvSpPr>
        <p:spPr>
          <a:xfrm>
            <a:off x="941760" y="3547800"/>
            <a:ext cx="3611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238"/>
                </a:solidFill>
                <a:latin typeface="Aptos"/>
              </a:rPr>
              <a:t>Ejemplo de uso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Text 15"/>
          <p:cNvSpPr/>
          <p:nvPr/>
        </p:nvSpPr>
        <p:spPr>
          <a:xfrm>
            <a:off x="941760" y="3904560"/>
            <a:ext cx="358380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Ideal cuando la ruta es clara: input → prompt → modelo → salida validable.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Componentes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6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577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29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Retriever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Busca contexto relevante antes de llamar al modelo.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6"/>
          <p:cNvSpPr/>
          <p:nvPr/>
        </p:nvSpPr>
        <p:spPr>
          <a:xfrm>
            <a:off x="777240" y="1645920"/>
            <a:ext cx="3885480" cy="13708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Shape 7"/>
          <p:cNvSpPr/>
          <p:nvPr/>
        </p:nvSpPr>
        <p:spPr>
          <a:xfrm>
            <a:off x="777240" y="1645920"/>
            <a:ext cx="72360" cy="1370880"/>
          </a:xfrm>
          <a:prstGeom prst="rect">
            <a:avLst/>
          </a:prstGeom>
          <a:solidFill>
            <a:srgbClr val="2d8a55"/>
          </a:solidFill>
          <a:ln w="1270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Text 8"/>
          <p:cNvSpPr/>
          <p:nvPr/>
        </p:nvSpPr>
        <p:spPr>
          <a:xfrm>
            <a:off x="941760" y="1764720"/>
            <a:ext cx="3611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32238"/>
                </a:solidFill>
                <a:latin typeface="Aptos"/>
              </a:rPr>
              <a:t>Qué 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Text 9"/>
          <p:cNvSpPr/>
          <p:nvPr/>
        </p:nvSpPr>
        <p:spPr>
          <a:xfrm>
            <a:off x="941760" y="2121480"/>
            <a:ext cx="358380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Aptos"/>
              </a:rPr>
              <a:t>No responde; selecciona fragmentos o documentos que luego entran al prompt.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Shape 10"/>
          <p:cNvSpPr/>
          <p:nvPr/>
        </p:nvSpPr>
        <p:spPr>
          <a:xfrm>
            <a:off x="5074920" y="1645920"/>
            <a:ext cx="6262920" cy="2559600"/>
          </a:xfrm>
          <a:prstGeom prst="roundRect">
            <a:avLst>
              <a:gd name="adj" fmla="val 2857"/>
            </a:avLst>
          </a:prstGeom>
          <a:solidFill>
            <a:srgbClr val="0b1220"/>
          </a:solidFill>
          <a:ln w="10160">
            <a:solidFill>
              <a:srgbClr val="18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Text 11"/>
          <p:cNvSpPr/>
          <p:nvPr/>
        </p:nvSpPr>
        <p:spPr>
          <a:xfrm>
            <a:off x="5239440" y="1783080"/>
            <a:ext cx="593388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retriever = vectorstore.as_retriever(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  </a:t>
            </a: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search_kwargs={"k": 4}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)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docs = retriever.invoke(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  </a:t>
            </a: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"¿Cuál es la política de acceso?"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)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Shape 12"/>
          <p:cNvSpPr/>
          <p:nvPr/>
        </p:nvSpPr>
        <p:spPr>
          <a:xfrm>
            <a:off x="777240" y="3429000"/>
            <a:ext cx="3885480" cy="114228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13"/>
          <p:cNvSpPr/>
          <p:nvPr/>
        </p:nvSpPr>
        <p:spPr>
          <a:xfrm>
            <a:off x="777240" y="3429000"/>
            <a:ext cx="72360" cy="1142280"/>
          </a:xfrm>
          <a:prstGeom prst="rect">
            <a:avLst/>
          </a:prstGeom>
          <a:solidFill>
            <a:srgbClr val="2d8a55"/>
          </a:solidFill>
          <a:ln w="1270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Text 14"/>
          <p:cNvSpPr/>
          <p:nvPr/>
        </p:nvSpPr>
        <p:spPr>
          <a:xfrm>
            <a:off x="941760" y="3547800"/>
            <a:ext cx="3611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238"/>
                </a:solidFill>
                <a:latin typeface="Aptos"/>
              </a:rPr>
              <a:t>Ejemplo de uso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Text 15"/>
          <p:cNvSpPr/>
          <p:nvPr/>
        </p:nvSpPr>
        <p:spPr>
          <a:xfrm>
            <a:off x="941760" y="3904560"/>
            <a:ext cx="358380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Preguntas sobre políticas, manuales, contratos o reglamentos.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Componentes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3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594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30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Tool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Función controlada para consultar o actuar.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Shape 6"/>
          <p:cNvSpPr/>
          <p:nvPr/>
        </p:nvSpPr>
        <p:spPr>
          <a:xfrm>
            <a:off x="777240" y="1645920"/>
            <a:ext cx="3885480" cy="13708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Shape 7"/>
          <p:cNvSpPr/>
          <p:nvPr/>
        </p:nvSpPr>
        <p:spPr>
          <a:xfrm>
            <a:off x="777240" y="1645920"/>
            <a:ext cx="72360" cy="1370880"/>
          </a:xfrm>
          <a:prstGeom prst="rect">
            <a:avLst/>
          </a:prstGeom>
          <a:solidFill>
            <a:srgbClr val="f08a24"/>
          </a:solidFill>
          <a:ln w="12700">
            <a:solidFill>
              <a:srgbClr val="f08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Text 8"/>
          <p:cNvSpPr/>
          <p:nvPr/>
        </p:nvSpPr>
        <p:spPr>
          <a:xfrm>
            <a:off x="941760" y="1764720"/>
            <a:ext cx="3611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32238"/>
                </a:solidFill>
                <a:latin typeface="Aptos"/>
              </a:rPr>
              <a:t>Qué 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Text 9"/>
          <p:cNvSpPr/>
          <p:nvPr/>
        </p:nvSpPr>
        <p:spPr>
          <a:xfrm>
            <a:off x="941760" y="2121480"/>
            <a:ext cx="358380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Aptos"/>
              </a:rPr>
              <a:t>Expone una capacidad específica, no acceso libre a sistemas. Debe tener entrada, salida y validación.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Shape 10"/>
          <p:cNvSpPr/>
          <p:nvPr/>
        </p:nvSpPr>
        <p:spPr>
          <a:xfrm>
            <a:off x="5074920" y="1645920"/>
            <a:ext cx="6262920" cy="2559600"/>
          </a:xfrm>
          <a:prstGeom prst="roundRect">
            <a:avLst>
              <a:gd name="adj" fmla="val 2857"/>
            </a:avLst>
          </a:prstGeom>
          <a:solidFill>
            <a:srgbClr val="0b1220"/>
          </a:solidFill>
          <a:ln w="10160">
            <a:solidFill>
              <a:srgbClr val="18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2" name="Text 11"/>
          <p:cNvSpPr/>
          <p:nvPr/>
        </p:nvSpPr>
        <p:spPr>
          <a:xfrm>
            <a:off x="5239440" y="1783080"/>
            <a:ext cx="593388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from langchain_core.tools import tool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@tool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def consultar_estado_pedido(id: str) -&gt; dict: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    </a:t>
            </a: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"""Consulta el estado de un pedido."""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    </a:t>
            </a: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return api_pedidos.buscar(id)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Shape 12"/>
          <p:cNvSpPr/>
          <p:nvPr/>
        </p:nvSpPr>
        <p:spPr>
          <a:xfrm>
            <a:off x="777240" y="3429000"/>
            <a:ext cx="3885480" cy="114228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hape 13"/>
          <p:cNvSpPr/>
          <p:nvPr/>
        </p:nvSpPr>
        <p:spPr>
          <a:xfrm>
            <a:off x="777240" y="3429000"/>
            <a:ext cx="72360" cy="1142280"/>
          </a:xfrm>
          <a:prstGeom prst="rect">
            <a:avLst/>
          </a:prstGeom>
          <a:solidFill>
            <a:srgbClr val="f08a24"/>
          </a:solidFill>
          <a:ln w="12700">
            <a:solidFill>
              <a:srgbClr val="f08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5" name="Text 14"/>
          <p:cNvSpPr/>
          <p:nvPr/>
        </p:nvSpPr>
        <p:spPr>
          <a:xfrm>
            <a:off x="941760" y="3547800"/>
            <a:ext cx="3611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238"/>
                </a:solidFill>
                <a:latin typeface="Aptos"/>
              </a:rPr>
              <a:t>Ejemplo de uso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Text 15"/>
          <p:cNvSpPr/>
          <p:nvPr/>
        </p:nvSpPr>
        <p:spPr>
          <a:xfrm>
            <a:off x="941760" y="3904560"/>
            <a:ext cx="358380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Consultar stock, estado de ticket, cliente, pedido o una regla de negocio.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Componentes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0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611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31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Agent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Sistema que puede decidir pasos o herramientas.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Shape 6"/>
          <p:cNvSpPr/>
          <p:nvPr/>
        </p:nvSpPr>
        <p:spPr>
          <a:xfrm>
            <a:off x="777240" y="1645920"/>
            <a:ext cx="3885480" cy="13708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Shape 7"/>
          <p:cNvSpPr/>
          <p:nvPr/>
        </p:nvSpPr>
        <p:spPr>
          <a:xfrm>
            <a:off x="777240" y="1645920"/>
            <a:ext cx="72360" cy="1370880"/>
          </a:xfrm>
          <a:prstGeom prst="rect">
            <a:avLst/>
          </a:prstGeom>
          <a:solidFill>
            <a:srgbClr val="5b4e9c"/>
          </a:solidFill>
          <a:ln w="12700">
            <a:solidFill>
              <a:srgbClr val="5b4e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6" name="Text 8"/>
          <p:cNvSpPr/>
          <p:nvPr/>
        </p:nvSpPr>
        <p:spPr>
          <a:xfrm>
            <a:off x="941760" y="1764720"/>
            <a:ext cx="3611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32238"/>
                </a:solidFill>
                <a:latin typeface="Aptos"/>
              </a:rPr>
              <a:t>Qué 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Text 9"/>
          <p:cNvSpPr/>
          <p:nvPr/>
        </p:nvSpPr>
        <p:spPr>
          <a:xfrm>
            <a:off x="941760" y="2121480"/>
            <a:ext cx="358380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Aptos"/>
              </a:rPr>
              <a:t>Útil cuando la ruta no está totalmente definida. Requiere límites, tools permitidas y trazabilidad.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Shape 10"/>
          <p:cNvSpPr/>
          <p:nvPr/>
        </p:nvSpPr>
        <p:spPr>
          <a:xfrm>
            <a:off x="5074920" y="1645920"/>
            <a:ext cx="6262920" cy="2559600"/>
          </a:xfrm>
          <a:prstGeom prst="roundRect">
            <a:avLst>
              <a:gd name="adj" fmla="val 2857"/>
            </a:avLst>
          </a:prstGeom>
          <a:solidFill>
            <a:srgbClr val="0b1220"/>
          </a:solidFill>
          <a:ln w="10160">
            <a:solidFill>
              <a:srgbClr val="18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9" name="Text 11"/>
          <p:cNvSpPr/>
          <p:nvPr/>
        </p:nvSpPr>
        <p:spPr>
          <a:xfrm>
            <a:off x="5239440" y="1783080"/>
            <a:ext cx="593388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agent = create_agent(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  </a:t>
            </a: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model=model,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  </a:t>
            </a: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tools=[consultar_stock, crear_ticket],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  </a:t>
            </a: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system_prompt="Usa tools solo si corresponde."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)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agent.invoke({"messages": [...]})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Shape 12"/>
          <p:cNvSpPr/>
          <p:nvPr/>
        </p:nvSpPr>
        <p:spPr>
          <a:xfrm>
            <a:off x="777240" y="3429000"/>
            <a:ext cx="3885480" cy="114228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Shape 13"/>
          <p:cNvSpPr/>
          <p:nvPr/>
        </p:nvSpPr>
        <p:spPr>
          <a:xfrm>
            <a:off x="777240" y="3429000"/>
            <a:ext cx="72360" cy="1142280"/>
          </a:xfrm>
          <a:prstGeom prst="rect">
            <a:avLst/>
          </a:prstGeom>
          <a:solidFill>
            <a:srgbClr val="5b4e9c"/>
          </a:solidFill>
          <a:ln w="12700">
            <a:solidFill>
              <a:srgbClr val="5b4e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2" name="Text 14"/>
          <p:cNvSpPr/>
          <p:nvPr/>
        </p:nvSpPr>
        <p:spPr>
          <a:xfrm>
            <a:off x="941760" y="3547800"/>
            <a:ext cx="3611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238"/>
                </a:solidFill>
                <a:latin typeface="Aptos"/>
              </a:rPr>
              <a:t>Ejemplo de uso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Text 15"/>
          <p:cNvSpPr/>
          <p:nvPr/>
        </p:nvSpPr>
        <p:spPr>
          <a:xfrm>
            <a:off x="941760" y="3904560"/>
            <a:ext cx="358380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Investigar una solicitud abierta que puede requerir buscar datos, pedir aclaración o proponer acción.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Componentes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7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628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32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Memoria / estado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Continuidad controlada entre interacciones.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Shape 6"/>
          <p:cNvSpPr/>
          <p:nvPr/>
        </p:nvSpPr>
        <p:spPr>
          <a:xfrm>
            <a:off x="777240" y="1645920"/>
            <a:ext cx="3885480" cy="13708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Shape 7"/>
          <p:cNvSpPr/>
          <p:nvPr/>
        </p:nvSpPr>
        <p:spPr>
          <a:xfrm>
            <a:off x="777240" y="1645920"/>
            <a:ext cx="72360" cy="1370880"/>
          </a:xfrm>
          <a:prstGeom prst="rect">
            <a:avLst/>
          </a:prstGeom>
          <a:solidFill>
            <a:srgbClr val="b6202a"/>
          </a:solidFill>
          <a:ln w="12700">
            <a:solidFill>
              <a:srgbClr val="b620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3" name="Text 8"/>
          <p:cNvSpPr/>
          <p:nvPr/>
        </p:nvSpPr>
        <p:spPr>
          <a:xfrm>
            <a:off x="941760" y="1764720"/>
            <a:ext cx="3611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32238"/>
                </a:solidFill>
                <a:latin typeface="Aptos"/>
              </a:rPr>
              <a:t>Qué 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Text 9"/>
          <p:cNvSpPr/>
          <p:nvPr/>
        </p:nvSpPr>
        <p:spPr>
          <a:xfrm>
            <a:off x="941760" y="2121480"/>
            <a:ext cx="358380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Aptos"/>
              </a:rPr>
              <a:t>La app decide qué historial, sesión o memoria enviar al modelo. Más contexto implica más tokens y riesgo.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Shape 10"/>
          <p:cNvSpPr/>
          <p:nvPr/>
        </p:nvSpPr>
        <p:spPr>
          <a:xfrm>
            <a:off x="5074920" y="1645920"/>
            <a:ext cx="6262920" cy="2559600"/>
          </a:xfrm>
          <a:prstGeom prst="roundRect">
            <a:avLst>
              <a:gd name="adj" fmla="val 2857"/>
            </a:avLst>
          </a:prstGeom>
          <a:solidFill>
            <a:srgbClr val="0b1220"/>
          </a:solidFill>
          <a:ln w="10160">
            <a:solidFill>
              <a:srgbClr val="18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6" name="Text 11"/>
          <p:cNvSpPr/>
          <p:nvPr/>
        </p:nvSpPr>
        <p:spPr>
          <a:xfrm>
            <a:off x="5239440" y="1783080"/>
            <a:ext cx="593388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historial_por_sesion[session_id].append(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  </a:t>
            </a: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{"role": "user", "content": pregunta}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)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9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e5e7eb"/>
                </a:solidFill>
                <a:latin typeface="Aptos Mono"/>
                <a:ea typeface="Aptos Mono"/>
              </a:rPr>
              <a:t>ultimos = historial_por_sesion[session_id][-6:]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Shape 12"/>
          <p:cNvSpPr/>
          <p:nvPr/>
        </p:nvSpPr>
        <p:spPr>
          <a:xfrm>
            <a:off x="777240" y="3429000"/>
            <a:ext cx="3885480" cy="114228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Shape 13"/>
          <p:cNvSpPr/>
          <p:nvPr/>
        </p:nvSpPr>
        <p:spPr>
          <a:xfrm>
            <a:off x="777240" y="3429000"/>
            <a:ext cx="72360" cy="1142280"/>
          </a:xfrm>
          <a:prstGeom prst="rect">
            <a:avLst/>
          </a:prstGeom>
          <a:solidFill>
            <a:srgbClr val="b6202a"/>
          </a:solidFill>
          <a:ln w="12700">
            <a:solidFill>
              <a:srgbClr val="b620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9" name="Text 14"/>
          <p:cNvSpPr/>
          <p:nvPr/>
        </p:nvSpPr>
        <p:spPr>
          <a:xfrm>
            <a:off x="941760" y="3547800"/>
            <a:ext cx="3611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238"/>
                </a:solidFill>
                <a:latin typeface="Aptos"/>
              </a:rPr>
              <a:t>Ejemplo de uso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Text 15"/>
          <p:cNvSpPr/>
          <p:nvPr/>
        </p:nvSpPr>
        <p:spPr>
          <a:xfrm>
            <a:off x="941760" y="3904560"/>
            <a:ext cx="358380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Chats internos, asistentes con conversación multi-turn o preferencias simples.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Shap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b6202a"/>
          </a:solidFill>
          <a:ln w="12700">
            <a:solidFill>
              <a:srgbClr val="b620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3" name="Text 2"/>
          <p:cNvSpPr/>
          <p:nvPr/>
        </p:nvSpPr>
        <p:spPr>
          <a:xfrm>
            <a:off x="685800" y="91440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b6202a"/>
                </a:solidFill>
                <a:latin typeface="Aptos"/>
              </a:rPr>
              <a:t>CRITERIO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Text 3"/>
          <p:cNvSpPr/>
          <p:nvPr/>
        </p:nvSpPr>
        <p:spPr>
          <a:xfrm>
            <a:off x="685800" y="1920240"/>
            <a:ext cx="10697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04 · Decidir el patrón correcto</a:t>
            </a:r>
            <a:endParaRPr b="0" lang="es-E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Text 4"/>
          <p:cNvSpPr/>
          <p:nvPr/>
        </p:nvSpPr>
        <p:spPr>
          <a:xfrm>
            <a:off x="704160" y="2788920"/>
            <a:ext cx="9966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4155"/>
                </a:solidFill>
                <a:latin typeface="Aptos"/>
              </a:rPr>
              <a:t>El corazón de la clase: cuándo usar API simple, chain, RAG, tool, agente o no usar IA.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6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378440" y="6080760"/>
            <a:ext cx="959400" cy="438120"/>
          </a:xfrm>
          <a:prstGeom prst="rect">
            <a:avLst/>
          </a:prstGeom>
          <a:ln w="0">
            <a:noFill/>
          </a:ln>
        </p:spPr>
      </p:pic>
      <p:sp>
        <p:nvSpPr>
          <p:cNvPr id="647" name="Text 5"/>
          <p:cNvSpPr/>
          <p:nvPr/>
        </p:nvSpPr>
        <p:spPr>
          <a:xfrm>
            <a:off x="1170432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17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Criterio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1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652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18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Matriz de decisión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El patrón se elige por necesidad, no por moda.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6"/>
          <p:cNvSpPr/>
          <p:nvPr/>
        </p:nvSpPr>
        <p:spPr>
          <a:xfrm>
            <a:off x="548640" y="1508760"/>
            <a:ext cx="3656880" cy="532800"/>
          </a:xfrm>
          <a:prstGeom prst="rect">
            <a:avLst/>
          </a:prstGeom>
          <a:solidFill>
            <a:srgbClr val="132238"/>
          </a:solidFill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6" name="Text 7"/>
          <p:cNvSpPr/>
          <p:nvPr/>
        </p:nvSpPr>
        <p:spPr>
          <a:xfrm>
            <a:off x="594360" y="1581840"/>
            <a:ext cx="3565440" cy="4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Aptos"/>
              </a:rPr>
              <a:t>Necesidad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Shape 8"/>
          <p:cNvSpPr/>
          <p:nvPr/>
        </p:nvSpPr>
        <p:spPr>
          <a:xfrm>
            <a:off x="4206240" y="1508760"/>
            <a:ext cx="2742480" cy="532800"/>
          </a:xfrm>
          <a:prstGeom prst="rect">
            <a:avLst/>
          </a:prstGeom>
          <a:solidFill>
            <a:srgbClr val="132238"/>
          </a:solidFill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8" name="Text 9"/>
          <p:cNvSpPr/>
          <p:nvPr/>
        </p:nvSpPr>
        <p:spPr>
          <a:xfrm>
            <a:off x="4251960" y="1581840"/>
            <a:ext cx="2651040" cy="4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Aptos"/>
              </a:rPr>
              <a:t>Patrón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10"/>
          <p:cNvSpPr/>
          <p:nvPr/>
        </p:nvSpPr>
        <p:spPr>
          <a:xfrm>
            <a:off x="6949440" y="1508760"/>
            <a:ext cx="4662720" cy="532800"/>
          </a:xfrm>
          <a:prstGeom prst="rect">
            <a:avLst/>
          </a:prstGeom>
          <a:solidFill>
            <a:srgbClr val="132238"/>
          </a:solidFill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0" name="Text 11"/>
          <p:cNvSpPr/>
          <p:nvPr/>
        </p:nvSpPr>
        <p:spPr>
          <a:xfrm>
            <a:off x="6995160" y="1581840"/>
            <a:ext cx="4571280" cy="4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Aptos"/>
              </a:rPr>
              <a:t>Justificación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Shape 12"/>
          <p:cNvSpPr/>
          <p:nvPr/>
        </p:nvSpPr>
        <p:spPr>
          <a:xfrm>
            <a:off x="548640" y="2042280"/>
            <a:ext cx="3656880" cy="532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Text 13"/>
          <p:cNvSpPr/>
          <p:nvPr/>
        </p:nvSpPr>
        <p:spPr>
          <a:xfrm>
            <a:off x="594360" y="2088000"/>
            <a:ext cx="35654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9" spc="-1" strike="noStrike">
                <a:solidFill>
                  <a:srgbClr val="334155"/>
                </a:solidFill>
                <a:latin typeface="Aptos"/>
              </a:rPr>
              <a:t>Una tarea simple de texto</a:t>
            </a:r>
            <a:endParaRPr b="0" lang="es-ES" sz="9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Shape 14"/>
          <p:cNvSpPr/>
          <p:nvPr/>
        </p:nvSpPr>
        <p:spPr>
          <a:xfrm>
            <a:off x="4206240" y="2042280"/>
            <a:ext cx="2742480" cy="532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Text 15"/>
          <p:cNvSpPr/>
          <p:nvPr/>
        </p:nvSpPr>
        <p:spPr>
          <a:xfrm>
            <a:off x="4251960" y="2088000"/>
            <a:ext cx="26510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9" spc="-1" strike="noStrike">
                <a:solidFill>
                  <a:srgbClr val="334155"/>
                </a:solidFill>
                <a:latin typeface="Aptos"/>
              </a:rPr>
              <a:t>API simple</a:t>
            </a:r>
            <a:endParaRPr b="0" lang="es-ES" sz="9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Shape 16"/>
          <p:cNvSpPr/>
          <p:nvPr/>
        </p:nvSpPr>
        <p:spPr>
          <a:xfrm>
            <a:off x="6949440" y="2042280"/>
            <a:ext cx="4662720" cy="532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Text 17"/>
          <p:cNvSpPr/>
          <p:nvPr/>
        </p:nvSpPr>
        <p:spPr>
          <a:xfrm>
            <a:off x="6995160" y="2088000"/>
            <a:ext cx="457128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9" spc="-1" strike="noStrike">
                <a:solidFill>
                  <a:srgbClr val="334155"/>
                </a:solidFill>
                <a:latin typeface="Aptos"/>
              </a:rPr>
              <a:t>Menos complejidad y menor costo de mantenimiento.</a:t>
            </a:r>
            <a:endParaRPr b="0" lang="es-ES" sz="9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Shape 18"/>
          <p:cNvSpPr/>
          <p:nvPr/>
        </p:nvSpPr>
        <p:spPr>
          <a:xfrm>
            <a:off x="548640" y="2575440"/>
            <a:ext cx="3656880" cy="5328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Text 19"/>
          <p:cNvSpPr/>
          <p:nvPr/>
        </p:nvSpPr>
        <p:spPr>
          <a:xfrm>
            <a:off x="594360" y="2621160"/>
            <a:ext cx="35654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9" spc="-1" strike="noStrike">
                <a:solidFill>
                  <a:srgbClr val="334155"/>
                </a:solidFill>
                <a:latin typeface="Aptos"/>
              </a:rPr>
              <a:t>Prompt + modelo + parser reutilizable</a:t>
            </a:r>
            <a:endParaRPr b="0" lang="es-ES" sz="9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Shape 20"/>
          <p:cNvSpPr/>
          <p:nvPr/>
        </p:nvSpPr>
        <p:spPr>
          <a:xfrm>
            <a:off x="4206240" y="2575440"/>
            <a:ext cx="2742480" cy="5328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Text 21"/>
          <p:cNvSpPr/>
          <p:nvPr/>
        </p:nvSpPr>
        <p:spPr>
          <a:xfrm>
            <a:off x="4251960" y="2621160"/>
            <a:ext cx="26510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9" spc="-1" strike="noStrike">
                <a:solidFill>
                  <a:srgbClr val="334155"/>
                </a:solidFill>
                <a:latin typeface="Aptos"/>
              </a:rPr>
              <a:t>Chain</a:t>
            </a:r>
            <a:endParaRPr b="0" lang="es-ES" sz="9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Shape 22"/>
          <p:cNvSpPr/>
          <p:nvPr/>
        </p:nvSpPr>
        <p:spPr>
          <a:xfrm>
            <a:off x="6949440" y="2575440"/>
            <a:ext cx="4662720" cy="5328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Text 23"/>
          <p:cNvSpPr/>
          <p:nvPr/>
        </p:nvSpPr>
        <p:spPr>
          <a:xfrm>
            <a:off x="6995160" y="2621160"/>
            <a:ext cx="457128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9" spc="-1" strike="noStrike">
                <a:solidFill>
                  <a:srgbClr val="334155"/>
                </a:solidFill>
                <a:latin typeface="Aptos"/>
              </a:rPr>
              <a:t>Flujo ordenado, testeable y reemplazable.</a:t>
            </a:r>
            <a:endParaRPr b="0" lang="es-ES" sz="9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Shape 24"/>
          <p:cNvSpPr/>
          <p:nvPr/>
        </p:nvSpPr>
        <p:spPr>
          <a:xfrm>
            <a:off x="548640" y="3108960"/>
            <a:ext cx="3656880" cy="532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Text 25"/>
          <p:cNvSpPr/>
          <p:nvPr/>
        </p:nvSpPr>
        <p:spPr>
          <a:xfrm>
            <a:off x="594360" y="3154680"/>
            <a:ext cx="35654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9" spc="-1" strike="noStrike">
                <a:solidFill>
                  <a:srgbClr val="334155"/>
                </a:solidFill>
                <a:latin typeface="Aptos"/>
              </a:rPr>
              <a:t>Responder con documentos</a:t>
            </a:r>
            <a:endParaRPr b="0" lang="es-ES" sz="9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26"/>
          <p:cNvSpPr/>
          <p:nvPr/>
        </p:nvSpPr>
        <p:spPr>
          <a:xfrm>
            <a:off x="4206240" y="3108960"/>
            <a:ext cx="2742480" cy="532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Text 27"/>
          <p:cNvSpPr/>
          <p:nvPr/>
        </p:nvSpPr>
        <p:spPr>
          <a:xfrm>
            <a:off x="4251960" y="3154680"/>
            <a:ext cx="26510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9" spc="-1" strike="noStrike">
                <a:solidFill>
                  <a:srgbClr val="334155"/>
                </a:solidFill>
                <a:latin typeface="Aptos"/>
              </a:rPr>
              <a:t>RAG</a:t>
            </a:r>
            <a:endParaRPr b="0" lang="es-ES" sz="9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Shape 28"/>
          <p:cNvSpPr/>
          <p:nvPr/>
        </p:nvSpPr>
        <p:spPr>
          <a:xfrm>
            <a:off x="6949440" y="3108960"/>
            <a:ext cx="4662720" cy="532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Text 29"/>
          <p:cNvSpPr/>
          <p:nvPr/>
        </p:nvSpPr>
        <p:spPr>
          <a:xfrm>
            <a:off x="6995160" y="3154680"/>
            <a:ext cx="457128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9" spc="-1" strike="noStrike">
                <a:solidFill>
                  <a:srgbClr val="334155"/>
                </a:solidFill>
                <a:latin typeface="Aptos"/>
              </a:rPr>
              <a:t>Necesita evidencia externa recuperada.</a:t>
            </a:r>
            <a:endParaRPr b="0" lang="es-ES" sz="9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Shape 30"/>
          <p:cNvSpPr/>
          <p:nvPr/>
        </p:nvSpPr>
        <p:spPr>
          <a:xfrm>
            <a:off x="548640" y="3642480"/>
            <a:ext cx="3656880" cy="5328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Text 31"/>
          <p:cNvSpPr/>
          <p:nvPr/>
        </p:nvSpPr>
        <p:spPr>
          <a:xfrm>
            <a:off x="594360" y="3688200"/>
            <a:ext cx="35654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9" spc="-1" strike="noStrike">
                <a:solidFill>
                  <a:srgbClr val="334155"/>
                </a:solidFill>
                <a:latin typeface="Aptos"/>
              </a:rPr>
              <a:t>Consultar dato vivo</a:t>
            </a:r>
            <a:endParaRPr b="0" lang="es-ES" sz="9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Shape 32"/>
          <p:cNvSpPr/>
          <p:nvPr/>
        </p:nvSpPr>
        <p:spPr>
          <a:xfrm>
            <a:off x="4206240" y="3642480"/>
            <a:ext cx="2742480" cy="5328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Text 33"/>
          <p:cNvSpPr/>
          <p:nvPr/>
        </p:nvSpPr>
        <p:spPr>
          <a:xfrm>
            <a:off x="4251960" y="3688200"/>
            <a:ext cx="26510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9" spc="-1" strike="noStrike">
                <a:solidFill>
                  <a:srgbClr val="334155"/>
                </a:solidFill>
                <a:latin typeface="Aptos"/>
              </a:rPr>
              <a:t>Tool</a:t>
            </a:r>
            <a:endParaRPr b="0" lang="es-ES" sz="9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Shape 34"/>
          <p:cNvSpPr/>
          <p:nvPr/>
        </p:nvSpPr>
        <p:spPr>
          <a:xfrm>
            <a:off x="6949440" y="3642480"/>
            <a:ext cx="4662720" cy="5328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Text 35"/>
          <p:cNvSpPr/>
          <p:nvPr/>
        </p:nvSpPr>
        <p:spPr>
          <a:xfrm>
            <a:off x="6995160" y="3688200"/>
            <a:ext cx="457128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9" spc="-1" strike="noStrike">
                <a:solidFill>
                  <a:srgbClr val="334155"/>
                </a:solidFill>
                <a:latin typeface="Aptos"/>
              </a:rPr>
              <a:t>El dato está en un sistema externo.</a:t>
            </a:r>
            <a:endParaRPr b="0" lang="es-ES" sz="9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Shape 36"/>
          <p:cNvSpPr/>
          <p:nvPr/>
        </p:nvSpPr>
        <p:spPr>
          <a:xfrm>
            <a:off x="548640" y="4175640"/>
            <a:ext cx="3656880" cy="532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Text 37"/>
          <p:cNvSpPr/>
          <p:nvPr/>
        </p:nvSpPr>
        <p:spPr>
          <a:xfrm>
            <a:off x="594360" y="4221360"/>
            <a:ext cx="35654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9" spc="-1" strike="noStrike">
                <a:solidFill>
                  <a:srgbClr val="334155"/>
                </a:solidFill>
                <a:latin typeface="Aptos"/>
              </a:rPr>
              <a:t>Ejecutar acción controlada</a:t>
            </a:r>
            <a:endParaRPr b="0" lang="es-ES" sz="9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Shape 38"/>
          <p:cNvSpPr/>
          <p:nvPr/>
        </p:nvSpPr>
        <p:spPr>
          <a:xfrm>
            <a:off x="4206240" y="4175640"/>
            <a:ext cx="2742480" cy="532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Text 39"/>
          <p:cNvSpPr/>
          <p:nvPr/>
        </p:nvSpPr>
        <p:spPr>
          <a:xfrm>
            <a:off x="4251960" y="4221360"/>
            <a:ext cx="26510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9" spc="-1" strike="noStrike">
                <a:solidFill>
                  <a:srgbClr val="334155"/>
                </a:solidFill>
                <a:latin typeface="Aptos"/>
              </a:rPr>
              <a:t>Tool + validación</a:t>
            </a:r>
            <a:endParaRPr b="0" lang="es-ES" sz="9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Shape 40"/>
          <p:cNvSpPr/>
          <p:nvPr/>
        </p:nvSpPr>
        <p:spPr>
          <a:xfrm>
            <a:off x="6949440" y="4175640"/>
            <a:ext cx="4662720" cy="532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Text 41"/>
          <p:cNvSpPr/>
          <p:nvPr/>
        </p:nvSpPr>
        <p:spPr>
          <a:xfrm>
            <a:off x="6995160" y="4221360"/>
            <a:ext cx="457128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9" spc="-1" strike="noStrike">
                <a:solidFill>
                  <a:srgbClr val="334155"/>
                </a:solidFill>
                <a:latin typeface="Aptos"/>
              </a:rPr>
              <a:t>Hay riesgo operacional y permisos.</a:t>
            </a:r>
            <a:endParaRPr b="0" lang="es-ES" sz="9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Shape 42"/>
          <p:cNvSpPr/>
          <p:nvPr/>
        </p:nvSpPr>
        <p:spPr>
          <a:xfrm>
            <a:off x="548640" y="4709160"/>
            <a:ext cx="3656880" cy="5328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Text 43"/>
          <p:cNvSpPr/>
          <p:nvPr/>
        </p:nvSpPr>
        <p:spPr>
          <a:xfrm>
            <a:off x="594360" y="4754880"/>
            <a:ext cx="35654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9" spc="-1" strike="noStrike">
                <a:solidFill>
                  <a:srgbClr val="334155"/>
                </a:solidFill>
                <a:latin typeface="Aptos"/>
              </a:rPr>
              <a:t>Decidir entre varios pasos</a:t>
            </a:r>
            <a:endParaRPr b="0" lang="es-ES" sz="9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Shape 44"/>
          <p:cNvSpPr/>
          <p:nvPr/>
        </p:nvSpPr>
        <p:spPr>
          <a:xfrm>
            <a:off x="4206240" y="4709160"/>
            <a:ext cx="2742480" cy="5328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Text 45"/>
          <p:cNvSpPr/>
          <p:nvPr/>
        </p:nvSpPr>
        <p:spPr>
          <a:xfrm>
            <a:off x="4251960" y="4754880"/>
            <a:ext cx="26510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9" spc="-1" strike="noStrike">
                <a:solidFill>
                  <a:srgbClr val="334155"/>
                </a:solidFill>
                <a:latin typeface="Aptos"/>
              </a:rPr>
              <a:t>Agente</a:t>
            </a:r>
            <a:endParaRPr b="0" lang="es-ES" sz="9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Shape 46"/>
          <p:cNvSpPr/>
          <p:nvPr/>
        </p:nvSpPr>
        <p:spPr>
          <a:xfrm>
            <a:off x="6949440" y="4709160"/>
            <a:ext cx="4662720" cy="5328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Text 47"/>
          <p:cNvSpPr/>
          <p:nvPr/>
        </p:nvSpPr>
        <p:spPr>
          <a:xfrm>
            <a:off x="6995160" y="4754880"/>
            <a:ext cx="457128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9" spc="-1" strike="noStrike">
                <a:solidFill>
                  <a:srgbClr val="334155"/>
                </a:solidFill>
                <a:latin typeface="Aptos"/>
              </a:rPr>
              <a:t>La ruta no es fija de antemano.</a:t>
            </a:r>
            <a:endParaRPr b="0" lang="es-ES" sz="9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Shape 48"/>
          <p:cNvSpPr/>
          <p:nvPr/>
        </p:nvSpPr>
        <p:spPr>
          <a:xfrm>
            <a:off x="548640" y="5242680"/>
            <a:ext cx="3656880" cy="532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Text 49"/>
          <p:cNvSpPr/>
          <p:nvPr/>
        </p:nvSpPr>
        <p:spPr>
          <a:xfrm>
            <a:off x="594360" y="5288400"/>
            <a:ext cx="35654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9" spc="-1" strike="noStrike">
                <a:solidFill>
                  <a:srgbClr val="334155"/>
                </a:solidFill>
                <a:latin typeface="Aptos"/>
              </a:rPr>
              <a:t>Decisión crítica</a:t>
            </a:r>
            <a:endParaRPr b="0" lang="es-ES" sz="9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Shape 50"/>
          <p:cNvSpPr/>
          <p:nvPr/>
        </p:nvSpPr>
        <p:spPr>
          <a:xfrm>
            <a:off x="4206240" y="5242680"/>
            <a:ext cx="2742480" cy="532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Text 51"/>
          <p:cNvSpPr/>
          <p:nvPr/>
        </p:nvSpPr>
        <p:spPr>
          <a:xfrm>
            <a:off x="4251960" y="5288400"/>
            <a:ext cx="26510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9" spc="-1" strike="noStrike">
                <a:solidFill>
                  <a:srgbClr val="334155"/>
                </a:solidFill>
                <a:latin typeface="Aptos"/>
              </a:rPr>
              <a:t>Workflow + humano</a:t>
            </a:r>
            <a:endParaRPr b="0" lang="es-ES" sz="9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Shape 52"/>
          <p:cNvSpPr/>
          <p:nvPr/>
        </p:nvSpPr>
        <p:spPr>
          <a:xfrm>
            <a:off x="6949440" y="5242680"/>
            <a:ext cx="4662720" cy="5328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Text 53"/>
          <p:cNvSpPr/>
          <p:nvPr/>
        </p:nvSpPr>
        <p:spPr>
          <a:xfrm>
            <a:off x="6995160" y="5288400"/>
            <a:ext cx="457128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9" spc="-1" strike="noStrike">
                <a:solidFill>
                  <a:srgbClr val="334155"/>
                </a:solidFill>
                <a:latin typeface="Aptos"/>
              </a:rPr>
              <a:t>Responsabilidad y control.</a:t>
            </a:r>
            <a:endParaRPr b="0" lang="es-ES" sz="9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Shape 54"/>
          <p:cNvSpPr/>
          <p:nvPr/>
        </p:nvSpPr>
        <p:spPr>
          <a:xfrm>
            <a:off x="548640" y="5775840"/>
            <a:ext cx="3656880" cy="5328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Text 55"/>
          <p:cNvSpPr/>
          <p:nvPr/>
        </p:nvSpPr>
        <p:spPr>
          <a:xfrm>
            <a:off x="594360" y="5821560"/>
            <a:ext cx="35654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9" spc="-1" strike="noStrike">
                <a:solidFill>
                  <a:srgbClr val="334155"/>
                </a:solidFill>
                <a:latin typeface="Aptos"/>
              </a:rPr>
              <a:t>Solo visualizar KPIs</a:t>
            </a:r>
            <a:endParaRPr b="0" lang="es-ES" sz="9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Shape 56"/>
          <p:cNvSpPr/>
          <p:nvPr/>
        </p:nvSpPr>
        <p:spPr>
          <a:xfrm>
            <a:off x="4206240" y="5775840"/>
            <a:ext cx="2742480" cy="5328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Text 57"/>
          <p:cNvSpPr/>
          <p:nvPr/>
        </p:nvSpPr>
        <p:spPr>
          <a:xfrm>
            <a:off x="4251960" y="5821560"/>
            <a:ext cx="26510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9" spc="-1" strike="noStrike">
                <a:solidFill>
                  <a:srgbClr val="334155"/>
                </a:solidFill>
                <a:latin typeface="Aptos"/>
              </a:rPr>
              <a:t>Dashboard sin IA</a:t>
            </a:r>
            <a:endParaRPr b="0" lang="es-ES" sz="9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Shape 58"/>
          <p:cNvSpPr/>
          <p:nvPr/>
        </p:nvSpPr>
        <p:spPr>
          <a:xfrm>
            <a:off x="6949440" y="5775840"/>
            <a:ext cx="4662720" cy="5328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Text 59"/>
          <p:cNvSpPr/>
          <p:nvPr/>
        </p:nvSpPr>
        <p:spPr>
          <a:xfrm>
            <a:off x="6995160" y="5821560"/>
            <a:ext cx="457128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9" spc="-1" strike="noStrike">
                <a:solidFill>
                  <a:srgbClr val="334155"/>
                </a:solidFill>
                <a:latin typeface="Aptos"/>
              </a:rPr>
              <a:t>IA no agrega valor real al cálculo.</a:t>
            </a:r>
            <a:endParaRPr b="0" lang="es-ES" sz="989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Criterio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2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713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19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Diez ejemplos frecuentes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Patrones probables en empresas, instituciones y procesos operativos.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Shape 6"/>
          <p:cNvSpPr/>
          <p:nvPr/>
        </p:nvSpPr>
        <p:spPr>
          <a:xfrm>
            <a:off x="822960" y="1600200"/>
            <a:ext cx="2925360" cy="776520"/>
          </a:xfrm>
          <a:prstGeom prst="rect">
            <a:avLst/>
          </a:prstGeom>
          <a:solidFill>
            <a:srgbClr val="132238"/>
          </a:solidFill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7" name="Text 7"/>
          <p:cNvSpPr/>
          <p:nvPr/>
        </p:nvSpPr>
        <p:spPr>
          <a:xfrm>
            <a:off x="868680" y="1673280"/>
            <a:ext cx="2833920" cy="6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Aptos"/>
              </a:rPr>
              <a:t>Caso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Shape 8"/>
          <p:cNvSpPr/>
          <p:nvPr/>
        </p:nvSpPr>
        <p:spPr>
          <a:xfrm>
            <a:off x="3749040" y="1600200"/>
            <a:ext cx="2102400" cy="776520"/>
          </a:xfrm>
          <a:prstGeom prst="rect">
            <a:avLst/>
          </a:prstGeom>
          <a:solidFill>
            <a:srgbClr val="132238"/>
          </a:solidFill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9" name="Text 9"/>
          <p:cNvSpPr/>
          <p:nvPr/>
        </p:nvSpPr>
        <p:spPr>
          <a:xfrm>
            <a:off x="3794760" y="1673280"/>
            <a:ext cx="2010960" cy="6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Aptos"/>
              </a:rPr>
              <a:t>Solución recomendada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Shape 10"/>
          <p:cNvSpPr/>
          <p:nvPr/>
        </p:nvSpPr>
        <p:spPr>
          <a:xfrm>
            <a:off x="822960" y="2377440"/>
            <a:ext cx="2925360" cy="776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Text 11"/>
          <p:cNvSpPr/>
          <p:nvPr/>
        </p:nvSpPr>
        <p:spPr>
          <a:xfrm>
            <a:off x="868680" y="2423160"/>
            <a:ext cx="2833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Aptos"/>
              </a:rPr>
              <a:t>Resumir correo interno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Shape 12"/>
          <p:cNvSpPr/>
          <p:nvPr/>
        </p:nvSpPr>
        <p:spPr>
          <a:xfrm>
            <a:off x="3749040" y="2377440"/>
            <a:ext cx="2102400" cy="776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Text 13"/>
          <p:cNvSpPr/>
          <p:nvPr/>
        </p:nvSpPr>
        <p:spPr>
          <a:xfrm>
            <a:off x="3794760" y="2423160"/>
            <a:ext cx="20109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Aptos"/>
              </a:rPr>
              <a:t>API simple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Shape 14"/>
          <p:cNvSpPr/>
          <p:nvPr/>
        </p:nvSpPr>
        <p:spPr>
          <a:xfrm>
            <a:off x="822960" y="3154680"/>
            <a:ext cx="2925360" cy="77652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Text 15"/>
          <p:cNvSpPr/>
          <p:nvPr/>
        </p:nvSpPr>
        <p:spPr>
          <a:xfrm>
            <a:off x="868680" y="3200400"/>
            <a:ext cx="2833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Aptos"/>
              </a:rPr>
              <a:t>Clasificar tickets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Shape 16"/>
          <p:cNvSpPr/>
          <p:nvPr/>
        </p:nvSpPr>
        <p:spPr>
          <a:xfrm>
            <a:off x="3749040" y="3154680"/>
            <a:ext cx="2102400" cy="77652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Text 17"/>
          <p:cNvSpPr/>
          <p:nvPr/>
        </p:nvSpPr>
        <p:spPr>
          <a:xfrm>
            <a:off x="3794760" y="3200400"/>
            <a:ext cx="20109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Aptos"/>
              </a:rPr>
              <a:t>Chain + structured output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Shape 18"/>
          <p:cNvSpPr/>
          <p:nvPr/>
        </p:nvSpPr>
        <p:spPr>
          <a:xfrm>
            <a:off x="822960" y="3931920"/>
            <a:ext cx="2925360" cy="776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Text 19"/>
          <p:cNvSpPr/>
          <p:nvPr/>
        </p:nvSpPr>
        <p:spPr>
          <a:xfrm>
            <a:off x="868680" y="3977640"/>
            <a:ext cx="2833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Aptos"/>
              </a:rPr>
              <a:t>Extraer PDF a Excel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Shape 20"/>
          <p:cNvSpPr/>
          <p:nvPr/>
        </p:nvSpPr>
        <p:spPr>
          <a:xfrm>
            <a:off x="3749040" y="3931920"/>
            <a:ext cx="2102400" cy="776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Text 21"/>
          <p:cNvSpPr/>
          <p:nvPr/>
        </p:nvSpPr>
        <p:spPr>
          <a:xfrm>
            <a:off x="3794760" y="3977640"/>
            <a:ext cx="20109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Aptos"/>
              </a:rPr>
              <a:t>Chain de extracción + parser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Shape 22"/>
          <p:cNvSpPr/>
          <p:nvPr/>
        </p:nvSpPr>
        <p:spPr>
          <a:xfrm>
            <a:off x="822960" y="4709160"/>
            <a:ext cx="2925360" cy="77652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Text 23"/>
          <p:cNvSpPr/>
          <p:nvPr/>
        </p:nvSpPr>
        <p:spPr>
          <a:xfrm>
            <a:off x="868680" y="4754880"/>
            <a:ext cx="2833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Aptos"/>
              </a:rPr>
              <a:t>Responder reglamento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Shape 24"/>
          <p:cNvSpPr/>
          <p:nvPr/>
        </p:nvSpPr>
        <p:spPr>
          <a:xfrm>
            <a:off x="3749040" y="4709160"/>
            <a:ext cx="2102400" cy="77652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Text 25"/>
          <p:cNvSpPr/>
          <p:nvPr/>
        </p:nvSpPr>
        <p:spPr>
          <a:xfrm>
            <a:off x="3794760" y="4754880"/>
            <a:ext cx="20109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Aptos"/>
              </a:rPr>
              <a:t>RAG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Shape 26"/>
          <p:cNvSpPr/>
          <p:nvPr/>
        </p:nvSpPr>
        <p:spPr>
          <a:xfrm>
            <a:off x="822960" y="5486400"/>
            <a:ext cx="2925360" cy="776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Text 27"/>
          <p:cNvSpPr/>
          <p:nvPr/>
        </p:nvSpPr>
        <p:spPr>
          <a:xfrm>
            <a:off x="868680" y="5532120"/>
            <a:ext cx="2833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Aptos"/>
              </a:rPr>
              <a:t>Buscar política vigente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Shape 28"/>
          <p:cNvSpPr/>
          <p:nvPr/>
        </p:nvSpPr>
        <p:spPr>
          <a:xfrm>
            <a:off x="3749040" y="5486400"/>
            <a:ext cx="2102400" cy="776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Text 29"/>
          <p:cNvSpPr/>
          <p:nvPr/>
        </p:nvSpPr>
        <p:spPr>
          <a:xfrm>
            <a:off x="3794760" y="5532120"/>
            <a:ext cx="20109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Aptos"/>
              </a:rPr>
              <a:t>RAG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Shape 30"/>
          <p:cNvSpPr/>
          <p:nvPr/>
        </p:nvSpPr>
        <p:spPr>
          <a:xfrm>
            <a:off x="6263640" y="1600200"/>
            <a:ext cx="2925360" cy="776520"/>
          </a:xfrm>
          <a:prstGeom prst="rect">
            <a:avLst/>
          </a:prstGeom>
          <a:solidFill>
            <a:srgbClr val="245c94"/>
          </a:solidFill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1" name="Text 31"/>
          <p:cNvSpPr/>
          <p:nvPr/>
        </p:nvSpPr>
        <p:spPr>
          <a:xfrm>
            <a:off x="6309360" y="1673280"/>
            <a:ext cx="2833920" cy="6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Aptos"/>
              </a:rPr>
              <a:t>Caso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Shape 32"/>
          <p:cNvSpPr/>
          <p:nvPr/>
        </p:nvSpPr>
        <p:spPr>
          <a:xfrm>
            <a:off x="9189720" y="1600200"/>
            <a:ext cx="2148120" cy="776520"/>
          </a:xfrm>
          <a:prstGeom prst="rect">
            <a:avLst/>
          </a:prstGeom>
          <a:solidFill>
            <a:srgbClr val="245c94"/>
          </a:solidFill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3" name="Text 33"/>
          <p:cNvSpPr/>
          <p:nvPr/>
        </p:nvSpPr>
        <p:spPr>
          <a:xfrm>
            <a:off x="9235440" y="1673280"/>
            <a:ext cx="2056680" cy="6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Aptos"/>
              </a:rPr>
              <a:t>Solución recomendada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Shape 34"/>
          <p:cNvSpPr/>
          <p:nvPr/>
        </p:nvSpPr>
        <p:spPr>
          <a:xfrm>
            <a:off x="6263640" y="2377440"/>
            <a:ext cx="2925360" cy="776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Text 35"/>
          <p:cNvSpPr/>
          <p:nvPr/>
        </p:nvSpPr>
        <p:spPr>
          <a:xfrm>
            <a:off x="6309360" y="2423160"/>
            <a:ext cx="2833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Aptos"/>
              </a:rPr>
              <a:t>Consultar estado ERP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Shape 36"/>
          <p:cNvSpPr/>
          <p:nvPr/>
        </p:nvSpPr>
        <p:spPr>
          <a:xfrm>
            <a:off x="9189720" y="2377440"/>
            <a:ext cx="2148120" cy="776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Text 37"/>
          <p:cNvSpPr/>
          <p:nvPr/>
        </p:nvSpPr>
        <p:spPr>
          <a:xfrm>
            <a:off x="9235440" y="2423160"/>
            <a:ext cx="2056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Aptos"/>
              </a:rPr>
              <a:t>Tool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Shape 38"/>
          <p:cNvSpPr/>
          <p:nvPr/>
        </p:nvSpPr>
        <p:spPr>
          <a:xfrm>
            <a:off x="6263640" y="3154680"/>
            <a:ext cx="2925360" cy="77652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Text 39"/>
          <p:cNvSpPr/>
          <p:nvPr/>
        </p:nvSpPr>
        <p:spPr>
          <a:xfrm>
            <a:off x="6309360" y="3200400"/>
            <a:ext cx="2833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Aptos"/>
              </a:rPr>
              <a:t>Crear ticket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Shape 40"/>
          <p:cNvSpPr/>
          <p:nvPr/>
        </p:nvSpPr>
        <p:spPr>
          <a:xfrm>
            <a:off x="9189720" y="3154680"/>
            <a:ext cx="2148120" cy="77652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Text 41"/>
          <p:cNvSpPr/>
          <p:nvPr/>
        </p:nvSpPr>
        <p:spPr>
          <a:xfrm>
            <a:off x="9235440" y="3200400"/>
            <a:ext cx="2056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Aptos"/>
              </a:rPr>
              <a:t>Tool + validación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Shape 42"/>
          <p:cNvSpPr/>
          <p:nvPr/>
        </p:nvSpPr>
        <p:spPr>
          <a:xfrm>
            <a:off x="6263640" y="3931920"/>
            <a:ext cx="2925360" cy="776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Text 43"/>
          <p:cNvSpPr/>
          <p:nvPr/>
        </p:nvSpPr>
        <p:spPr>
          <a:xfrm>
            <a:off x="6309360" y="3977640"/>
            <a:ext cx="2833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Aptos"/>
              </a:rPr>
              <a:t>KPIs con alerta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Shape 44"/>
          <p:cNvSpPr/>
          <p:nvPr/>
        </p:nvSpPr>
        <p:spPr>
          <a:xfrm>
            <a:off x="9189720" y="3931920"/>
            <a:ext cx="2148120" cy="776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Text 45"/>
          <p:cNvSpPr/>
          <p:nvPr/>
        </p:nvSpPr>
        <p:spPr>
          <a:xfrm>
            <a:off x="9235440" y="3977640"/>
            <a:ext cx="2056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Aptos"/>
              </a:rPr>
              <a:t>Reglas + LLM explicativo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Shape 46"/>
          <p:cNvSpPr/>
          <p:nvPr/>
        </p:nvSpPr>
        <p:spPr>
          <a:xfrm>
            <a:off x="6263640" y="4709160"/>
            <a:ext cx="2925360" cy="77652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Text 47"/>
          <p:cNvSpPr/>
          <p:nvPr/>
        </p:nvSpPr>
        <p:spPr>
          <a:xfrm>
            <a:off x="6309360" y="4754880"/>
            <a:ext cx="2833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Aptos"/>
              </a:rPr>
              <a:t>Incidente multi-fuente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Shape 48"/>
          <p:cNvSpPr/>
          <p:nvPr/>
        </p:nvSpPr>
        <p:spPr>
          <a:xfrm>
            <a:off x="9189720" y="4709160"/>
            <a:ext cx="2148120" cy="77652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Text 49"/>
          <p:cNvSpPr/>
          <p:nvPr/>
        </p:nvSpPr>
        <p:spPr>
          <a:xfrm>
            <a:off x="9235440" y="4754880"/>
            <a:ext cx="2056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Aptos"/>
              </a:rPr>
              <a:t>Agente controlado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Shape 50"/>
          <p:cNvSpPr/>
          <p:nvPr/>
        </p:nvSpPr>
        <p:spPr>
          <a:xfrm>
            <a:off x="6263640" y="5486400"/>
            <a:ext cx="2925360" cy="776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Text 51"/>
          <p:cNvSpPr/>
          <p:nvPr/>
        </p:nvSpPr>
        <p:spPr>
          <a:xfrm>
            <a:off x="6309360" y="5532120"/>
            <a:ext cx="28339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Aptos"/>
              </a:rPr>
              <a:t>Informe ejecutivo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Shape 52"/>
          <p:cNvSpPr/>
          <p:nvPr/>
        </p:nvSpPr>
        <p:spPr>
          <a:xfrm>
            <a:off x="9189720" y="5486400"/>
            <a:ext cx="2148120" cy="776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Text 53"/>
          <p:cNvSpPr/>
          <p:nvPr/>
        </p:nvSpPr>
        <p:spPr>
          <a:xfrm>
            <a:off x="9235440" y="5532120"/>
            <a:ext cx="2056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Aptos"/>
              </a:rPr>
              <a:t>Chain + gráficos fuera del LLM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Criterio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7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768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20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Cuándo NO usar inteligencia artificial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A veces la mejor solución es una regla, una query o un dashboard tradicional.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Shape 6"/>
          <p:cNvSpPr/>
          <p:nvPr/>
        </p:nvSpPr>
        <p:spPr>
          <a:xfrm>
            <a:off x="868680" y="1600200"/>
            <a:ext cx="5028480" cy="461520"/>
          </a:xfrm>
          <a:prstGeom prst="rect">
            <a:avLst/>
          </a:prstGeom>
          <a:solidFill>
            <a:srgbClr val="b6202a"/>
          </a:solidFill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2" name="Text 7"/>
          <p:cNvSpPr/>
          <p:nvPr/>
        </p:nvSpPr>
        <p:spPr>
          <a:xfrm>
            <a:off x="914400" y="1673280"/>
            <a:ext cx="493704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pc="-1" strike="noStrike">
                <a:solidFill>
                  <a:srgbClr val="ffffff"/>
                </a:solidFill>
                <a:latin typeface="Aptos"/>
              </a:rPr>
              <a:t>Situación</a:t>
            </a:r>
            <a:endParaRPr b="0" lang="es-E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Shape 8"/>
          <p:cNvSpPr/>
          <p:nvPr/>
        </p:nvSpPr>
        <p:spPr>
          <a:xfrm>
            <a:off x="5897880" y="1600200"/>
            <a:ext cx="5394240" cy="461520"/>
          </a:xfrm>
          <a:prstGeom prst="rect">
            <a:avLst/>
          </a:prstGeom>
          <a:solidFill>
            <a:srgbClr val="b6202a"/>
          </a:solidFill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4" name="Text 9"/>
          <p:cNvSpPr/>
          <p:nvPr/>
        </p:nvSpPr>
        <p:spPr>
          <a:xfrm>
            <a:off x="5943600" y="1673280"/>
            <a:ext cx="5302800" cy="35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pc="-1" strike="noStrike">
                <a:solidFill>
                  <a:srgbClr val="ffffff"/>
                </a:solidFill>
                <a:latin typeface="Aptos"/>
              </a:rPr>
              <a:t>Mejor alternativa</a:t>
            </a:r>
            <a:endParaRPr b="0" lang="es-E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Shape 10"/>
          <p:cNvSpPr/>
          <p:nvPr/>
        </p:nvSpPr>
        <p:spPr>
          <a:xfrm>
            <a:off x="868680" y="2062440"/>
            <a:ext cx="5028480" cy="46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Text 11"/>
          <p:cNvSpPr/>
          <p:nvPr/>
        </p:nvSpPr>
        <p:spPr>
          <a:xfrm>
            <a:off x="914400" y="2108160"/>
            <a:ext cx="493704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334155"/>
                </a:solidFill>
                <a:latin typeface="Aptos"/>
              </a:rPr>
              <a:t>Cálculo determinístico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Shape 12"/>
          <p:cNvSpPr/>
          <p:nvPr/>
        </p:nvSpPr>
        <p:spPr>
          <a:xfrm>
            <a:off x="5897880" y="2062440"/>
            <a:ext cx="5394240" cy="46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Text 13"/>
          <p:cNvSpPr/>
          <p:nvPr/>
        </p:nvSpPr>
        <p:spPr>
          <a:xfrm>
            <a:off x="5943600" y="2108160"/>
            <a:ext cx="530280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334155"/>
                </a:solidFill>
                <a:latin typeface="Aptos"/>
              </a:rPr>
              <a:t>Fórmula o regla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Shape 14"/>
          <p:cNvSpPr/>
          <p:nvPr/>
        </p:nvSpPr>
        <p:spPr>
          <a:xfrm>
            <a:off x="868680" y="2524680"/>
            <a:ext cx="5028480" cy="46152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Text 15"/>
          <p:cNvSpPr/>
          <p:nvPr/>
        </p:nvSpPr>
        <p:spPr>
          <a:xfrm>
            <a:off x="914400" y="2570400"/>
            <a:ext cx="493704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334155"/>
                </a:solidFill>
                <a:latin typeface="Aptos"/>
              </a:rPr>
              <a:t>Dashboard de KPIs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Shape 16"/>
          <p:cNvSpPr/>
          <p:nvPr/>
        </p:nvSpPr>
        <p:spPr>
          <a:xfrm>
            <a:off x="5897880" y="2524680"/>
            <a:ext cx="5394240" cy="46152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Text 17"/>
          <p:cNvSpPr/>
          <p:nvPr/>
        </p:nvSpPr>
        <p:spPr>
          <a:xfrm>
            <a:off x="5943600" y="2570400"/>
            <a:ext cx="530280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334155"/>
                </a:solidFill>
                <a:latin typeface="Aptos"/>
              </a:rPr>
              <a:t>BI tradicional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Shape 18"/>
          <p:cNvSpPr/>
          <p:nvPr/>
        </p:nvSpPr>
        <p:spPr>
          <a:xfrm>
            <a:off x="868680" y="2986920"/>
            <a:ext cx="5028480" cy="46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Text 19"/>
          <p:cNvSpPr/>
          <p:nvPr/>
        </p:nvSpPr>
        <p:spPr>
          <a:xfrm>
            <a:off x="914400" y="3032640"/>
            <a:ext cx="493704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334155"/>
                </a:solidFill>
                <a:latin typeface="Aptos"/>
              </a:rPr>
              <a:t>Validación simple de campos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Shape 20"/>
          <p:cNvSpPr/>
          <p:nvPr/>
        </p:nvSpPr>
        <p:spPr>
          <a:xfrm>
            <a:off x="5897880" y="2986920"/>
            <a:ext cx="5394240" cy="46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Text 21"/>
          <p:cNvSpPr/>
          <p:nvPr/>
        </p:nvSpPr>
        <p:spPr>
          <a:xfrm>
            <a:off x="5943600" y="3032640"/>
            <a:ext cx="530280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334155"/>
                </a:solidFill>
                <a:latin typeface="Aptos"/>
              </a:rPr>
              <a:t>Código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Shape 22"/>
          <p:cNvSpPr/>
          <p:nvPr/>
        </p:nvSpPr>
        <p:spPr>
          <a:xfrm>
            <a:off x="868680" y="3449160"/>
            <a:ext cx="5028480" cy="46152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Text 23"/>
          <p:cNvSpPr/>
          <p:nvPr/>
        </p:nvSpPr>
        <p:spPr>
          <a:xfrm>
            <a:off x="914400" y="3494880"/>
            <a:ext cx="493704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334155"/>
                </a:solidFill>
                <a:latin typeface="Aptos"/>
              </a:rPr>
              <a:t>Alerta por umbral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Shape 24"/>
          <p:cNvSpPr/>
          <p:nvPr/>
        </p:nvSpPr>
        <p:spPr>
          <a:xfrm>
            <a:off x="5897880" y="3449160"/>
            <a:ext cx="5394240" cy="46152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Text 25"/>
          <p:cNvSpPr/>
          <p:nvPr/>
        </p:nvSpPr>
        <p:spPr>
          <a:xfrm>
            <a:off x="5943600" y="3494880"/>
            <a:ext cx="530280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334155"/>
                </a:solidFill>
                <a:latin typeface="Aptos"/>
              </a:rPr>
              <a:t>Regla automática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Shape 26"/>
          <p:cNvSpPr/>
          <p:nvPr/>
        </p:nvSpPr>
        <p:spPr>
          <a:xfrm>
            <a:off x="868680" y="3911760"/>
            <a:ext cx="5028480" cy="46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Text 27"/>
          <p:cNvSpPr/>
          <p:nvPr/>
        </p:nvSpPr>
        <p:spPr>
          <a:xfrm>
            <a:off x="914400" y="3957480"/>
            <a:ext cx="493704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334155"/>
                </a:solidFill>
                <a:latin typeface="Aptos"/>
              </a:rPr>
              <a:t>Consulta SQL conocida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Shape 28"/>
          <p:cNvSpPr/>
          <p:nvPr/>
        </p:nvSpPr>
        <p:spPr>
          <a:xfrm>
            <a:off x="5897880" y="3911760"/>
            <a:ext cx="5394240" cy="46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Text 29"/>
          <p:cNvSpPr/>
          <p:nvPr/>
        </p:nvSpPr>
        <p:spPr>
          <a:xfrm>
            <a:off x="5943600" y="3957480"/>
            <a:ext cx="530280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334155"/>
                </a:solidFill>
                <a:latin typeface="Aptos"/>
              </a:rPr>
              <a:t>Query/API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Shape 30"/>
          <p:cNvSpPr/>
          <p:nvPr/>
        </p:nvSpPr>
        <p:spPr>
          <a:xfrm>
            <a:off x="868680" y="4374000"/>
            <a:ext cx="5028480" cy="46152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Text 31"/>
          <p:cNvSpPr/>
          <p:nvPr/>
        </p:nvSpPr>
        <p:spPr>
          <a:xfrm>
            <a:off x="914400" y="4419720"/>
            <a:ext cx="493704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334155"/>
                </a:solidFill>
                <a:latin typeface="Aptos"/>
              </a:rPr>
              <a:t>Decisión legal, médica o financiera crítica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Shape 32"/>
          <p:cNvSpPr/>
          <p:nvPr/>
        </p:nvSpPr>
        <p:spPr>
          <a:xfrm>
            <a:off x="5897880" y="4374000"/>
            <a:ext cx="5394240" cy="46152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Text 33"/>
          <p:cNvSpPr/>
          <p:nvPr/>
        </p:nvSpPr>
        <p:spPr>
          <a:xfrm>
            <a:off x="5943600" y="4419720"/>
            <a:ext cx="530280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334155"/>
                </a:solidFill>
                <a:latin typeface="Aptos"/>
              </a:rPr>
              <a:t>Sistema de apoyo + humano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Shape 34"/>
          <p:cNvSpPr/>
          <p:nvPr/>
        </p:nvSpPr>
        <p:spPr>
          <a:xfrm>
            <a:off x="868680" y="4836240"/>
            <a:ext cx="5028480" cy="46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Text 35"/>
          <p:cNvSpPr/>
          <p:nvPr/>
        </p:nvSpPr>
        <p:spPr>
          <a:xfrm>
            <a:off x="914400" y="4881960"/>
            <a:ext cx="493704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334155"/>
                </a:solidFill>
                <a:latin typeface="Aptos"/>
              </a:rPr>
              <a:t>Datos inexistentes o desordenados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Shape 36"/>
          <p:cNvSpPr/>
          <p:nvPr/>
        </p:nvSpPr>
        <p:spPr>
          <a:xfrm>
            <a:off x="5897880" y="4836240"/>
            <a:ext cx="5394240" cy="46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Text 37"/>
          <p:cNvSpPr/>
          <p:nvPr/>
        </p:nvSpPr>
        <p:spPr>
          <a:xfrm>
            <a:off x="5943600" y="4881960"/>
            <a:ext cx="530280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334155"/>
                </a:solidFill>
                <a:latin typeface="Aptos"/>
              </a:rPr>
              <a:t>Ordenar datos primero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Shape 38"/>
          <p:cNvSpPr/>
          <p:nvPr/>
        </p:nvSpPr>
        <p:spPr>
          <a:xfrm>
            <a:off x="868680" y="5298480"/>
            <a:ext cx="5028480" cy="46152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Text 39"/>
          <p:cNvSpPr/>
          <p:nvPr/>
        </p:nvSpPr>
        <p:spPr>
          <a:xfrm>
            <a:off x="914400" y="5344200"/>
            <a:ext cx="493704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334155"/>
                </a:solidFill>
                <a:latin typeface="Aptos"/>
              </a:rPr>
              <a:t>Proceso mal definido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Shape 40"/>
          <p:cNvSpPr/>
          <p:nvPr/>
        </p:nvSpPr>
        <p:spPr>
          <a:xfrm>
            <a:off x="5897880" y="5298480"/>
            <a:ext cx="5394240" cy="46152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Text 41"/>
          <p:cNvSpPr/>
          <p:nvPr/>
        </p:nvSpPr>
        <p:spPr>
          <a:xfrm>
            <a:off x="5943600" y="5344200"/>
            <a:ext cx="530280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334155"/>
                </a:solidFill>
                <a:latin typeface="Aptos"/>
              </a:rPr>
              <a:t>Modelar proceso antes de automatizar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Shape 42"/>
          <p:cNvSpPr/>
          <p:nvPr/>
        </p:nvSpPr>
        <p:spPr>
          <a:xfrm>
            <a:off x="868680" y="5989320"/>
            <a:ext cx="10423440" cy="383400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1016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Text 43"/>
          <p:cNvSpPr/>
          <p:nvPr/>
        </p:nvSpPr>
        <p:spPr>
          <a:xfrm>
            <a:off x="1033200" y="6117480"/>
            <a:ext cx="100944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b6202a"/>
                </a:solidFill>
                <a:latin typeface="Aptos"/>
              </a:rPr>
              <a:t>Madurez profesional: saber dónde la IA aporta y dónde solo agrega costo, riesgo y complejidad.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Criterio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2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813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21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Árbol simple de decisión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Preguntas rápidas antes de agregar complejidad.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Shape 6"/>
          <p:cNvSpPr/>
          <p:nvPr/>
        </p:nvSpPr>
        <p:spPr>
          <a:xfrm>
            <a:off x="2757600" y="208008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Shape 7"/>
          <p:cNvSpPr/>
          <p:nvPr/>
        </p:nvSpPr>
        <p:spPr>
          <a:xfrm>
            <a:off x="4948560" y="208008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Shape 8"/>
          <p:cNvSpPr/>
          <p:nvPr/>
        </p:nvSpPr>
        <p:spPr>
          <a:xfrm>
            <a:off x="7139520" y="208008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Shape 9"/>
          <p:cNvSpPr/>
          <p:nvPr/>
        </p:nvSpPr>
        <p:spPr>
          <a:xfrm>
            <a:off x="9330480" y="2080080"/>
            <a:ext cx="6372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Shape 10"/>
          <p:cNvSpPr/>
          <p:nvPr/>
        </p:nvSpPr>
        <p:spPr>
          <a:xfrm>
            <a:off x="685800" y="1783080"/>
            <a:ext cx="2025720" cy="59364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1430">
            <a:solidFill>
              <a:srgbClr val="b620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Text 11"/>
          <p:cNvSpPr/>
          <p:nvPr/>
        </p:nvSpPr>
        <p:spPr>
          <a:xfrm>
            <a:off x="749880" y="1874520"/>
            <a:ext cx="18975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32238"/>
                </a:solidFill>
                <a:latin typeface="Aptos"/>
              </a:rPr>
              <a:t>¿Solo texto?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Shape 12"/>
          <p:cNvSpPr/>
          <p:nvPr/>
        </p:nvSpPr>
        <p:spPr>
          <a:xfrm>
            <a:off x="2876760" y="1783080"/>
            <a:ext cx="202572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b620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Text 13"/>
          <p:cNvSpPr/>
          <p:nvPr/>
        </p:nvSpPr>
        <p:spPr>
          <a:xfrm>
            <a:off x="2940840" y="1874520"/>
            <a:ext cx="18975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32238"/>
                </a:solidFill>
                <a:latin typeface="Aptos"/>
              </a:rPr>
              <a:t>¿Salida reusable?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Shape 14"/>
          <p:cNvSpPr/>
          <p:nvPr/>
        </p:nvSpPr>
        <p:spPr>
          <a:xfrm>
            <a:off x="5067720" y="1783080"/>
            <a:ext cx="202572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b620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Text 15"/>
          <p:cNvSpPr/>
          <p:nvPr/>
        </p:nvSpPr>
        <p:spPr>
          <a:xfrm>
            <a:off x="5131440" y="1874520"/>
            <a:ext cx="18975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32238"/>
                </a:solidFill>
                <a:latin typeface="Aptos"/>
              </a:rPr>
              <a:t>¿Documentos?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Shape 16"/>
          <p:cNvSpPr/>
          <p:nvPr/>
        </p:nvSpPr>
        <p:spPr>
          <a:xfrm>
            <a:off x="7258680" y="1783080"/>
            <a:ext cx="202572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b620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Text 17"/>
          <p:cNvSpPr/>
          <p:nvPr/>
        </p:nvSpPr>
        <p:spPr>
          <a:xfrm>
            <a:off x="7322400" y="1874520"/>
            <a:ext cx="18975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32238"/>
                </a:solidFill>
                <a:latin typeface="Aptos"/>
              </a:rPr>
              <a:t>¿Dato vivo?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Shape 18"/>
          <p:cNvSpPr/>
          <p:nvPr/>
        </p:nvSpPr>
        <p:spPr>
          <a:xfrm>
            <a:off x="9449280" y="1783080"/>
            <a:ext cx="202572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b620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Text 19"/>
          <p:cNvSpPr/>
          <p:nvPr/>
        </p:nvSpPr>
        <p:spPr>
          <a:xfrm>
            <a:off x="9513360" y="1874520"/>
            <a:ext cx="18975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32238"/>
                </a:solidFill>
                <a:latin typeface="Aptos"/>
              </a:rPr>
              <a:t>¿Ruta dinámica?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Shape 20"/>
          <p:cNvSpPr/>
          <p:nvPr/>
        </p:nvSpPr>
        <p:spPr>
          <a:xfrm>
            <a:off x="731520" y="2743200"/>
            <a:ext cx="2102400" cy="95940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Shape 21"/>
          <p:cNvSpPr/>
          <p:nvPr/>
        </p:nvSpPr>
        <p:spPr>
          <a:xfrm>
            <a:off x="731520" y="2743200"/>
            <a:ext cx="72360" cy="9594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2" name="Text 22"/>
          <p:cNvSpPr/>
          <p:nvPr/>
        </p:nvSpPr>
        <p:spPr>
          <a:xfrm>
            <a:off x="896040" y="286200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32238"/>
                </a:solidFill>
                <a:latin typeface="Aptos"/>
              </a:rPr>
              <a:t>Sí, simple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Text 23"/>
          <p:cNvSpPr/>
          <p:nvPr/>
        </p:nvSpPr>
        <p:spPr>
          <a:xfrm>
            <a:off x="896040" y="3218760"/>
            <a:ext cx="180072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34155"/>
                </a:solidFill>
                <a:latin typeface="Aptos"/>
              </a:rPr>
              <a:t>API simple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Shape 24"/>
          <p:cNvSpPr/>
          <p:nvPr/>
        </p:nvSpPr>
        <p:spPr>
          <a:xfrm>
            <a:off x="2971800" y="2743200"/>
            <a:ext cx="2102400" cy="95940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Shape 25"/>
          <p:cNvSpPr/>
          <p:nvPr/>
        </p:nvSpPr>
        <p:spPr>
          <a:xfrm>
            <a:off x="2971800" y="2743200"/>
            <a:ext cx="72360" cy="959400"/>
          </a:xfrm>
          <a:prstGeom prst="rect">
            <a:avLst/>
          </a:prstGeom>
          <a:solidFill>
            <a:srgbClr val="245c94"/>
          </a:solidFill>
          <a:ln w="1270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6" name="Text 26"/>
          <p:cNvSpPr/>
          <p:nvPr/>
        </p:nvSpPr>
        <p:spPr>
          <a:xfrm>
            <a:off x="3136320" y="286200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32238"/>
                </a:solidFill>
                <a:latin typeface="Aptos"/>
              </a:rPr>
              <a:t>Sí, reusable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Text 27"/>
          <p:cNvSpPr/>
          <p:nvPr/>
        </p:nvSpPr>
        <p:spPr>
          <a:xfrm>
            <a:off x="3136320" y="3218760"/>
            <a:ext cx="180072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34155"/>
                </a:solidFill>
                <a:latin typeface="Aptos"/>
              </a:rPr>
              <a:t>Chain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Shape 28"/>
          <p:cNvSpPr/>
          <p:nvPr/>
        </p:nvSpPr>
        <p:spPr>
          <a:xfrm>
            <a:off x="5212080" y="2743200"/>
            <a:ext cx="2102400" cy="95940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Shape 29"/>
          <p:cNvSpPr/>
          <p:nvPr/>
        </p:nvSpPr>
        <p:spPr>
          <a:xfrm>
            <a:off x="5212080" y="2743200"/>
            <a:ext cx="72360" cy="959400"/>
          </a:xfrm>
          <a:prstGeom prst="rect">
            <a:avLst/>
          </a:prstGeom>
          <a:solidFill>
            <a:srgbClr val="2d8a55"/>
          </a:solidFill>
          <a:ln w="1270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0" name="Text 30"/>
          <p:cNvSpPr/>
          <p:nvPr/>
        </p:nvSpPr>
        <p:spPr>
          <a:xfrm>
            <a:off x="5376600" y="286200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32238"/>
                </a:solidFill>
                <a:latin typeface="Aptos"/>
              </a:rPr>
              <a:t>Sí, documentos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Text 31"/>
          <p:cNvSpPr/>
          <p:nvPr/>
        </p:nvSpPr>
        <p:spPr>
          <a:xfrm>
            <a:off x="5376600" y="3218760"/>
            <a:ext cx="180072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34155"/>
                </a:solidFill>
                <a:latin typeface="Aptos"/>
              </a:rPr>
              <a:t>RAG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Shape 32"/>
          <p:cNvSpPr/>
          <p:nvPr/>
        </p:nvSpPr>
        <p:spPr>
          <a:xfrm>
            <a:off x="7452360" y="2743200"/>
            <a:ext cx="2102400" cy="95940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Shape 33"/>
          <p:cNvSpPr/>
          <p:nvPr/>
        </p:nvSpPr>
        <p:spPr>
          <a:xfrm>
            <a:off x="7452360" y="2743200"/>
            <a:ext cx="72360" cy="959400"/>
          </a:xfrm>
          <a:prstGeom prst="rect">
            <a:avLst/>
          </a:prstGeom>
          <a:solidFill>
            <a:srgbClr val="f08a24"/>
          </a:solidFill>
          <a:ln w="12700">
            <a:solidFill>
              <a:srgbClr val="f08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4" name="Text 34"/>
          <p:cNvSpPr/>
          <p:nvPr/>
        </p:nvSpPr>
        <p:spPr>
          <a:xfrm>
            <a:off x="7616880" y="286200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32238"/>
                </a:solidFill>
                <a:latin typeface="Aptos"/>
              </a:rPr>
              <a:t>Sí, sistema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Text 35"/>
          <p:cNvSpPr/>
          <p:nvPr/>
        </p:nvSpPr>
        <p:spPr>
          <a:xfrm>
            <a:off x="7616880" y="3218760"/>
            <a:ext cx="180072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34155"/>
                </a:solidFill>
                <a:latin typeface="Aptos"/>
              </a:rPr>
              <a:t>Tool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Shape 36"/>
          <p:cNvSpPr/>
          <p:nvPr/>
        </p:nvSpPr>
        <p:spPr>
          <a:xfrm>
            <a:off x="9692640" y="2743200"/>
            <a:ext cx="2102400" cy="95940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Shape 37"/>
          <p:cNvSpPr/>
          <p:nvPr/>
        </p:nvSpPr>
        <p:spPr>
          <a:xfrm>
            <a:off x="9692640" y="2743200"/>
            <a:ext cx="72360" cy="959400"/>
          </a:xfrm>
          <a:prstGeom prst="rect">
            <a:avLst/>
          </a:prstGeom>
          <a:solidFill>
            <a:srgbClr val="5b4e9c"/>
          </a:solidFill>
          <a:ln w="12700">
            <a:solidFill>
              <a:srgbClr val="5b4e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8" name="Text 38"/>
          <p:cNvSpPr/>
          <p:nvPr/>
        </p:nvSpPr>
        <p:spPr>
          <a:xfrm>
            <a:off x="9857160" y="286200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32238"/>
                </a:solidFill>
                <a:latin typeface="Aptos"/>
              </a:rPr>
              <a:t>Sí, dinámica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Text 39"/>
          <p:cNvSpPr/>
          <p:nvPr/>
        </p:nvSpPr>
        <p:spPr>
          <a:xfrm>
            <a:off x="9857160" y="3218760"/>
            <a:ext cx="180072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34155"/>
                </a:solidFill>
                <a:latin typeface="Aptos"/>
              </a:rPr>
              <a:t>Agente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Shape 40"/>
          <p:cNvSpPr/>
          <p:nvPr/>
        </p:nvSpPr>
        <p:spPr>
          <a:xfrm>
            <a:off x="777240" y="5257800"/>
            <a:ext cx="10606320" cy="54792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016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Text 41"/>
          <p:cNvSpPr/>
          <p:nvPr/>
        </p:nvSpPr>
        <p:spPr>
          <a:xfrm>
            <a:off x="941760" y="5385960"/>
            <a:ext cx="10277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238"/>
                </a:solidFill>
                <a:latin typeface="Aptos"/>
              </a:rPr>
              <a:t>Si ninguna pregunta justifica IA, probablemente necesita datos, proceso o automatización tradicional.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Shap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2d8a55"/>
          </a:solidFill>
          <a:ln w="1270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4" name="Text 2"/>
          <p:cNvSpPr/>
          <p:nvPr/>
        </p:nvSpPr>
        <p:spPr>
          <a:xfrm>
            <a:off x="685800" y="91440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2d8a55"/>
                </a:solidFill>
                <a:latin typeface="Aptos"/>
              </a:rPr>
              <a:t>EJEMPLOS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Text 3"/>
          <p:cNvSpPr/>
          <p:nvPr/>
        </p:nvSpPr>
        <p:spPr>
          <a:xfrm>
            <a:off x="685800" y="1920240"/>
            <a:ext cx="10697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06 · Ejemplos de cadenas</a:t>
            </a:r>
            <a:endParaRPr b="0" lang="es-E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Text 4"/>
          <p:cNvSpPr/>
          <p:nvPr/>
        </p:nvSpPr>
        <p:spPr>
          <a:xfrm>
            <a:off x="704160" y="2788920"/>
            <a:ext cx="9966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4155"/>
                </a:solidFill>
                <a:latin typeface="Aptos"/>
              </a:rPr>
              <a:t>De cadenas simples a flujos medios y complejos: ver el patrón antes de memorizar código.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7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378440" y="6080760"/>
            <a:ext cx="959400" cy="438120"/>
          </a:xfrm>
          <a:prstGeom prst="rect">
            <a:avLst/>
          </a:prstGeom>
          <a:ln w="0">
            <a:noFill/>
          </a:ln>
        </p:spPr>
      </p:pic>
      <p:sp>
        <p:nvSpPr>
          <p:cNvPr id="858" name="Text 5"/>
          <p:cNvSpPr/>
          <p:nvPr/>
        </p:nvSpPr>
        <p:spPr>
          <a:xfrm>
            <a:off x="1170432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34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Ejemplos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2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863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35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Ejemplos progresivos de chains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No todos necesitan código completo: lo importante es leer flujo, responsabilidad y salida.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Shape 6"/>
          <p:cNvSpPr/>
          <p:nvPr/>
        </p:nvSpPr>
        <p:spPr>
          <a:xfrm>
            <a:off x="685800" y="1627560"/>
            <a:ext cx="1553760" cy="479520"/>
          </a:xfrm>
          <a:prstGeom prst="rect">
            <a:avLst/>
          </a:prstGeom>
          <a:solidFill>
            <a:srgbClr val="2d8a55"/>
          </a:solidFill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7" name="Text 7"/>
          <p:cNvSpPr/>
          <p:nvPr/>
        </p:nvSpPr>
        <p:spPr>
          <a:xfrm>
            <a:off x="731520" y="1700640"/>
            <a:ext cx="146232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pc="-1" strike="noStrike">
                <a:solidFill>
                  <a:srgbClr val="ffffff"/>
                </a:solidFill>
                <a:latin typeface="Aptos"/>
              </a:rPr>
              <a:t>Nivel</a:t>
            </a:r>
            <a:endParaRPr b="0" lang="es-E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Shape 8"/>
          <p:cNvSpPr/>
          <p:nvPr/>
        </p:nvSpPr>
        <p:spPr>
          <a:xfrm>
            <a:off x="2240280" y="1627560"/>
            <a:ext cx="3153960" cy="479520"/>
          </a:xfrm>
          <a:prstGeom prst="rect">
            <a:avLst/>
          </a:prstGeom>
          <a:solidFill>
            <a:srgbClr val="2d8a55"/>
          </a:solidFill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9" name="Text 9"/>
          <p:cNvSpPr/>
          <p:nvPr/>
        </p:nvSpPr>
        <p:spPr>
          <a:xfrm>
            <a:off x="2286000" y="1700640"/>
            <a:ext cx="306252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pc="-1" strike="noStrike">
                <a:solidFill>
                  <a:srgbClr val="ffffff"/>
                </a:solidFill>
                <a:latin typeface="Aptos"/>
              </a:rPr>
              <a:t>Ejemplo</a:t>
            </a:r>
            <a:endParaRPr b="0" lang="es-E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Shape 10"/>
          <p:cNvSpPr/>
          <p:nvPr/>
        </p:nvSpPr>
        <p:spPr>
          <a:xfrm>
            <a:off x="5394960" y="1627560"/>
            <a:ext cx="6125760" cy="479520"/>
          </a:xfrm>
          <a:prstGeom prst="rect">
            <a:avLst/>
          </a:prstGeom>
          <a:solidFill>
            <a:srgbClr val="2d8a55"/>
          </a:solidFill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1" name="Text 11"/>
          <p:cNvSpPr/>
          <p:nvPr/>
        </p:nvSpPr>
        <p:spPr>
          <a:xfrm>
            <a:off x="5440680" y="1700640"/>
            <a:ext cx="603432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pc="-1" strike="noStrike">
                <a:solidFill>
                  <a:srgbClr val="ffffff"/>
                </a:solidFill>
                <a:latin typeface="Aptos"/>
              </a:rPr>
              <a:t>Patrón</a:t>
            </a:r>
            <a:endParaRPr b="0" lang="es-E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Shape 12"/>
          <p:cNvSpPr/>
          <p:nvPr/>
        </p:nvSpPr>
        <p:spPr>
          <a:xfrm>
            <a:off x="685800" y="2107800"/>
            <a:ext cx="1553760" cy="479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Text 13"/>
          <p:cNvSpPr/>
          <p:nvPr/>
        </p:nvSpPr>
        <p:spPr>
          <a:xfrm>
            <a:off x="731520" y="2153520"/>
            <a:ext cx="14623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4155"/>
                </a:solidFill>
                <a:latin typeface="Aptos"/>
              </a:rPr>
              <a:t>Simple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Shape 14"/>
          <p:cNvSpPr/>
          <p:nvPr/>
        </p:nvSpPr>
        <p:spPr>
          <a:xfrm>
            <a:off x="2240280" y="2107800"/>
            <a:ext cx="3153960" cy="479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Text 15"/>
          <p:cNvSpPr/>
          <p:nvPr/>
        </p:nvSpPr>
        <p:spPr>
          <a:xfrm>
            <a:off x="2286000" y="2153520"/>
            <a:ext cx="30625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4155"/>
                </a:solidFill>
                <a:latin typeface="Aptos"/>
              </a:rPr>
              <a:t>Resumen ejecutivo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Shape 16"/>
          <p:cNvSpPr/>
          <p:nvPr/>
        </p:nvSpPr>
        <p:spPr>
          <a:xfrm>
            <a:off x="5394960" y="2107800"/>
            <a:ext cx="6125760" cy="479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Text 17"/>
          <p:cNvSpPr/>
          <p:nvPr/>
        </p:nvSpPr>
        <p:spPr>
          <a:xfrm>
            <a:off x="5440680" y="2153520"/>
            <a:ext cx="60343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4155"/>
                </a:solidFill>
                <a:latin typeface="Aptos"/>
              </a:rPr>
              <a:t>texto → prompt → modelo → texto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Shape 18"/>
          <p:cNvSpPr/>
          <p:nvPr/>
        </p:nvSpPr>
        <p:spPr>
          <a:xfrm>
            <a:off x="685800" y="2587680"/>
            <a:ext cx="1553760" cy="47952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Text 19"/>
          <p:cNvSpPr/>
          <p:nvPr/>
        </p:nvSpPr>
        <p:spPr>
          <a:xfrm>
            <a:off x="731520" y="2633400"/>
            <a:ext cx="14623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4155"/>
                </a:solidFill>
                <a:latin typeface="Aptos"/>
              </a:rPr>
              <a:t>Simple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Shape 20"/>
          <p:cNvSpPr/>
          <p:nvPr/>
        </p:nvSpPr>
        <p:spPr>
          <a:xfrm>
            <a:off x="2240280" y="2587680"/>
            <a:ext cx="3153960" cy="47952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Text 21"/>
          <p:cNvSpPr/>
          <p:nvPr/>
        </p:nvSpPr>
        <p:spPr>
          <a:xfrm>
            <a:off x="2286000" y="2633400"/>
            <a:ext cx="30625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4155"/>
                </a:solidFill>
                <a:latin typeface="Aptos"/>
              </a:rPr>
              <a:t>Clasificación de ticket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Shape 22"/>
          <p:cNvSpPr/>
          <p:nvPr/>
        </p:nvSpPr>
        <p:spPr>
          <a:xfrm>
            <a:off x="5394960" y="2587680"/>
            <a:ext cx="6125760" cy="47952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Text 23"/>
          <p:cNvSpPr/>
          <p:nvPr/>
        </p:nvSpPr>
        <p:spPr>
          <a:xfrm>
            <a:off x="5440680" y="2633400"/>
            <a:ext cx="60343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4155"/>
                </a:solidFill>
                <a:latin typeface="Aptos"/>
              </a:rPr>
              <a:t>ticket → modelo estructurado → JSON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Shape 24"/>
          <p:cNvSpPr/>
          <p:nvPr/>
        </p:nvSpPr>
        <p:spPr>
          <a:xfrm>
            <a:off x="685800" y="3067920"/>
            <a:ext cx="1553760" cy="479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Text 25"/>
          <p:cNvSpPr/>
          <p:nvPr/>
        </p:nvSpPr>
        <p:spPr>
          <a:xfrm>
            <a:off x="731520" y="3113640"/>
            <a:ext cx="14623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4155"/>
                </a:solidFill>
                <a:latin typeface="Aptos"/>
              </a:rPr>
              <a:t>Simple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6" name="Shape 26"/>
          <p:cNvSpPr/>
          <p:nvPr/>
        </p:nvSpPr>
        <p:spPr>
          <a:xfrm>
            <a:off x="2240280" y="3067920"/>
            <a:ext cx="3153960" cy="479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Text 27"/>
          <p:cNvSpPr/>
          <p:nvPr/>
        </p:nvSpPr>
        <p:spPr>
          <a:xfrm>
            <a:off x="2286000" y="3113640"/>
            <a:ext cx="30625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4155"/>
                </a:solidFill>
                <a:latin typeface="Aptos"/>
              </a:rPr>
              <a:t>Extracción PDF a Excel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Shape 28"/>
          <p:cNvSpPr/>
          <p:nvPr/>
        </p:nvSpPr>
        <p:spPr>
          <a:xfrm>
            <a:off x="5394960" y="3067920"/>
            <a:ext cx="6125760" cy="479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Text 29"/>
          <p:cNvSpPr/>
          <p:nvPr/>
        </p:nvSpPr>
        <p:spPr>
          <a:xfrm>
            <a:off x="5440680" y="3113640"/>
            <a:ext cx="60343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4155"/>
                </a:solidFill>
                <a:latin typeface="Aptos"/>
              </a:rPr>
              <a:t>texto extraído → schema → CSV/Excel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Shape 30"/>
          <p:cNvSpPr/>
          <p:nvPr/>
        </p:nvSpPr>
        <p:spPr>
          <a:xfrm>
            <a:off x="685800" y="3547800"/>
            <a:ext cx="1553760" cy="47952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Text 31"/>
          <p:cNvSpPr/>
          <p:nvPr/>
        </p:nvSpPr>
        <p:spPr>
          <a:xfrm>
            <a:off x="731520" y="3593520"/>
            <a:ext cx="14623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4155"/>
                </a:solidFill>
                <a:latin typeface="Aptos"/>
              </a:rPr>
              <a:t>Medio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Shape 32"/>
          <p:cNvSpPr/>
          <p:nvPr/>
        </p:nvSpPr>
        <p:spPr>
          <a:xfrm>
            <a:off x="2240280" y="3547800"/>
            <a:ext cx="3153960" cy="47952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Text 33"/>
          <p:cNvSpPr/>
          <p:nvPr/>
        </p:nvSpPr>
        <p:spPr>
          <a:xfrm>
            <a:off x="2286000" y="3593520"/>
            <a:ext cx="30625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4155"/>
                </a:solidFill>
                <a:latin typeface="Aptos"/>
              </a:rPr>
              <a:t>Redacción con plantilla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Shape 34"/>
          <p:cNvSpPr/>
          <p:nvPr/>
        </p:nvSpPr>
        <p:spPr>
          <a:xfrm>
            <a:off x="5394960" y="3547800"/>
            <a:ext cx="6125760" cy="47952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Text 35"/>
          <p:cNvSpPr/>
          <p:nvPr/>
        </p:nvSpPr>
        <p:spPr>
          <a:xfrm>
            <a:off x="5440680" y="3593520"/>
            <a:ext cx="60343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4155"/>
                </a:solidFill>
                <a:latin typeface="Aptos"/>
              </a:rPr>
              <a:t>datos → prompt template → borrador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Shape 36"/>
          <p:cNvSpPr/>
          <p:nvPr/>
        </p:nvSpPr>
        <p:spPr>
          <a:xfrm>
            <a:off x="685800" y="4028040"/>
            <a:ext cx="1553760" cy="479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Text 37"/>
          <p:cNvSpPr/>
          <p:nvPr/>
        </p:nvSpPr>
        <p:spPr>
          <a:xfrm>
            <a:off x="731520" y="4073760"/>
            <a:ext cx="14623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4155"/>
                </a:solidFill>
                <a:latin typeface="Aptos"/>
              </a:rPr>
              <a:t>Medio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Shape 38"/>
          <p:cNvSpPr/>
          <p:nvPr/>
        </p:nvSpPr>
        <p:spPr>
          <a:xfrm>
            <a:off x="2240280" y="4028040"/>
            <a:ext cx="3153960" cy="479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Text 39"/>
          <p:cNvSpPr/>
          <p:nvPr/>
        </p:nvSpPr>
        <p:spPr>
          <a:xfrm>
            <a:off x="2286000" y="4073760"/>
            <a:ext cx="30625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4155"/>
                </a:solidFill>
                <a:latin typeface="Aptos"/>
              </a:rPr>
              <a:t>Evaluación de respuesta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Shape 40"/>
          <p:cNvSpPr/>
          <p:nvPr/>
        </p:nvSpPr>
        <p:spPr>
          <a:xfrm>
            <a:off x="5394960" y="4028040"/>
            <a:ext cx="6125760" cy="479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Text 41"/>
          <p:cNvSpPr/>
          <p:nvPr/>
        </p:nvSpPr>
        <p:spPr>
          <a:xfrm>
            <a:off x="5440680" y="4073760"/>
            <a:ext cx="60343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4155"/>
                </a:solidFill>
                <a:latin typeface="Aptos"/>
              </a:rPr>
              <a:t>respuesta → evaluador → score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Shape 42"/>
          <p:cNvSpPr/>
          <p:nvPr/>
        </p:nvSpPr>
        <p:spPr>
          <a:xfrm>
            <a:off x="685800" y="4507920"/>
            <a:ext cx="1553760" cy="47952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Text 43"/>
          <p:cNvSpPr/>
          <p:nvPr/>
        </p:nvSpPr>
        <p:spPr>
          <a:xfrm>
            <a:off x="731520" y="4553640"/>
            <a:ext cx="14623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4155"/>
                </a:solidFill>
                <a:latin typeface="Aptos"/>
              </a:rPr>
              <a:t>Medio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Shape 44"/>
          <p:cNvSpPr/>
          <p:nvPr/>
        </p:nvSpPr>
        <p:spPr>
          <a:xfrm>
            <a:off x="2240280" y="4507920"/>
            <a:ext cx="3153960" cy="47952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Text 45"/>
          <p:cNvSpPr/>
          <p:nvPr/>
        </p:nvSpPr>
        <p:spPr>
          <a:xfrm>
            <a:off x="2286000" y="4553640"/>
            <a:ext cx="30625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4155"/>
                </a:solidFill>
                <a:latin typeface="Aptos"/>
              </a:rPr>
              <a:t>Conversación con historial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Shape 46"/>
          <p:cNvSpPr/>
          <p:nvPr/>
        </p:nvSpPr>
        <p:spPr>
          <a:xfrm>
            <a:off x="5394960" y="4507920"/>
            <a:ext cx="6125760" cy="47952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Text 47"/>
          <p:cNvSpPr/>
          <p:nvPr/>
        </p:nvSpPr>
        <p:spPr>
          <a:xfrm>
            <a:off x="5440680" y="4553640"/>
            <a:ext cx="60343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4155"/>
                </a:solidFill>
                <a:latin typeface="Aptos"/>
              </a:rPr>
              <a:t>session_id → historial → respuesta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Shape 48"/>
          <p:cNvSpPr/>
          <p:nvPr/>
        </p:nvSpPr>
        <p:spPr>
          <a:xfrm>
            <a:off x="685800" y="4988160"/>
            <a:ext cx="1553760" cy="479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Text 49"/>
          <p:cNvSpPr/>
          <p:nvPr/>
        </p:nvSpPr>
        <p:spPr>
          <a:xfrm>
            <a:off x="731520" y="5033880"/>
            <a:ext cx="14623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4155"/>
                </a:solidFill>
                <a:latin typeface="Aptos"/>
              </a:rPr>
              <a:t>Complejo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Shape 50"/>
          <p:cNvSpPr/>
          <p:nvPr/>
        </p:nvSpPr>
        <p:spPr>
          <a:xfrm>
            <a:off x="2240280" y="4988160"/>
            <a:ext cx="3153960" cy="479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Text 51"/>
          <p:cNvSpPr/>
          <p:nvPr/>
        </p:nvSpPr>
        <p:spPr>
          <a:xfrm>
            <a:off x="2286000" y="5033880"/>
            <a:ext cx="30625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4155"/>
                </a:solidFill>
                <a:latin typeface="Aptos"/>
              </a:rPr>
              <a:t>RAG documental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Shape 52"/>
          <p:cNvSpPr/>
          <p:nvPr/>
        </p:nvSpPr>
        <p:spPr>
          <a:xfrm>
            <a:off x="5394960" y="4988160"/>
            <a:ext cx="6125760" cy="479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Text 53"/>
          <p:cNvSpPr/>
          <p:nvPr/>
        </p:nvSpPr>
        <p:spPr>
          <a:xfrm>
            <a:off x="5440680" y="5033880"/>
            <a:ext cx="60343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4155"/>
                </a:solidFill>
                <a:latin typeface="Aptos"/>
              </a:rPr>
              <a:t>pregunta → retriever → contexto → respuesta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Shape 54"/>
          <p:cNvSpPr/>
          <p:nvPr/>
        </p:nvSpPr>
        <p:spPr>
          <a:xfrm>
            <a:off x="685800" y="5468040"/>
            <a:ext cx="1553760" cy="47952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Text 55"/>
          <p:cNvSpPr/>
          <p:nvPr/>
        </p:nvSpPr>
        <p:spPr>
          <a:xfrm>
            <a:off x="731520" y="5513760"/>
            <a:ext cx="14623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4155"/>
                </a:solidFill>
                <a:latin typeface="Aptos"/>
              </a:rPr>
              <a:t>Complejo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6" name="Shape 56"/>
          <p:cNvSpPr/>
          <p:nvPr/>
        </p:nvSpPr>
        <p:spPr>
          <a:xfrm>
            <a:off x="2240280" y="5468040"/>
            <a:ext cx="3153960" cy="47952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Text 57"/>
          <p:cNvSpPr/>
          <p:nvPr/>
        </p:nvSpPr>
        <p:spPr>
          <a:xfrm>
            <a:off x="2286000" y="5513760"/>
            <a:ext cx="30625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4155"/>
                </a:solidFill>
                <a:latin typeface="Aptos"/>
              </a:rPr>
              <a:t>Tool controlada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Shape 58"/>
          <p:cNvSpPr/>
          <p:nvPr/>
        </p:nvSpPr>
        <p:spPr>
          <a:xfrm>
            <a:off x="5394960" y="5468040"/>
            <a:ext cx="6125760" cy="47952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Text 59"/>
          <p:cNvSpPr/>
          <p:nvPr/>
        </p:nvSpPr>
        <p:spPr>
          <a:xfrm>
            <a:off x="5440680" y="5513760"/>
            <a:ext cx="60343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4155"/>
                </a:solidFill>
                <a:latin typeface="Aptos"/>
              </a:rPr>
              <a:t>modelo → función externa → resultado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0" name="Shape 60"/>
          <p:cNvSpPr/>
          <p:nvPr/>
        </p:nvSpPr>
        <p:spPr>
          <a:xfrm>
            <a:off x="685800" y="5948280"/>
            <a:ext cx="1553760" cy="479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Text 61"/>
          <p:cNvSpPr/>
          <p:nvPr/>
        </p:nvSpPr>
        <p:spPr>
          <a:xfrm>
            <a:off x="731520" y="5994000"/>
            <a:ext cx="14623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4155"/>
                </a:solidFill>
                <a:latin typeface="Aptos"/>
              </a:rPr>
              <a:t>Complejo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Shape 62"/>
          <p:cNvSpPr/>
          <p:nvPr/>
        </p:nvSpPr>
        <p:spPr>
          <a:xfrm>
            <a:off x="2240280" y="5948280"/>
            <a:ext cx="3153960" cy="479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3" name="Text 63"/>
          <p:cNvSpPr/>
          <p:nvPr/>
        </p:nvSpPr>
        <p:spPr>
          <a:xfrm>
            <a:off x="2286000" y="5994000"/>
            <a:ext cx="30625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4155"/>
                </a:solidFill>
                <a:latin typeface="Aptos"/>
              </a:rPr>
              <a:t>Agente acotado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4" name="Shape 64"/>
          <p:cNvSpPr/>
          <p:nvPr/>
        </p:nvSpPr>
        <p:spPr>
          <a:xfrm>
            <a:off x="5394960" y="5948280"/>
            <a:ext cx="6125760" cy="479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5" name="Text 65"/>
          <p:cNvSpPr/>
          <p:nvPr/>
        </p:nvSpPr>
        <p:spPr>
          <a:xfrm>
            <a:off x="5440680" y="5994000"/>
            <a:ext cx="603432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34155"/>
                </a:solidFill>
                <a:latin typeface="Aptos"/>
              </a:rPr>
              <a:t>objetivo → decide → tool → respuesta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7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Ejemplos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8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9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930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36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1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Chain simple 1 · Resumen ejecutivo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2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Texto largo → resumen breve y controlado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Shape 6"/>
          <p:cNvSpPr/>
          <p:nvPr/>
        </p:nvSpPr>
        <p:spPr>
          <a:xfrm>
            <a:off x="3305520" y="1988640"/>
            <a:ext cx="6372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4" name="Shape 7"/>
          <p:cNvSpPr/>
          <p:nvPr/>
        </p:nvSpPr>
        <p:spPr>
          <a:xfrm>
            <a:off x="6044040" y="198864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5" name="Shape 8"/>
          <p:cNvSpPr/>
          <p:nvPr/>
        </p:nvSpPr>
        <p:spPr>
          <a:xfrm>
            <a:off x="8782560" y="198864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6" name="Shape 9"/>
          <p:cNvSpPr/>
          <p:nvPr/>
        </p:nvSpPr>
        <p:spPr>
          <a:xfrm>
            <a:off x="685800" y="1691640"/>
            <a:ext cx="2573280" cy="59364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143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7" name="Text 10"/>
          <p:cNvSpPr/>
          <p:nvPr/>
        </p:nvSpPr>
        <p:spPr>
          <a:xfrm>
            <a:off x="749880" y="1783080"/>
            <a:ext cx="24454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Texto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" name="Shape 11"/>
          <p:cNvSpPr/>
          <p:nvPr/>
        </p:nvSpPr>
        <p:spPr>
          <a:xfrm>
            <a:off x="3424320" y="1691640"/>
            <a:ext cx="257328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Text 12"/>
          <p:cNvSpPr/>
          <p:nvPr/>
        </p:nvSpPr>
        <p:spPr>
          <a:xfrm>
            <a:off x="3488400" y="1783080"/>
            <a:ext cx="24454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Prompt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0" name="Shape 13"/>
          <p:cNvSpPr/>
          <p:nvPr/>
        </p:nvSpPr>
        <p:spPr>
          <a:xfrm>
            <a:off x="6163200" y="1691640"/>
            <a:ext cx="257328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1" name="Text 14"/>
          <p:cNvSpPr/>
          <p:nvPr/>
        </p:nvSpPr>
        <p:spPr>
          <a:xfrm>
            <a:off x="6226920" y="1783080"/>
            <a:ext cx="24454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Modelo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2" name="Shape 15"/>
          <p:cNvSpPr/>
          <p:nvPr/>
        </p:nvSpPr>
        <p:spPr>
          <a:xfrm>
            <a:off x="8901720" y="1691640"/>
            <a:ext cx="257328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3" name="Text 16"/>
          <p:cNvSpPr/>
          <p:nvPr/>
        </p:nvSpPr>
        <p:spPr>
          <a:xfrm>
            <a:off x="8965800" y="1783080"/>
            <a:ext cx="24454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Respuesta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4" name="Shape 17"/>
          <p:cNvSpPr/>
          <p:nvPr/>
        </p:nvSpPr>
        <p:spPr>
          <a:xfrm>
            <a:off x="777240" y="2606040"/>
            <a:ext cx="5668560" cy="2651040"/>
          </a:xfrm>
          <a:prstGeom prst="roundRect">
            <a:avLst>
              <a:gd name="adj" fmla="val 2759"/>
            </a:avLst>
          </a:prstGeom>
          <a:solidFill>
            <a:srgbClr val="0b1220"/>
          </a:solidFill>
          <a:ln w="10160">
            <a:solidFill>
              <a:srgbClr val="18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Text 18"/>
          <p:cNvSpPr/>
          <p:nvPr/>
        </p:nvSpPr>
        <p:spPr>
          <a:xfrm>
            <a:off x="941760" y="2743200"/>
            <a:ext cx="5339520" cy="24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prompt = ChatPromptTemplate.from_template(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  </a:t>
            </a: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"Resume el texto en 5 bullets ejecutivos:\n{texto}"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)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chain = prompt | model | StrOutputParser()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resumen = chain.invoke({"texto": informe})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6" name="Shape 19"/>
          <p:cNvSpPr/>
          <p:nvPr/>
        </p:nvSpPr>
        <p:spPr>
          <a:xfrm>
            <a:off x="6812280" y="2606040"/>
            <a:ext cx="4479840" cy="10508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7" name="Shape 20"/>
          <p:cNvSpPr/>
          <p:nvPr/>
        </p:nvSpPr>
        <p:spPr>
          <a:xfrm>
            <a:off x="6812280" y="2606040"/>
            <a:ext cx="72360" cy="1050840"/>
          </a:xfrm>
          <a:prstGeom prst="rect">
            <a:avLst/>
          </a:prstGeom>
          <a:solidFill>
            <a:srgbClr val="2d8a55"/>
          </a:solidFill>
          <a:ln w="1270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Text 21"/>
          <p:cNvSpPr/>
          <p:nvPr/>
        </p:nvSpPr>
        <p:spPr>
          <a:xfrm>
            <a:off x="6976800" y="2724840"/>
            <a:ext cx="4205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238"/>
                </a:solidFill>
                <a:latin typeface="Aptos"/>
              </a:rPr>
              <a:t>Cuándo usarlo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9" name="Text 22"/>
          <p:cNvSpPr/>
          <p:nvPr/>
        </p:nvSpPr>
        <p:spPr>
          <a:xfrm>
            <a:off x="6976800" y="3081600"/>
            <a:ext cx="417816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Aptos"/>
              </a:rPr>
              <a:t>Cuando la tarea es transformación de texto y no requiere documentos externos ni datos vivos.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1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Ejemplos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2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3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954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37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5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Chain simple 2 · Clasificación de ticket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6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Ticket → categoría, prioridad y acción sugerida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7" name="Shape 6"/>
          <p:cNvSpPr/>
          <p:nvPr/>
        </p:nvSpPr>
        <p:spPr>
          <a:xfrm>
            <a:off x="3305520" y="1988640"/>
            <a:ext cx="6372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8" name="Shape 7"/>
          <p:cNvSpPr/>
          <p:nvPr/>
        </p:nvSpPr>
        <p:spPr>
          <a:xfrm>
            <a:off x="6044040" y="198864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9" name="Shape 8"/>
          <p:cNvSpPr/>
          <p:nvPr/>
        </p:nvSpPr>
        <p:spPr>
          <a:xfrm>
            <a:off x="8782560" y="198864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0" name="Shape 9"/>
          <p:cNvSpPr/>
          <p:nvPr/>
        </p:nvSpPr>
        <p:spPr>
          <a:xfrm>
            <a:off x="685800" y="1691640"/>
            <a:ext cx="2573280" cy="59364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143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1" name="Text 10"/>
          <p:cNvSpPr/>
          <p:nvPr/>
        </p:nvSpPr>
        <p:spPr>
          <a:xfrm>
            <a:off x="749880" y="1783080"/>
            <a:ext cx="24454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Ticket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2" name="Shape 11"/>
          <p:cNvSpPr/>
          <p:nvPr/>
        </p:nvSpPr>
        <p:spPr>
          <a:xfrm>
            <a:off x="3424320" y="1691640"/>
            <a:ext cx="257328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3" name="Text 12"/>
          <p:cNvSpPr/>
          <p:nvPr/>
        </p:nvSpPr>
        <p:spPr>
          <a:xfrm>
            <a:off x="3488400" y="1783080"/>
            <a:ext cx="24454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Prompt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4" name="Shape 13"/>
          <p:cNvSpPr/>
          <p:nvPr/>
        </p:nvSpPr>
        <p:spPr>
          <a:xfrm>
            <a:off x="6163200" y="1691640"/>
            <a:ext cx="257328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5" name="Text 14"/>
          <p:cNvSpPr/>
          <p:nvPr/>
        </p:nvSpPr>
        <p:spPr>
          <a:xfrm>
            <a:off x="6226920" y="1783080"/>
            <a:ext cx="24454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Modelo estructurado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6" name="Shape 15"/>
          <p:cNvSpPr/>
          <p:nvPr/>
        </p:nvSpPr>
        <p:spPr>
          <a:xfrm>
            <a:off x="8901720" y="1691640"/>
            <a:ext cx="257328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7" name="Text 16"/>
          <p:cNvSpPr/>
          <p:nvPr/>
        </p:nvSpPr>
        <p:spPr>
          <a:xfrm>
            <a:off x="8965800" y="1783080"/>
            <a:ext cx="24454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JSON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8" name="Shape 17"/>
          <p:cNvSpPr/>
          <p:nvPr/>
        </p:nvSpPr>
        <p:spPr>
          <a:xfrm>
            <a:off x="777240" y="2606040"/>
            <a:ext cx="5668560" cy="2651040"/>
          </a:xfrm>
          <a:prstGeom prst="roundRect">
            <a:avLst>
              <a:gd name="adj" fmla="val 2759"/>
            </a:avLst>
          </a:prstGeom>
          <a:solidFill>
            <a:srgbClr val="0b1220"/>
          </a:solidFill>
          <a:ln w="10160">
            <a:solidFill>
              <a:srgbClr val="18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9" name="Text 18"/>
          <p:cNvSpPr/>
          <p:nvPr/>
        </p:nvSpPr>
        <p:spPr>
          <a:xfrm>
            <a:off x="941760" y="2743200"/>
            <a:ext cx="5339520" cy="24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class Ticket(BaseModel):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    </a:t>
            </a: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categoria: str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    </a:t>
            </a: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prioridad: Literal["baja","media","alta"]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    </a:t>
            </a: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accion: str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chain = prompt | model.with_structured_output(Ticket)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resultado = chain.invoke({"ticket": texto})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0" name="Shape 19"/>
          <p:cNvSpPr/>
          <p:nvPr/>
        </p:nvSpPr>
        <p:spPr>
          <a:xfrm>
            <a:off x="6812280" y="2606040"/>
            <a:ext cx="4479840" cy="10508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1" name="Shape 20"/>
          <p:cNvSpPr/>
          <p:nvPr/>
        </p:nvSpPr>
        <p:spPr>
          <a:xfrm>
            <a:off x="6812280" y="2606040"/>
            <a:ext cx="72360" cy="1050840"/>
          </a:xfrm>
          <a:prstGeom prst="rect">
            <a:avLst/>
          </a:prstGeom>
          <a:solidFill>
            <a:srgbClr val="245c94"/>
          </a:solidFill>
          <a:ln w="1270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2" name="Text 21"/>
          <p:cNvSpPr/>
          <p:nvPr/>
        </p:nvSpPr>
        <p:spPr>
          <a:xfrm>
            <a:off x="6976800" y="2724840"/>
            <a:ext cx="4205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238"/>
                </a:solidFill>
                <a:latin typeface="Aptos"/>
              </a:rPr>
              <a:t>Cuándo usarlo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3" name="Text 22"/>
          <p:cNvSpPr/>
          <p:nvPr/>
        </p:nvSpPr>
        <p:spPr>
          <a:xfrm>
            <a:off x="6976800" y="3081600"/>
            <a:ext cx="417816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Aptos"/>
              </a:rPr>
              <a:t>Cuando se necesita salida estructurada para mesa de ayuda, CRM o reporte.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5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Ejemplos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6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7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978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38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9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Chain simple 3 · Extracción de PDF a Excel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0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Texto extraído → campos → fila validada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1" name="Shape 6"/>
          <p:cNvSpPr/>
          <p:nvPr/>
        </p:nvSpPr>
        <p:spPr>
          <a:xfrm>
            <a:off x="2757600" y="198864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2" name="Shape 7"/>
          <p:cNvSpPr/>
          <p:nvPr/>
        </p:nvSpPr>
        <p:spPr>
          <a:xfrm>
            <a:off x="4948560" y="198864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3" name="Shape 8"/>
          <p:cNvSpPr/>
          <p:nvPr/>
        </p:nvSpPr>
        <p:spPr>
          <a:xfrm>
            <a:off x="7139520" y="198864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4" name="Shape 9"/>
          <p:cNvSpPr/>
          <p:nvPr/>
        </p:nvSpPr>
        <p:spPr>
          <a:xfrm>
            <a:off x="9330480" y="1988640"/>
            <a:ext cx="6372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" name="Shape 10"/>
          <p:cNvSpPr/>
          <p:nvPr/>
        </p:nvSpPr>
        <p:spPr>
          <a:xfrm>
            <a:off x="685800" y="1691640"/>
            <a:ext cx="2025720" cy="59364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1430">
            <a:solidFill>
              <a:srgbClr val="f08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6" name="Text 11"/>
          <p:cNvSpPr/>
          <p:nvPr/>
        </p:nvSpPr>
        <p:spPr>
          <a:xfrm>
            <a:off x="749880" y="1783080"/>
            <a:ext cx="18975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PDF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7" name="Shape 12"/>
          <p:cNvSpPr/>
          <p:nvPr/>
        </p:nvSpPr>
        <p:spPr>
          <a:xfrm>
            <a:off x="2876760" y="1691640"/>
            <a:ext cx="202572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f08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" name="Text 13"/>
          <p:cNvSpPr/>
          <p:nvPr/>
        </p:nvSpPr>
        <p:spPr>
          <a:xfrm>
            <a:off x="2940840" y="1783080"/>
            <a:ext cx="18975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Texto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9" name="Shape 14"/>
          <p:cNvSpPr/>
          <p:nvPr/>
        </p:nvSpPr>
        <p:spPr>
          <a:xfrm>
            <a:off x="5067720" y="1691640"/>
            <a:ext cx="202572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f08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" name="Text 15"/>
          <p:cNvSpPr/>
          <p:nvPr/>
        </p:nvSpPr>
        <p:spPr>
          <a:xfrm>
            <a:off x="5131440" y="1783080"/>
            <a:ext cx="18975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Schema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1" name="Shape 16"/>
          <p:cNvSpPr/>
          <p:nvPr/>
        </p:nvSpPr>
        <p:spPr>
          <a:xfrm>
            <a:off x="7258680" y="1691640"/>
            <a:ext cx="202572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f08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" name="Text 17"/>
          <p:cNvSpPr/>
          <p:nvPr/>
        </p:nvSpPr>
        <p:spPr>
          <a:xfrm>
            <a:off x="7322400" y="1783080"/>
            <a:ext cx="18975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Validación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3" name="Shape 18"/>
          <p:cNvSpPr/>
          <p:nvPr/>
        </p:nvSpPr>
        <p:spPr>
          <a:xfrm>
            <a:off x="9449280" y="1691640"/>
            <a:ext cx="202572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f08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" name="Text 19"/>
          <p:cNvSpPr/>
          <p:nvPr/>
        </p:nvSpPr>
        <p:spPr>
          <a:xfrm>
            <a:off x="9513360" y="1783080"/>
            <a:ext cx="18975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Excel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" name="Shape 20"/>
          <p:cNvSpPr/>
          <p:nvPr/>
        </p:nvSpPr>
        <p:spPr>
          <a:xfrm>
            <a:off x="777240" y="2606040"/>
            <a:ext cx="5668560" cy="2651040"/>
          </a:xfrm>
          <a:prstGeom prst="roundRect">
            <a:avLst>
              <a:gd name="adj" fmla="val 2759"/>
            </a:avLst>
          </a:prstGeom>
          <a:solidFill>
            <a:srgbClr val="0b1220"/>
          </a:solidFill>
          <a:ln w="10160">
            <a:solidFill>
              <a:srgbClr val="18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6" name="Text 21"/>
          <p:cNvSpPr/>
          <p:nvPr/>
        </p:nvSpPr>
        <p:spPr>
          <a:xfrm>
            <a:off x="941760" y="2743200"/>
            <a:ext cx="5339520" cy="24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class Importacion(BaseModel):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    </a:t>
            </a: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nave: str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    </a:t>
            </a: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eta: str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    </a:t>
            </a: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bl: str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    </a:t>
            </a: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contenedor: str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chain = prompt | model.with_structured_output(Importacion)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fila = chain.invoke({"texto_doc": texto_pdf})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7" name="Shape 22"/>
          <p:cNvSpPr/>
          <p:nvPr/>
        </p:nvSpPr>
        <p:spPr>
          <a:xfrm>
            <a:off x="6812280" y="2606040"/>
            <a:ext cx="4479840" cy="10508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8" name="Shape 23"/>
          <p:cNvSpPr/>
          <p:nvPr/>
        </p:nvSpPr>
        <p:spPr>
          <a:xfrm>
            <a:off x="6812280" y="2606040"/>
            <a:ext cx="72360" cy="1050840"/>
          </a:xfrm>
          <a:prstGeom prst="rect">
            <a:avLst/>
          </a:prstGeom>
          <a:solidFill>
            <a:srgbClr val="f08a24"/>
          </a:solidFill>
          <a:ln w="12700">
            <a:solidFill>
              <a:srgbClr val="f08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9" name="Text 24"/>
          <p:cNvSpPr/>
          <p:nvPr/>
        </p:nvSpPr>
        <p:spPr>
          <a:xfrm>
            <a:off x="6976800" y="2724840"/>
            <a:ext cx="4205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238"/>
                </a:solidFill>
                <a:latin typeface="Aptos"/>
              </a:rPr>
              <a:t>Cuándo usarlo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0" name="Text 25"/>
          <p:cNvSpPr/>
          <p:nvPr/>
        </p:nvSpPr>
        <p:spPr>
          <a:xfrm>
            <a:off x="6976800" y="3081600"/>
            <a:ext cx="417816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Aptos"/>
              </a:rPr>
              <a:t>Cuando el valor está en pasar datos no estructurados a campos verificables.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2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Ejemplos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3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4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1005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39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6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Chain media 1 · Redacción con plantilla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7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Datos validados → borrador consistente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8" name="Shape 6"/>
          <p:cNvSpPr/>
          <p:nvPr/>
        </p:nvSpPr>
        <p:spPr>
          <a:xfrm>
            <a:off x="3305520" y="1988640"/>
            <a:ext cx="6372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9" name="Shape 7"/>
          <p:cNvSpPr/>
          <p:nvPr/>
        </p:nvSpPr>
        <p:spPr>
          <a:xfrm>
            <a:off x="6044040" y="198864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0" name="Shape 8"/>
          <p:cNvSpPr/>
          <p:nvPr/>
        </p:nvSpPr>
        <p:spPr>
          <a:xfrm>
            <a:off x="8782560" y="198864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1" name="Shape 9"/>
          <p:cNvSpPr/>
          <p:nvPr/>
        </p:nvSpPr>
        <p:spPr>
          <a:xfrm>
            <a:off x="685800" y="1691640"/>
            <a:ext cx="2573280" cy="59364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143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" name="Text 10"/>
          <p:cNvSpPr/>
          <p:nvPr/>
        </p:nvSpPr>
        <p:spPr>
          <a:xfrm>
            <a:off x="749880" y="1783080"/>
            <a:ext cx="24454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Datos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3" name="Shape 11"/>
          <p:cNvSpPr/>
          <p:nvPr/>
        </p:nvSpPr>
        <p:spPr>
          <a:xfrm>
            <a:off x="3424320" y="1691640"/>
            <a:ext cx="257328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4" name="Text 12"/>
          <p:cNvSpPr/>
          <p:nvPr/>
        </p:nvSpPr>
        <p:spPr>
          <a:xfrm>
            <a:off x="3488400" y="1783080"/>
            <a:ext cx="24454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Plantilla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5" name="Shape 13"/>
          <p:cNvSpPr/>
          <p:nvPr/>
        </p:nvSpPr>
        <p:spPr>
          <a:xfrm>
            <a:off x="6163200" y="1691640"/>
            <a:ext cx="257328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6" name="Text 14"/>
          <p:cNvSpPr/>
          <p:nvPr/>
        </p:nvSpPr>
        <p:spPr>
          <a:xfrm>
            <a:off x="6226920" y="1783080"/>
            <a:ext cx="24454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Modelo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7" name="Shape 15"/>
          <p:cNvSpPr/>
          <p:nvPr/>
        </p:nvSpPr>
        <p:spPr>
          <a:xfrm>
            <a:off x="8901720" y="1691640"/>
            <a:ext cx="257328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8" name="Text 16"/>
          <p:cNvSpPr/>
          <p:nvPr/>
        </p:nvSpPr>
        <p:spPr>
          <a:xfrm>
            <a:off x="8965800" y="1783080"/>
            <a:ext cx="24454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Borrador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9" name="Shape 17"/>
          <p:cNvSpPr/>
          <p:nvPr/>
        </p:nvSpPr>
        <p:spPr>
          <a:xfrm>
            <a:off x="777240" y="2606040"/>
            <a:ext cx="5668560" cy="2651040"/>
          </a:xfrm>
          <a:prstGeom prst="roundRect">
            <a:avLst>
              <a:gd name="adj" fmla="val 2759"/>
            </a:avLst>
          </a:prstGeom>
          <a:solidFill>
            <a:srgbClr val="0b1220"/>
          </a:solidFill>
          <a:ln w="10160">
            <a:solidFill>
              <a:srgbClr val="18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0" name="Text 18"/>
          <p:cNvSpPr/>
          <p:nvPr/>
        </p:nvSpPr>
        <p:spPr>
          <a:xfrm>
            <a:off x="941760" y="2743200"/>
            <a:ext cx="5339520" cy="24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prompt = ChatPromptTemplate.from_template(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  </a:t>
            </a: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"Redacta informe para {audiencia}. Usa datos: {datos}"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)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borrador = (prompt | model | parser).invoke({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  </a:t>
            </a: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"audiencia": "gerencia", "datos": kpis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})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1" name="Shape 19"/>
          <p:cNvSpPr/>
          <p:nvPr/>
        </p:nvSpPr>
        <p:spPr>
          <a:xfrm>
            <a:off x="6812280" y="2606040"/>
            <a:ext cx="4479840" cy="10508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2" name="Shape 20"/>
          <p:cNvSpPr/>
          <p:nvPr/>
        </p:nvSpPr>
        <p:spPr>
          <a:xfrm>
            <a:off x="6812280" y="2606040"/>
            <a:ext cx="72360" cy="1050840"/>
          </a:xfrm>
          <a:prstGeom prst="rect">
            <a:avLst/>
          </a:prstGeom>
          <a:solidFill>
            <a:srgbClr val="2d8a55"/>
          </a:solidFill>
          <a:ln w="1270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3" name="Text 21"/>
          <p:cNvSpPr/>
          <p:nvPr/>
        </p:nvSpPr>
        <p:spPr>
          <a:xfrm>
            <a:off x="6976800" y="2724840"/>
            <a:ext cx="4205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238"/>
                </a:solidFill>
                <a:latin typeface="Aptos"/>
              </a:rPr>
              <a:t>Cuándo usarlo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4" name="Text 22"/>
          <p:cNvSpPr/>
          <p:nvPr/>
        </p:nvSpPr>
        <p:spPr>
          <a:xfrm>
            <a:off x="6976800" y="3081600"/>
            <a:ext cx="417816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Aptos"/>
              </a:rPr>
              <a:t>Cuando ya existen datos confiables y se necesita convertirlos en narrativa profesional.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6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Ejemplos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7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8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1029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40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0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Chain media 2 · Evaluador de respuesta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1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Respuesta → revisión → score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2" name="Shape 6"/>
          <p:cNvSpPr/>
          <p:nvPr/>
        </p:nvSpPr>
        <p:spPr>
          <a:xfrm>
            <a:off x="3305520" y="1988640"/>
            <a:ext cx="6372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3" name="Shape 7"/>
          <p:cNvSpPr/>
          <p:nvPr/>
        </p:nvSpPr>
        <p:spPr>
          <a:xfrm>
            <a:off x="6044040" y="198864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4" name="Shape 8"/>
          <p:cNvSpPr/>
          <p:nvPr/>
        </p:nvSpPr>
        <p:spPr>
          <a:xfrm>
            <a:off x="8782560" y="198864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5" name="Shape 9"/>
          <p:cNvSpPr/>
          <p:nvPr/>
        </p:nvSpPr>
        <p:spPr>
          <a:xfrm>
            <a:off x="685800" y="1691640"/>
            <a:ext cx="2573280" cy="59364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1430">
            <a:solidFill>
              <a:srgbClr val="5b4e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6" name="Text 10"/>
          <p:cNvSpPr/>
          <p:nvPr/>
        </p:nvSpPr>
        <p:spPr>
          <a:xfrm>
            <a:off x="749880" y="1783080"/>
            <a:ext cx="24454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Input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7" name="Shape 11"/>
          <p:cNvSpPr/>
          <p:nvPr/>
        </p:nvSpPr>
        <p:spPr>
          <a:xfrm>
            <a:off x="3424320" y="1691640"/>
            <a:ext cx="257328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5b4e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8" name="Text 12"/>
          <p:cNvSpPr/>
          <p:nvPr/>
        </p:nvSpPr>
        <p:spPr>
          <a:xfrm>
            <a:off x="3488400" y="1783080"/>
            <a:ext cx="24454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Respuesta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9" name="Shape 13"/>
          <p:cNvSpPr/>
          <p:nvPr/>
        </p:nvSpPr>
        <p:spPr>
          <a:xfrm>
            <a:off x="6163200" y="1691640"/>
            <a:ext cx="257328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5b4e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0" name="Text 14"/>
          <p:cNvSpPr/>
          <p:nvPr/>
        </p:nvSpPr>
        <p:spPr>
          <a:xfrm>
            <a:off x="6226920" y="1783080"/>
            <a:ext cx="24454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Evaluador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1" name="Shape 15"/>
          <p:cNvSpPr/>
          <p:nvPr/>
        </p:nvSpPr>
        <p:spPr>
          <a:xfrm>
            <a:off x="8901720" y="1691640"/>
            <a:ext cx="257328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5b4e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2" name="Text 16"/>
          <p:cNvSpPr/>
          <p:nvPr/>
        </p:nvSpPr>
        <p:spPr>
          <a:xfrm>
            <a:off x="8965800" y="1783080"/>
            <a:ext cx="24454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Score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3" name="Shape 17"/>
          <p:cNvSpPr/>
          <p:nvPr/>
        </p:nvSpPr>
        <p:spPr>
          <a:xfrm>
            <a:off x="777240" y="2606040"/>
            <a:ext cx="5668560" cy="2651040"/>
          </a:xfrm>
          <a:prstGeom prst="roundRect">
            <a:avLst>
              <a:gd name="adj" fmla="val 2759"/>
            </a:avLst>
          </a:prstGeom>
          <a:solidFill>
            <a:srgbClr val="0b1220"/>
          </a:solidFill>
          <a:ln w="10160">
            <a:solidFill>
              <a:srgbClr val="18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4" name="Text 18"/>
          <p:cNvSpPr/>
          <p:nvPr/>
        </p:nvSpPr>
        <p:spPr>
          <a:xfrm>
            <a:off x="941760" y="2743200"/>
            <a:ext cx="5339520" cy="24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class Evaluacion(BaseModel):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    </a:t>
            </a: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cumple_formato: bool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    </a:t>
            </a: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calidad: int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    </a:t>
            </a: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observacion: str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eval_chain = eval_prompt | model.with_structured_output(Evaluacion)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5" name="Shape 19"/>
          <p:cNvSpPr/>
          <p:nvPr/>
        </p:nvSpPr>
        <p:spPr>
          <a:xfrm>
            <a:off x="6812280" y="2606040"/>
            <a:ext cx="4479840" cy="10508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6" name="Shape 20"/>
          <p:cNvSpPr/>
          <p:nvPr/>
        </p:nvSpPr>
        <p:spPr>
          <a:xfrm>
            <a:off x="6812280" y="2606040"/>
            <a:ext cx="72360" cy="1050840"/>
          </a:xfrm>
          <a:prstGeom prst="rect">
            <a:avLst/>
          </a:prstGeom>
          <a:solidFill>
            <a:srgbClr val="5b4e9c"/>
          </a:solidFill>
          <a:ln w="12700">
            <a:solidFill>
              <a:srgbClr val="5b4e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7" name="Text 21"/>
          <p:cNvSpPr/>
          <p:nvPr/>
        </p:nvSpPr>
        <p:spPr>
          <a:xfrm>
            <a:off x="6976800" y="2724840"/>
            <a:ext cx="4205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238"/>
                </a:solidFill>
                <a:latin typeface="Aptos"/>
              </a:rPr>
              <a:t>Cuándo usarlo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" name="Text 22"/>
          <p:cNvSpPr/>
          <p:nvPr/>
        </p:nvSpPr>
        <p:spPr>
          <a:xfrm>
            <a:off x="6976800" y="3081600"/>
            <a:ext cx="417816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Aptos"/>
              </a:rPr>
              <a:t>Cuando se quiere comparar versiones de prompt o revisar si la salida cumple criterios.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0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Ejemplos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1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2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1053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41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4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Chain media 3 · Conversación con historial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5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Sesión → últimos mensajes → respuesta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6" name="Shape 6"/>
          <p:cNvSpPr/>
          <p:nvPr/>
        </p:nvSpPr>
        <p:spPr>
          <a:xfrm>
            <a:off x="3305520" y="1988640"/>
            <a:ext cx="6372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7" name="Shape 7"/>
          <p:cNvSpPr/>
          <p:nvPr/>
        </p:nvSpPr>
        <p:spPr>
          <a:xfrm>
            <a:off x="6044040" y="198864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8" name="Shape 8"/>
          <p:cNvSpPr/>
          <p:nvPr/>
        </p:nvSpPr>
        <p:spPr>
          <a:xfrm>
            <a:off x="8782560" y="198864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9" name="Shape 9"/>
          <p:cNvSpPr/>
          <p:nvPr/>
        </p:nvSpPr>
        <p:spPr>
          <a:xfrm>
            <a:off x="685800" y="1691640"/>
            <a:ext cx="2573280" cy="59364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1430">
            <a:solidFill>
              <a:srgbClr val="b620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0" name="Text 10"/>
          <p:cNvSpPr/>
          <p:nvPr/>
        </p:nvSpPr>
        <p:spPr>
          <a:xfrm>
            <a:off x="749880" y="1783080"/>
            <a:ext cx="24454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session_id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1" name="Shape 11"/>
          <p:cNvSpPr/>
          <p:nvPr/>
        </p:nvSpPr>
        <p:spPr>
          <a:xfrm>
            <a:off x="3424320" y="1691640"/>
            <a:ext cx="257328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b620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2" name="Text 12"/>
          <p:cNvSpPr/>
          <p:nvPr/>
        </p:nvSpPr>
        <p:spPr>
          <a:xfrm>
            <a:off x="3488400" y="1783080"/>
            <a:ext cx="24454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Historial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3" name="Shape 13"/>
          <p:cNvSpPr/>
          <p:nvPr/>
        </p:nvSpPr>
        <p:spPr>
          <a:xfrm>
            <a:off x="6163200" y="1691640"/>
            <a:ext cx="257328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b620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4" name="Text 14"/>
          <p:cNvSpPr/>
          <p:nvPr/>
        </p:nvSpPr>
        <p:spPr>
          <a:xfrm>
            <a:off x="6226920" y="1783080"/>
            <a:ext cx="24454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Prompt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5" name="Shape 15"/>
          <p:cNvSpPr/>
          <p:nvPr/>
        </p:nvSpPr>
        <p:spPr>
          <a:xfrm>
            <a:off x="8901720" y="1691640"/>
            <a:ext cx="257328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b620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6" name="Text 16"/>
          <p:cNvSpPr/>
          <p:nvPr/>
        </p:nvSpPr>
        <p:spPr>
          <a:xfrm>
            <a:off x="8965800" y="1783080"/>
            <a:ext cx="24454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Respuesta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7" name="Shape 17"/>
          <p:cNvSpPr/>
          <p:nvPr/>
        </p:nvSpPr>
        <p:spPr>
          <a:xfrm>
            <a:off x="777240" y="2606040"/>
            <a:ext cx="5668560" cy="2651040"/>
          </a:xfrm>
          <a:prstGeom prst="roundRect">
            <a:avLst>
              <a:gd name="adj" fmla="val 2759"/>
            </a:avLst>
          </a:prstGeom>
          <a:solidFill>
            <a:srgbClr val="0b1220"/>
          </a:solidFill>
          <a:ln w="10160">
            <a:solidFill>
              <a:srgbClr val="18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8" name="Text 18"/>
          <p:cNvSpPr/>
          <p:nvPr/>
        </p:nvSpPr>
        <p:spPr>
          <a:xfrm>
            <a:off x="941760" y="2743200"/>
            <a:ext cx="5339520" cy="24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prompt = ChatPromptTemplate.from_messages([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  </a:t>
            </a: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("system", "Asistente interno breve."),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  </a:t>
            </a: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MessagesPlaceholder("historial"),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  </a:t>
            </a: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("user", "{pregunta}")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])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chain.invoke({"historial": ultimos, "pregunta": p})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9" name="Shape 19"/>
          <p:cNvSpPr/>
          <p:nvPr/>
        </p:nvSpPr>
        <p:spPr>
          <a:xfrm>
            <a:off x="6812280" y="2606040"/>
            <a:ext cx="4479840" cy="10508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0" name="Shape 20"/>
          <p:cNvSpPr/>
          <p:nvPr/>
        </p:nvSpPr>
        <p:spPr>
          <a:xfrm>
            <a:off x="6812280" y="2606040"/>
            <a:ext cx="72360" cy="1050840"/>
          </a:xfrm>
          <a:prstGeom prst="rect">
            <a:avLst/>
          </a:prstGeom>
          <a:solidFill>
            <a:srgbClr val="b6202a"/>
          </a:solidFill>
          <a:ln w="12700">
            <a:solidFill>
              <a:srgbClr val="b620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1" name="Text 21"/>
          <p:cNvSpPr/>
          <p:nvPr/>
        </p:nvSpPr>
        <p:spPr>
          <a:xfrm>
            <a:off x="6976800" y="2724840"/>
            <a:ext cx="4205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238"/>
                </a:solidFill>
                <a:latin typeface="Aptos"/>
              </a:rPr>
              <a:t>Cuándo usarlo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2" name="Text 22"/>
          <p:cNvSpPr/>
          <p:nvPr/>
        </p:nvSpPr>
        <p:spPr>
          <a:xfrm>
            <a:off x="6976800" y="3081600"/>
            <a:ext cx="417816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Aptos"/>
              </a:rPr>
              <a:t>Cuando la respuesta depende de turnos previos, no de documentos externos.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4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Ejemplos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5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76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1077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42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8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Flujo complejo 1 · RAG documental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9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Pregunta → contexto recuperado → respuesta con fuente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0" name="Shape 6"/>
          <p:cNvSpPr/>
          <p:nvPr/>
        </p:nvSpPr>
        <p:spPr>
          <a:xfrm>
            <a:off x="2757600" y="198864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1" name="Shape 7"/>
          <p:cNvSpPr/>
          <p:nvPr/>
        </p:nvSpPr>
        <p:spPr>
          <a:xfrm>
            <a:off x="4948560" y="198864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2" name="Shape 8"/>
          <p:cNvSpPr/>
          <p:nvPr/>
        </p:nvSpPr>
        <p:spPr>
          <a:xfrm>
            <a:off x="7139520" y="198864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3" name="Shape 9"/>
          <p:cNvSpPr/>
          <p:nvPr/>
        </p:nvSpPr>
        <p:spPr>
          <a:xfrm>
            <a:off x="9330480" y="1988640"/>
            <a:ext cx="6372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4" name="Shape 10"/>
          <p:cNvSpPr/>
          <p:nvPr/>
        </p:nvSpPr>
        <p:spPr>
          <a:xfrm>
            <a:off x="685800" y="1691640"/>
            <a:ext cx="2025720" cy="59364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143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5" name="Text 11"/>
          <p:cNvSpPr/>
          <p:nvPr/>
        </p:nvSpPr>
        <p:spPr>
          <a:xfrm>
            <a:off x="749880" y="1783080"/>
            <a:ext cx="18975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Pregunta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6" name="Shape 12"/>
          <p:cNvSpPr/>
          <p:nvPr/>
        </p:nvSpPr>
        <p:spPr>
          <a:xfrm>
            <a:off x="2876760" y="1691640"/>
            <a:ext cx="202572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7" name="Text 13"/>
          <p:cNvSpPr/>
          <p:nvPr/>
        </p:nvSpPr>
        <p:spPr>
          <a:xfrm>
            <a:off x="2940840" y="1783080"/>
            <a:ext cx="18975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Retriever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8" name="Shape 14"/>
          <p:cNvSpPr/>
          <p:nvPr/>
        </p:nvSpPr>
        <p:spPr>
          <a:xfrm>
            <a:off x="5067720" y="1691640"/>
            <a:ext cx="202572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9" name="Text 15"/>
          <p:cNvSpPr/>
          <p:nvPr/>
        </p:nvSpPr>
        <p:spPr>
          <a:xfrm>
            <a:off x="5131440" y="1783080"/>
            <a:ext cx="18975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Contexto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0" name="Shape 16"/>
          <p:cNvSpPr/>
          <p:nvPr/>
        </p:nvSpPr>
        <p:spPr>
          <a:xfrm>
            <a:off x="7258680" y="1691640"/>
            <a:ext cx="202572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1" name="Text 17"/>
          <p:cNvSpPr/>
          <p:nvPr/>
        </p:nvSpPr>
        <p:spPr>
          <a:xfrm>
            <a:off x="7322400" y="1783080"/>
            <a:ext cx="18975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Prompt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2" name="Shape 18"/>
          <p:cNvSpPr/>
          <p:nvPr/>
        </p:nvSpPr>
        <p:spPr>
          <a:xfrm>
            <a:off x="9449280" y="1691640"/>
            <a:ext cx="202572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3" name="Text 19"/>
          <p:cNvSpPr/>
          <p:nvPr/>
        </p:nvSpPr>
        <p:spPr>
          <a:xfrm>
            <a:off x="9513360" y="1783080"/>
            <a:ext cx="18975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Respuesta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4" name="Shape 20"/>
          <p:cNvSpPr/>
          <p:nvPr/>
        </p:nvSpPr>
        <p:spPr>
          <a:xfrm>
            <a:off x="777240" y="2606040"/>
            <a:ext cx="5668560" cy="2651040"/>
          </a:xfrm>
          <a:prstGeom prst="roundRect">
            <a:avLst>
              <a:gd name="adj" fmla="val 2759"/>
            </a:avLst>
          </a:prstGeom>
          <a:solidFill>
            <a:srgbClr val="0b1220"/>
          </a:solidFill>
          <a:ln w="10160">
            <a:solidFill>
              <a:srgbClr val="18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5" name="Text 21"/>
          <p:cNvSpPr/>
          <p:nvPr/>
        </p:nvSpPr>
        <p:spPr>
          <a:xfrm>
            <a:off x="941760" y="2743200"/>
            <a:ext cx="5339520" cy="24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contexto = retriever.invoke(pregunta)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rag_chain.invoke({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  </a:t>
            </a: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"contexto": contexto,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  </a:t>
            </a: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"pregunta": pregunta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})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6" name="Shape 22"/>
          <p:cNvSpPr/>
          <p:nvPr/>
        </p:nvSpPr>
        <p:spPr>
          <a:xfrm>
            <a:off x="6812280" y="2606040"/>
            <a:ext cx="4479840" cy="10508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7" name="Shape 23"/>
          <p:cNvSpPr/>
          <p:nvPr/>
        </p:nvSpPr>
        <p:spPr>
          <a:xfrm>
            <a:off x="6812280" y="2606040"/>
            <a:ext cx="72360" cy="1050840"/>
          </a:xfrm>
          <a:prstGeom prst="rect">
            <a:avLst/>
          </a:prstGeom>
          <a:solidFill>
            <a:srgbClr val="2d8a55"/>
          </a:solidFill>
          <a:ln w="1270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8" name="Text 24"/>
          <p:cNvSpPr/>
          <p:nvPr/>
        </p:nvSpPr>
        <p:spPr>
          <a:xfrm>
            <a:off x="6976800" y="2724840"/>
            <a:ext cx="4205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238"/>
                </a:solidFill>
                <a:latin typeface="Aptos"/>
              </a:rPr>
              <a:t>Cuándo usarlo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9" name="Text 25"/>
          <p:cNvSpPr/>
          <p:nvPr/>
        </p:nvSpPr>
        <p:spPr>
          <a:xfrm>
            <a:off x="6976800" y="3081600"/>
            <a:ext cx="417816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Aptos"/>
              </a:rPr>
              <a:t>Cuando la respuesta debe depender de documentos, políticas, manuales o reglamentos.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1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Ejemplos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2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3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1104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43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5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Flujo complejo 2 · Tool controlada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6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Modelo solicita una función externa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7" name="Shape 6"/>
          <p:cNvSpPr/>
          <p:nvPr/>
        </p:nvSpPr>
        <p:spPr>
          <a:xfrm>
            <a:off x="2757600" y="198864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8" name="Shape 7"/>
          <p:cNvSpPr/>
          <p:nvPr/>
        </p:nvSpPr>
        <p:spPr>
          <a:xfrm>
            <a:off x="4948560" y="198864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9" name="Shape 8"/>
          <p:cNvSpPr/>
          <p:nvPr/>
        </p:nvSpPr>
        <p:spPr>
          <a:xfrm>
            <a:off x="7139520" y="198864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0" name="Shape 9"/>
          <p:cNvSpPr/>
          <p:nvPr/>
        </p:nvSpPr>
        <p:spPr>
          <a:xfrm>
            <a:off x="9330480" y="1988640"/>
            <a:ext cx="6372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1" name="Shape 10"/>
          <p:cNvSpPr/>
          <p:nvPr/>
        </p:nvSpPr>
        <p:spPr>
          <a:xfrm>
            <a:off x="685800" y="1691640"/>
            <a:ext cx="2025720" cy="59364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1430">
            <a:solidFill>
              <a:srgbClr val="f08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2" name="Text 11"/>
          <p:cNvSpPr/>
          <p:nvPr/>
        </p:nvSpPr>
        <p:spPr>
          <a:xfrm>
            <a:off x="749880" y="1783080"/>
            <a:ext cx="18975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Usuario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3" name="Shape 12"/>
          <p:cNvSpPr/>
          <p:nvPr/>
        </p:nvSpPr>
        <p:spPr>
          <a:xfrm>
            <a:off x="2876760" y="1691640"/>
            <a:ext cx="202572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f08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4" name="Text 13"/>
          <p:cNvSpPr/>
          <p:nvPr/>
        </p:nvSpPr>
        <p:spPr>
          <a:xfrm>
            <a:off x="2940840" y="1783080"/>
            <a:ext cx="18975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Modelo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5" name="Shape 14"/>
          <p:cNvSpPr/>
          <p:nvPr/>
        </p:nvSpPr>
        <p:spPr>
          <a:xfrm>
            <a:off x="5067720" y="1691640"/>
            <a:ext cx="202572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f08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6" name="Text 15"/>
          <p:cNvSpPr/>
          <p:nvPr/>
        </p:nvSpPr>
        <p:spPr>
          <a:xfrm>
            <a:off x="5131440" y="1783080"/>
            <a:ext cx="18975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Tool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7" name="Shape 16"/>
          <p:cNvSpPr/>
          <p:nvPr/>
        </p:nvSpPr>
        <p:spPr>
          <a:xfrm>
            <a:off x="7258680" y="1691640"/>
            <a:ext cx="202572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f08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8" name="Text 17"/>
          <p:cNvSpPr/>
          <p:nvPr/>
        </p:nvSpPr>
        <p:spPr>
          <a:xfrm>
            <a:off x="7322400" y="1783080"/>
            <a:ext cx="18975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Sistema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9" name="Shape 18"/>
          <p:cNvSpPr/>
          <p:nvPr/>
        </p:nvSpPr>
        <p:spPr>
          <a:xfrm>
            <a:off x="9449280" y="1691640"/>
            <a:ext cx="202572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f08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0" name="Text 19"/>
          <p:cNvSpPr/>
          <p:nvPr/>
        </p:nvSpPr>
        <p:spPr>
          <a:xfrm>
            <a:off x="9513360" y="1783080"/>
            <a:ext cx="18975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Respuesta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1" name="Shape 20"/>
          <p:cNvSpPr/>
          <p:nvPr/>
        </p:nvSpPr>
        <p:spPr>
          <a:xfrm>
            <a:off x="777240" y="2606040"/>
            <a:ext cx="5668560" cy="2651040"/>
          </a:xfrm>
          <a:prstGeom prst="roundRect">
            <a:avLst>
              <a:gd name="adj" fmla="val 2759"/>
            </a:avLst>
          </a:prstGeom>
          <a:solidFill>
            <a:srgbClr val="0b1220"/>
          </a:solidFill>
          <a:ln w="10160">
            <a:solidFill>
              <a:srgbClr val="18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2" name="Text 21"/>
          <p:cNvSpPr/>
          <p:nvPr/>
        </p:nvSpPr>
        <p:spPr>
          <a:xfrm>
            <a:off x="941760" y="2743200"/>
            <a:ext cx="5339520" cy="24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@tool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def consultar_stock(sku: str) -&gt; dict: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    </a:t>
            </a: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validar_sku(sku)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    </a:t>
            </a: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return inventario.buscar(sku)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modelo_con_tools = model.bind_tools([consultar_stock])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3" name="Shape 22"/>
          <p:cNvSpPr/>
          <p:nvPr/>
        </p:nvSpPr>
        <p:spPr>
          <a:xfrm>
            <a:off x="6812280" y="2606040"/>
            <a:ext cx="4479840" cy="10508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4" name="Shape 23"/>
          <p:cNvSpPr/>
          <p:nvPr/>
        </p:nvSpPr>
        <p:spPr>
          <a:xfrm>
            <a:off x="6812280" y="2606040"/>
            <a:ext cx="72360" cy="1050840"/>
          </a:xfrm>
          <a:prstGeom prst="rect">
            <a:avLst/>
          </a:prstGeom>
          <a:solidFill>
            <a:srgbClr val="f08a24"/>
          </a:solidFill>
          <a:ln w="12700">
            <a:solidFill>
              <a:srgbClr val="f08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5" name="Text 24"/>
          <p:cNvSpPr/>
          <p:nvPr/>
        </p:nvSpPr>
        <p:spPr>
          <a:xfrm>
            <a:off x="6976800" y="2724840"/>
            <a:ext cx="4205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238"/>
                </a:solidFill>
                <a:latin typeface="Aptos"/>
              </a:rPr>
              <a:t>Cuándo usarlo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6" name="Text 25"/>
          <p:cNvSpPr/>
          <p:nvPr/>
        </p:nvSpPr>
        <p:spPr>
          <a:xfrm>
            <a:off x="6976800" y="3081600"/>
            <a:ext cx="417816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Aptos"/>
              </a:rPr>
              <a:t>Cuando el dato vive en un sistema, una base de datos o una API externa.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8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Ejemplos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9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0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1131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44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2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Flujo complejo 3 · Agente controlado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3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El sistema decide pasos dentro de límites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4" name="Shape 6"/>
          <p:cNvSpPr/>
          <p:nvPr/>
        </p:nvSpPr>
        <p:spPr>
          <a:xfrm>
            <a:off x="2757600" y="198864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5" name="Shape 7"/>
          <p:cNvSpPr/>
          <p:nvPr/>
        </p:nvSpPr>
        <p:spPr>
          <a:xfrm>
            <a:off x="4948560" y="198864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6" name="Shape 8"/>
          <p:cNvSpPr/>
          <p:nvPr/>
        </p:nvSpPr>
        <p:spPr>
          <a:xfrm>
            <a:off x="7139520" y="198864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7" name="Shape 9"/>
          <p:cNvSpPr/>
          <p:nvPr/>
        </p:nvSpPr>
        <p:spPr>
          <a:xfrm>
            <a:off x="9330480" y="1988640"/>
            <a:ext cx="6372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8" name="Shape 10"/>
          <p:cNvSpPr/>
          <p:nvPr/>
        </p:nvSpPr>
        <p:spPr>
          <a:xfrm>
            <a:off x="685800" y="1691640"/>
            <a:ext cx="2025720" cy="59364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1430">
            <a:solidFill>
              <a:srgbClr val="5b4e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9" name="Text 11"/>
          <p:cNvSpPr/>
          <p:nvPr/>
        </p:nvSpPr>
        <p:spPr>
          <a:xfrm>
            <a:off x="749880" y="1783080"/>
            <a:ext cx="18975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Objetivo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0" name="Shape 12"/>
          <p:cNvSpPr/>
          <p:nvPr/>
        </p:nvSpPr>
        <p:spPr>
          <a:xfrm>
            <a:off x="2876760" y="1691640"/>
            <a:ext cx="202572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5b4e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1" name="Text 13"/>
          <p:cNvSpPr/>
          <p:nvPr/>
        </p:nvSpPr>
        <p:spPr>
          <a:xfrm>
            <a:off x="2940840" y="1783080"/>
            <a:ext cx="18975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Agente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2" name="Shape 14"/>
          <p:cNvSpPr/>
          <p:nvPr/>
        </p:nvSpPr>
        <p:spPr>
          <a:xfrm>
            <a:off x="5067720" y="1691640"/>
            <a:ext cx="202572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5b4e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3" name="Text 15"/>
          <p:cNvSpPr/>
          <p:nvPr/>
        </p:nvSpPr>
        <p:spPr>
          <a:xfrm>
            <a:off x="5131440" y="1783080"/>
            <a:ext cx="18975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Tool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4" name="Shape 16"/>
          <p:cNvSpPr/>
          <p:nvPr/>
        </p:nvSpPr>
        <p:spPr>
          <a:xfrm>
            <a:off x="7258680" y="1691640"/>
            <a:ext cx="202572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5b4e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5" name="Text 17"/>
          <p:cNvSpPr/>
          <p:nvPr/>
        </p:nvSpPr>
        <p:spPr>
          <a:xfrm>
            <a:off x="7322400" y="1783080"/>
            <a:ext cx="18975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Observa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6" name="Shape 18"/>
          <p:cNvSpPr/>
          <p:nvPr/>
        </p:nvSpPr>
        <p:spPr>
          <a:xfrm>
            <a:off x="9449280" y="1691640"/>
            <a:ext cx="2025720" cy="59364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1430">
            <a:solidFill>
              <a:srgbClr val="5b4e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7" name="Text 19"/>
          <p:cNvSpPr/>
          <p:nvPr/>
        </p:nvSpPr>
        <p:spPr>
          <a:xfrm>
            <a:off x="9513360" y="1783080"/>
            <a:ext cx="18975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32238"/>
                </a:solidFill>
                <a:latin typeface="Aptos"/>
              </a:rPr>
              <a:t>Responde</a:t>
            </a:r>
            <a:endParaRPr b="0" lang="es-E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8" name="Shape 20"/>
          <p:cNvSpPr/>
          <p:nvPr/>
        </p:nvSpPr>
        <p:spPr>
          <a:xfrm>
            <a:off x="777240" y="2606040"/>
            <a:ext cx="5668560" cy="2651040"/>
          </a:xfrm>
          <a:prstGeom prst="roundRect">
            <a:avLst>
              <a:gd name="adj" fmla="val 2759"/>
            </a:avLst>
          </a:prstGeom>
          <a:solidFill>
            <a:srgbClr val="0b1220"/>
          </a:solidFill>
          <a:ln w="10160">
            <a:solidFill>
              <a:srgbClr val="18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9" name="Text 21"/>
          <p:cNvSpPr/>
          <p:nvPr/>
        </p:nvSpPr>
        <p:spPr>
          <a:xfrm>
            <a:off x="941760" y="2743200"/>
            <a:ext cx="5339520" cy="24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agent = create_agent(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  </a:t>
            </a: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model=model,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  </a:t>
            </a: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tools=[buscar_ticket, consultar_politica],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  </a:t>
            </a: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system_prompt="Máximo 3 pasos. No ejecutes acciones críticas."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5e7eb"/>
                </a:solidFill>
                <a:latin typeface="Aptos Mono"/>
                <a:ea typeface="Aptos Mono"/>
              </a:rPr>
              <a:t>)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0" name="Shape 22"/>
          <p:cNvSpPr/>
          <p:nvPr/>
        </p:nvSpPr>
        <p:spPr>
          <a:xfrm>
            <a:off x="6812280" y="2606040"/>
            <a:ext cx="4479840" cy="10508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1" name="Shape 23"/>
          <p:cNvSpPr/>
          <p:nvPr/>
        </p:nvSpPr>
        <p:spPr>
          <a:xfrm>
            <a:off x="6812280" y="2606040"/>
            <a:ext cx="72360" cy="1050840"/>
          </a:xfrm>
          <a:prstGeom prst="rect">
            <a:avLst/>
          </a:prstGeom>
          <a:solidFill>
            <a:srgbClr val="5b4e9c"/>
          </a:solidFill>
          <a:ln w="12700">
            <a:solidFill>
              <a:srgbClr val="5b4e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2" name="Text 24"/>
          <p:cNvSpPr/>
          <p:nvPr/>
        </p:nvSpPr>
        <p:spPr>
          <a:xfrm>
            <a:off x="6976800" y="2724840"/>
            <a:ext cx="4205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238"/>
                </a:solidFill>
                <a:latin typeface="Aptos"/>
              </a:rPr>
              <a:t>Cuándo usarlo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3" name="Text 25"/>
          <p:cNvSpPr/>
          <p:nvPr/>
        </p:nvSpPr>
        <p:spPr>
          <a:xfrm>
            <a:off x="6976800" y="3081600"/>
            <a:ext cx="417816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Aptos"/>
              </a:rPr>
              <a:t>Cuando la ruta no es fija, pero las herramientas y límites sí están definidos.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4" name="Picture 1" descr="case-58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5" name="Picture 3" descr="image.png"/>
          <p:cNvPicPr/>
          <p:nvPr/>
        </p:nvPicPr>
        <p:blipFill>
          <a:blip r:embed="rId1"/>
          <a:stretch/>
        </p:blipFill>
        <p:spPr>
          <a:xfrm>
            <a:off x="255600" y="164520"/>
            <a:ext cx="291600" cy="307440"/>
          </a:xfrm>
          <a:prstGeom prst="rect">
            <a:avLst/>
          </a:prstGeom>
          <a:ln w="0">
            <a:noFill/>
          </a:ln>
        </p:spPr>
      </p:pic>
      <p:sp>
        <p:nvSpPr>
          <p:cNvPr id="1156" name="TextBox 5"/>
          <p:cNvSpPr/>
          <p:nvPr/>
        </p:nvSpPr>
        <p:spPr>
          <a:xfrm>
            <a:off x="2509560" y="164520"/>
            <a:ext cx="4982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850" spc="-1" strike="noStrike">
                <a:solidFill>
                  <a:srgbClr val="5f6878"/>
                </a:solidFill>
                <a:latin typeface="Aptos"/>
              </a:rPr>
              <a:t>Diplomado Ejecutivo en Confianza Digital, IA y Automatización Empresarial · Módulo 1 · Clase 3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7" name="Rectangle 4"/>
          <p:cNvSpPr/>
          <p:nvPr/>
        </p:nvSpPr>
        <p:spPr>
          <a:xfrm>
            <a:off x="255600" y="567000"/>
            <a:ext cx="11657160" cy="9720"/>
          </a:xfrm>
          <a:prstGeom prst="rect">
            <a:avLst/>
          </a:prstGeom>
          <a:solidFill>
            <a:srgbClr val="cd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158" name="TextBox 18"/>
          <p:cNvSpPr/>
          <p:nvPr/>
        </p:nvSpPr>
        <p:spPr>
          <a:xfrm>
            <a:off x="1189800" y="868680"/>
            <a:ext cx="93225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192346"/>
                </a:solidFill>
                <a:latin typeface="Aptos"/>
              </a:rPr>
              <a:t>Caso 1 · Importaciones marítimas: PDF → Excel + alertas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9" name="TextBox 21"/>
          <p:cNvSpPr/>
          <p:nvPr/>
        </p:nvSpPr>
        <p:spPr>
          <a:xfrm>
            <a:off x="2466000" y="1417320"/>
            <a:ext cx="689796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250" spc="-1" strike="noStrike">
                <a:solidFill>
                  <a:srgbClr val="5f6878"/>
                </a:solidFill>
                <a:latin typeface="Aptos"/>
              </a:rPr>
              <a:t>Mejor solución: extracción estructurada con validación; alertas por cambios de ETA/fechas.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0" name="Rounded Rectangle 7"/>
          <p:cNvSpPr/>
          <p:nvPr/>
        </p:nvSpPr>
        <p:spPr>
          <a:xfrm>
            <a:off x="776880" y="1783080"/>
            <a:ext cx="2833560" cy="456120"/>
          </a:xfrm>
          <a:prstGeom prst="roundRect">
            <a:avLst>
              <a:gd name="adj" fmla="val 16667"/>
            </a:avLst>
          </a:prstGeom>
          <a:solidFill>
            <a:srgbClr val="594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200" spc="-1" strike="noStrike">
                <a:solidFill>
                  <a:srgbClr val="ffffff"/>
                </a:solidFill>
                <a:latin typeface="Aptos"/>
              </a:rPr>
              <a:t>Tipo recomendado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1" name="Rounded Rectangle 15"/>
          <p:cNvSpPr/>
          <p:nvPr/>
        </p:nvSpPr>
        <p:spPr>
          <a:xfrm>
            <a:off x="3794400" y="1783080"/>
            <a:ext cx="7496640" cy="45612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cdd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220" spc="-1" strike="noStrike">
                <a:solidFill>
                  <a:srgbClr val="192346"/>
                </a:solidFill>
                <a:latin typeface="Aptos"/>
              </a:rPr>
              <a:t>OCR / extracción de texto + Chain con structured output + Excel/BD + job de alertas</a:t>
            </a:r>
            <a:endParaRPr b="0" lang="es-ES" sz="122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62" name="Connector 7"/>
          <p:cNvCxnSpPr/>
          <p:nvPr/>
        </p:nvCxnSpPr>
        <p:spPr>
          <a:xfrm>
            <a:off x="2075400" y="3145320"/>
            <a:ext cx="120240" cy="1080"/>
          </a:xfrm>
          <a:prstGeom prst="straightConnector1">
            <a:avLst/>
          </a:prstGeom>
          <a:ln w="20320">
            <a:solidFill>
              <a:srgbClr val="cdd5eb"/>
            </a:solidFill>
            <a:round/>
          </a:ln>
        </p:spPr>
      </p:cxnSp>
      <p:cxnSp>
        <p:nvCxnSpPr>
          <p:cNvPr id="1163" name="Connector 8"/>
          <p:cNvCxnSpPr/>
          <p:nvPr/>
        </p:nvCxnSpPr>
        <p:spPr>
          <a:xfrm>
            <a:off x="3675600" y="3145320"/>
            <a:ext cx="120240" cy="1080"/>
          </a:xfrm>
          <a:prstGeom prst="straightConnector1">
            <a:avLst/>
          </a:prstGeom>
          <a:ln w="20320">
            <a:solidFill>
              <a:srgbClr val="cdd5eb"/>
            </a:solidFill>
            <a:round/>
          </a:ln>
        </p:spPr>
      </p:cxnSp>
      <p:cxnSp>
        <p:nvCxnSpPr>
          <p:cNvPr id="1164" name="Connector 9"/>
          <p:cNvCxnSpPr/>
          <p:nvPr/>
        </p:nvCxnSpPr>
        <p:spPr>
          <a:xfrm>
            <a:off x="5275800" y="3145320"/>
            <a:ext cx="120240" cy="1080"/>
          </a:xfrm>
          <a:prstGeom prst="straightConnector1">
            <a:avLst/>
          </a:prstGeom>
          <a:ln w="20320">
            <a:solidFill>
              <a:srgbClr val="cdd5eb"/>
            </a:solidFill>
            <a:round/>
          </a:ln>
        </p:spPr>
      </p:cxnSp>
      <p:cxnSp>
        <p:nvCxnSpPr>
          <p:cNvPr id="1165" name="Connector 10"/>
          <p:cNvCxnSpPr/>
          <p:nvPr/>
        </p:nvCxnSpPr>
        <p:spPr>
          <a:xfrm>
            <a:off x="6876000" y="3145320"/>
            <a:ext cx="120240" cy="1080"/>
          </a:xfrm>
          <a:prstGeom prst="straightConnector1">
            <a:avLst/>
          </a:prstGeom>
          <a:ln w="20320">
            <a:solidFill>
              <a:srgbClr val="cdd5eb"/>
            </a:solidFill>
            <a:round/>
          </a:ln>
        </p:spPr>
      </p:cxnSp>
      <p:cxnSp>
        <p:nvCxnSpPr>
          <p:cNvPr id="1166" name="Connector 11"/>
          <p:cNvCxnSpPr/>
          <p:nvPr/>
        </p:nvCxnSpPr>
        <p:spPr>
          <a:xfrm>
            <a:off x="8476200" y="3145320"/>
            <a:ext cx="120240" cy="1080"/>
          </a:xfrm>
          <a:prstGeom prst="straightConnector1">
            <a:avLst/>
          </a:prstGeom>
          <a:ln w="20320">
            <a:solidFill>
              <a:srgbClr val="cdd5eb"/>
            </a:solidFill>
            <a:round/>
          </a:ln>
        </p:spPr>
      </p:cxnSp>
      <p:cxnSp>
        <p:nvCxnSpPr>
          <p:cNvPr id="1167" name="Connector 12"/>
          <p:cNvCxnSpPr/>
          <p:nvPr/>
        </p:nvCxnSpPr>
        <p:spPr>
          <a:xfrm>
            <a:off x="10076400" y="3145320"/>
            <a:ext cx="120240" cy="1080"/>
          </a:xfrm>
          <a:prstGeom prst="straightConnector1">
            <a:avLst/>
          </a:prstGeom>
          <a:ln w="20320">
            <a:solidFill>
              <a:srgbClr val="cdd5eb"/>
            </a:solidFill>
            <a:round/>
          </a:ln>
        </p:spPr>
      </p:cxnSp>
      <p:sp>
        <p:nvSpPr>
          <p:cNvPr id="1168" name="Rounded Rectangle 16"/>
          <p:cNvSpPr/>
          <p:nvPr/>
        </p:nvSpPr>
        <p:spPr>
          <a:xfrm>
            <a:off x="594000" y="2788920"/>
            <a:ext cx="1480320" cy="71208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dc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>
              <a:lnSpc>
                <a:spcPct val="100000"/>
              </a:lnSpc>
            </a:pPr>
            <a:r>
              <a:rPr b="1" lang="es-ES" sz="870" spc="-1" strike="noStrike">
                <a:solidFill>
                  <a:srgbClr val="192346"/>
                </a:solidFill>
                <a:latin typeface="Aptos"/>
              </a:rPr>
              <a:t>PDF importación</a:t>
            </a:r>
            <a:endParaRPr b="0" lang="es-ES" sz="8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870" spc="-1" strike="noStrike">
                <a:solidFill>
                  <a:srgbClr val="192346"/>
                </a:solidFill>
                <a:latin typeface="Aptos"/>
              </a:rPr>
              <a:t>BL / factura / packing</a:t>
            </a:r>
            <a:endParaRPr b="0" lang="es-ES" sz="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9" name="Rounded Rectangle 18"/>
          <p:cNvSpPr/>
          <p:nvPr/>
        </p:nvSpPr>
        <p:spPr>
          <a:xfrm>
            <a:off x="2194200" y="2788920"/>
            <a:ext cx="1480320" cy="71208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dc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>
              <a:lnSpc>
                <a:spcPct val="100000"/>
              </a:lnSpc>
            </a:pPr>
            <a:r>
              <a:rPr b="1" lang="es-ES" sz="870" spc="-1" strike="noStrike">
                <a:solidFill>
                  <a:srgbClr val="192346"/>
                </a:solidFill>
                <a:latin typeface="Aptos"/>
              </a:rPr>
              <a:t>OCR / parser</a:t>
            </a:r>
            <a:endParaRPr b="0" lang="es-ES" sz="8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870" spc="-1" strike="noStrike">
                <a:solidFill>
                  <a:srgbClr val="192346"/>
                </a:solidFill>
                <a:latin typeface="Aptos"/>
              </a:rPr>
              <a:t>texto limpio</a:t>
            </a:r>
            <a:endParaRPr b="0" lang="es-ES" sz="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0" name="Rounded Rectangle 19"/>
          <p:cNvSpPr/>
          <p:nvPr/>
        </p:nvSpPr>
        <p:spPr>
          <a:xfrm>
            <a:off x="3794400" y="2788920"/>
            <a:ext cx="1480320" cy="71208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dc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>
              <a:lnSpc>
                <a:spcPct val="100000"/>
              </a:lnSpc>
            </a:pPr>
            <a:r>
              <a:rPr b="1" lang="es-ES" sz="870" spc="-1" strike="noStrike">
                <a:solidFill>
                  <a:srgbClr val="192346"/>
                </a:solidFill>
                <a:latin typeface="Aptos"/>
              </a:rPr>
              <a:t>PromptTemplate</a:t>
            </a:r>
            <a:endParaRPr b="0" lang="es-ES" sz="8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870" spc="-1" strike="noStrike">
                <a:solidFill>
                  <a:srgbClr val="192346"/>
                </a:solidFill>
                <a:latin typeface="Aptos"/>
              </a:rPr>
              <a:t>extracción</a:t>
            </a:r>
            <a:endParaRPr b="0" lang="es-ES" sz="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1" name="Rounded Rectangle 22"/>
          <p:cNvSpPr/>
          <p:nvPr/>
        </p:nvSpPr>
        <p:spPr>
          <a:xfrm>
            <a:off x="5394600" y="2788920"/>
            <a:ext cx="1480320" cy="71208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dc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>
              <a:lnSpc>
                <a:spcPct val="100000"/>
              </a:lnSpc>
            </a:pPr>
            <a:r>
              <a:rPr b="1" lang="es-ES" sz="870" spc="-1" strike="noStrike">
                <a:solidFill>
                  <a:srgbClr val="192346"/>
                </a:solidFill>
                <a:latin typeface="Aptos"/>
              </a:rPr>
              <a:t>Structured output</a:t>
            </a:r>
            <a:endParaRPr b="0" lang="es-ES" sz="8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870" spc="-1" strike="noStrike">
                <a:solidFill>
                  <a:srgbClr val="192346"/>
                </a:solidFill>
                <a:latin typeface="Aptos"/>
              </a:rPr>
              <a:t>JSON validado</a:t>
            </a:r>
            <a:endParaRPr b="0" lang="es-ES" sz="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2" name="Rounded Rectangle 23"/>
          <p:cNvSpPr/>
          <p:nvPr/>
        </p:nvSpPr>
        <p:spPr>
          <a:xfrm>
            <a:off x="6994800" y="2788920"/>
            <a:ext cx="1480320" cy="71208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dc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>
              <a:lnSpc>
                <a:spcPct val="100000"/>
              </a:lnSpc>
            </a:pPr>
            <a:r>
              <a:rPr b="1" lang="es-ES" sz="870" spc="-1" strike="noStrike">
                <a:solidFill>
                  <a:srgbClr val="192346"/>
                </a:solidFill>
                <a:latin typeface="Aptos"/>
              </a:rPr>
              <a:t>Excel / BD</a:t>
            </a:r>
            <a:endParaRPr b="0" lang="es-ES" sz="8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870" spc="-1" strike="noStrike">
                <a:solidFill>
                  <a:srgbClr val="192346"/>
                </a:solidFill>
                <a:latin typeface="Aptos"/>
              </a:rPr>
              <a:t>registro</a:t>
            </a:r>
            <a:endParaRPr b="0" lang="es-ES" sz="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3" name="Rounded Rectangle 24"/>
          <p:cNvSpPr/>
          <p:nvPr/>
        </p:nvSpPr>
        <p:spPr>
          <a:xfrm>
            <a:off x="8595000" y="2788920"/>
            <a:ext cx="1480320" cy="71208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dc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>
              <a:lnSpc>
                <a:spcPct val="100000"/>
              </a:lnSpc>
            </a:pPr>
            <a:r>
              <a:rPr b="1" lang="es-ES" sz="870" spc="-1" strike="noStrike">
                <a:solidFill>
                  <a:srgbClr val="192346"/>
                </a:solidFill>
                <a:latin typeface="Aptos"/>
              </a:rPr>
              <a:t>Watcher ETA</a:t>
            </a:r>
            <a:endParaRPr b="0" lang="es-ES" sz="8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870" spc="-1" strike="noStrike">
                <a:solidFill>
                  <a:srgbClr val="192346"/>
                </a:solidFill>
                <a:latin typeface="Aptos"/>
              </a:rPr>
              <a:t>compara fechas</a:t>
            </a:r>
            <a:endParaRPr b="0" lang="es-ES" sz="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4" name="Rounded Rectangle 26"/>
          <p:cNvSpPr/>
          <p:nvPr/>
        </p:nvSpPr>
        <p:spPr>
          <a:xfrm>
            <a:off x="10195200" y="2788920"/>
            <a:ext cx="1480320" cy="71208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dc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>
              <a:lnSpc>
                <a:spcPct val="100000"/>
              </a:lnSpc>
            </a:pPr>
            <a:r>
              <a:rPr b="1" lang="es-ES" sz="870" spc="-1" strike="noStrike">
                <a:solidFill>
                  <a:srgbClr val="192346"/>
                </a:solidFill>
                <a:latin typeface="Aptos"/>
              </a:rPr>
              <a:t>Alerta</a:t>
            </a:r>
            <a:endParaRPr b="0" lang="es-ES" sz="87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870" spc="-1" strike="noStrike">
                <a:solidFill>
                  <a:srgbClr val="192346"/>
                </a:solidFill>
                <a:latin typeface="Aptos"/>
              </a:rPr>
              <a:t>mail/Teams</a:t>
            </a:r>
            <a:endParaRPr b="0" lang="es-ES" sz="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5" name="TextBox 24"/>
          <p:cNvSpPr/>
          <p:nvPr/>
        </p:nvSpPr>
        <p:spPr>
          <a:xfrm>
            <a:off x="822600" y="3977640"/>
            <a:ext cx="5211000" cy="74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070" spc="-1" strike="noStrike">
                <a:solidFill>
                  <a:srgbClr val="161c2d"/>
                </a:solidFill>
                <a:latin typeface="Aptos"/>
              </a:rPr>
              <a:t>Datos típicos: N° BL / conocimiento de embarque, contenedor, nave, puerto origen/destino, ETA, importador, proveedor, factura, peso, bultos, incoterm.</a:t>
            </a:r>
            <a:endParaRPr b="0" lang="es-ES" sz="10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070" spc="-1" strike="noStrike">
                <a:solidFill>
                  <a:srgbClr val="161c2d"/>
                </a:solidFill>
                <a:latin typeface="Aptos"/>
              </a:rPr>
              <a:t>Control: validar campos obligatorios, formato de fechas, duplicados y confianza de extracción.</a:t>
            </a:r>
            <a:endParaRPr b="0" lang="es-E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6" name="TextBox 25"/>
          <p:cNvSpPr/>
          <p:nvPr/>
        </p:nvSpPr>
        <p:spPr>
          <a:xfrm>
            <a:off x="6309000" y="3977640"/>
            <a:ext cx="489096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070" spc="-1" strike="noStrike">
                <a:solidFill>
                  <a:srgbClr val="161c2d"/>
                </a:solidFill>
                <a:latin typeface="Aptos"/>
              </a:rPr>
              <a:t>No partir con agente: el flujo principal es determinístico.</a:t>
            </a:r>
            <a:endParaRPr b="0" lang="es-ES" sz="10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070" spc="-1" strike="noStrike">
                <a:solidFill>
                  <a:srgbClr val="161c2d"/>
                </a:solidFill>
                <a:latin typeface="Aptos"/>
              </a:rPr>
              <a:t>La IA extrae y normaliza; la alerta se resuelve con regla programada comparando fechas anteriores vs. nuevas.</a:t>
            </a:r>
            <a:endParaRPr b="0" lang="es-E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7" name="Rounded Rectangle 27"/>
          <p:cNvSpPr/>
          <p:nvPr/>
        </p:nvSpPr>
        <p:spPr>
          <a:xfrm>
            <a:off x="868320" y="5650920"/>
            <a:ext cx="10331280" cy="364680"/>
          </a:xfrm>
          <a:prstGeom prst="roundRect">
            <a:avLst>
              <a:gd name="adj" fmla="val 16667"/>
            </a:avLst>
          </a:prstGeom>
          <a:solidFill>
            <a:srgbClr val="19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150" spc="-1" strike="noStrike">
                <a:solidFill>
                  <a:srgbClr val="ffffff"/>
                </a:solidFill>
                <a:latin typeface="Aptos"/>
              </a:rPr>
              <a:t>Decisión: no es RAG; el problema central es convertir documentos semi-estructurados en datos confiables.</a:t>
            </a:r>
            <a:endParaRPr b="0" lang="es-E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78" name="Picture 4" descr="image.png"/>
          <p:cNvPicPr/>
          <p:nvPr/>
        </p:nvPicPr>
        <p:blipFill>
          <a:blip r:embed="rId2"/>
          <a:stretch/>
        </p:blipFill>
        <p:spPr>
          <a:xfrm>
            <a:off x="255600" y="164520"/>
            <a:ext cx="291600" cy="307440"/>
          </a:xfrm>
          <a:prstGeom prst="rect">
            <a:avLst/>
          </a:prstGeom>
          <a:ln w="0">
            <a:noFill/>
          </a:ln>
        </p:spPr>
      </p:pic>
      <p:sp>
        <p:nvSpPr>
          <p:cNvPr id="1179" name="TextBox 26"/>
          <p:cNvSpPr/>
          <p:nvPr/>
        </p:nvSpPr>
        <p:spPr>
          <a:xfrm>
            <a:off x="2509560" y="164520"/>
            <a:ext cx="4982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850" spc="-1" strike="noStrike">
                <a:solidFill>
                  <a:srgbClr val="5f6878"/>
                </a:solidFill>
                <a:latin typeface="Aptos"/>
              </a:rPr>
              <a:t>Diplomado Ejecutivo en Confianza Digital, IA y Automatización Empresarial · Módulo 1 · Clase 3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0" name="Rectangle 5"/>
          <p:cNvSpPr/>
          <p:nvPr/>
        </p:nvSpPr>
        <p:spPr>
          <a:xfrm>
            <a:off x="255600" y="567000"/>
            <a:ext cx="11657160" cy="9720"/>
          </a:xfrm>
          <a:prstGeom prst="rect">
            <a:avLst/>
          </a:prstGeom>
          <a:solidFill>
            <a:srgbClr val="cd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181" name="TextBox 28"/>
          <p:cNvSpPr/>
          <p:nvPr/>
        </p:nvSpPr>
        <p:spPr>
          <a:xfrm>
            <a:off x="11221560" y="6437520"/>
            <a:ext cx="323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s-ES" sz="1000" spc="-1" strike="noStrike">
                <a:solidFill>
                  <a:srgbClr val="5f6878"/>
                </a:solidFill>
                <a:latin typeface="Aptos"/>
              </a:rPr>
              <a:t>59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2" name="Picture 5" descr="image.png"/>
          <p:cNvPicPr/>
          <p:nvPr/>
        </p:nvPicPr>
        <p:blipFill>
          <a:blip r:embed="rId1"/>
          <a:stretch/>
        </p:blipFill>
        <p:spPr>
          <a:xfrm>
            <a:off x="255600" y="164520"/>
            <a:ext cx="291600" cy="307440"/>
          </a:xfrm>
          <a:prstGeom prst="rect">
            <a:avLst/>
          </a:prstGeom>
          <a:ln w="0">
            <a:noFill/>
          </a:ln>
        </p:spPr>
      </p:pic>
      <p:sp>
        <p:nvSpPr>
          <p:cNvPr id="1183" name="TextBox 29"/>
          <p:cNvSpPr/>
          <p:nvPr/>
        </p:nvSpPr>
        <p:spPr>
          <a:xfrm>
            <a:off x="2509560" y="164520"/>
            <a:ext cx="4982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850" spc="-1" strike="noStrike">
                <a:solidFill>
                  <a:srgbClr val="5f6878"/>
                </a:solidFill>
                <a:latin typeface="Aptos"/>
              </a:rPr>
              <a:t>Diplomado Ejecutivo en Confianza Digital, IA y Automatización Empresarial · Módulo 1 · Clase 3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4" name="Rectangle 8"/>
          <p:cNvSpPr/>
          <p:nvPr/>
        </p:nvSpPr>
        <p:spPr>
          <a:xfrm>
            <a:off x="255600" y="567000"/>
            <a:ext cx="11657160" cy="9720"/>
          </a:xfrm>
          <a:prstGeom prst="rect">
            <a:avLst/>
          </a:prstGeom>
          <a:solidFill>
            <a:srgbClr val="cd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185" name="TextBox 30"/>
          <p:cNvSpPr/>
          <p:nvPr/>
        </p:nvSpPr>
        <p:spPr>
          <a:xfrm>
            <a:off x="1220400" y="868680"/>
            <a:ext cx="92638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ES" sz="2000" spc="-1" strike="noStrike">
                <a:solidFill>
                  <a:srgbClr val="192346"/>
                </a:solidFill>
                <a:latin typeface="Aptos"/>
              </a:rPr>
              <a:t>Caso 2 · Construcción: KPIs por proyecto con recomendación inteligente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6" name="TextBox 32"/>
          <p:cNvSpPr/>
          <p:nvPr/>
        </p:nvSpPr>
        <p:spPr>
          <a:xfrm>
            <a:off x="2087280" y="1417320"/>
            <a:ext cx="765540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250" spc="-1" strike="noStrike">
                <a:solidFill>
                  <a:srgbClr val="5f6878"/>
                </a:solidFill>
                <a:latin typeface="Aptos"/>
              </a:rPr>
              <a:t>Mejor solución: dashboard operacional + analista IA con reglas, casos históricos y alertas predictivas.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7" name="Rounded Rectangle 28"/>
          <p:cNvSpPr/>
          <p:nvPr/>
        </p:nvSpPr>
        <p:spPr>
          <a:xfrm>
            <a:off x="776880" y="1783080"/>
            <a:ext cx="2833560" cy="456120"/>
          </a:xfrm>
          <a:prstGeom prst="roundRect">
            <a:avLst>
              <a:gd name="adj" fmla="val 16667"/>
            </a:avLst>
          </a:prstGeom>
          <a:solidFill>
            <a:srgbClr val="594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200" spc="-1" strike="noStrike">
                <a:solidFill>
                  <a:srgbClr val="ffffff"/>
                </a:solidFill>
                <a:latin typeface="Aptos"/>
              </a:rPr>
              <a:t>Tipo recomendado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8" name="Rounded Rectangle 30"/>
          <p:cNvSpPr/>
          <p:nvPr/>
        </p:nvSpPr>
        <p:spPr>
          <a:xfrm>
            <a:off x="3794400" y="1783080"/>
            <a:ext cx="7496640" cy="45612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cdd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200" spc="-1" strike="noStrike">
                <a:solidFill>
                  <a:srgbClr val="192346"/>
                </a:solidFill>
                <a:latin typeface="Aptos"/>
              </a:rPr>
              <a:t>BI/Dashboard + tool de consulta KPI + retriever de casos similares + agente monitor controlado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89" name="Connector 13"/>
          <p:cNvCxnSpPr/>
          <p:nvPr/>
        </p:nvCxnSpPr>
        <p:spPr>
          <a:xfrm>
            <a:off x="2075400" y="3117960"/>
            <a:ext cx="120240" cy="1080"/>
          </a:xfrm>
          <a:prstGeom prst="straightConnector1">
            <a:avLst/>
          </a:prstGeom>
          <a:ln w="20320">
            <a:solidFill>
              <a:srgbClr val="cdd5eb"/>
            </a:solidFill>
            <a:round/>
          </a:ln>
        </p:spPr>
      </p:cxnSp>
      <p:cxnSp>
        <p:nvCxnSpPr>
          <p:cNvPr id="1190" name="Connector 14"/>
          <p:cNvCxnSpPr/>
          <p:nvPr/>
        </p:nvCxnSpPr>
        <p:spPr>
          <a:xfrm>
            <a:off x="3675600" y="3117960"/>
            <a:ext cx="120240" cy="1080"/>
          </a:xfrm>
          <a:prstGeom prst="straightConnector1">
            <a:avLst/>
          </a:prstGeom>
          <a:ln w="20320">
            <a:solidFill>
              <a:srgbClr val="cdd5eb"/>
            </a:solidFill>
            <a:round/>
          </a:ln>
        </p:spPr>
      </p:cxnSp>
      <p:cxnSp>
        <p:nvCxnSpPr>
          <p:cNvPr id="1191" name="Connector 15"/>
          <p:cNvCxnSpPr/>
          <p:nvPr/>
        </p:nvCxnSpPr>
        <p:spPr>
          <a:xfrm>
            <a:off x="5275800" y="3117960"/>
            <a:ext cx="120240" cy="1080"/>
          </a:xfrm>
          <a:prstGeom prst="straightConnector1">
            <a:avLst/>
          </a:prstGeom>
          <a:ln w="20320">
            <a:solidFill>
              <a:srgbClr val="cdd5eb"/>
            </a:solidFill>
            <a:round/>
          </a:ln>
        </p:spPr>
      </p:cxnSp>
      <p:cxnSp>
        <p:nvCxnSpPr>
          <p:cNvPr id="1192" name="Connector 16"/>
          <p:cNvCxnSpPr/>
          <p:nvPr/>
        </p:nvCxnSpPr>
        <p:spPr>
          <a:xfrm>
            <a:off x="6876000" y="3117960"/>
            <a:ext cx="120240" cy="1080"/>
          </a:xfrm>
          <a:prstGeom prst="straightConnector1">
            <a:avLst/>
          </a:prstGeom>
          <a:ln w="20320">
            <a:solidFill>
              <a:srgbClr val="cdd5eb"/>
            </a:solidFill>
            <a:round/>
          </a:ln>
        </p:spPr>
      </p:cxnSp>
      <p:cxnSp>
        <p:nvCxnSpPr>
          <p:cNvPr id="1193" name="Connector 17"/>
          <p:cNvCxnSpPr/>
          <p:nvPr/>
        </p:nvCxnSpPr>
        <p:spPr>
          <a:xfrm>
            <a:off x="8476200" y="3117960"/>
            <a:ext cx="120240" cy="1080"/>
          </a:xfrm>
          <a:prstGeom prst="straightConnector1">
            <a:avLst/>
          </a:prstGeom>
          <a:ln w="20320">
            <a:solidFill>
              <a:srgbClr val="cdd5eb"/>
            </a:solidFill>
            <a:round/>
          </a:ln>
        </p:spPr>
      </p:cxnSp>
      <p:cxnSp>
        <p:nvCxnSpPr>
          <p:cNvPr id="1194" name="Connector 18"/>
          <p:cNvCxnSpPr/>
          <p:nvPr/>
        </p:nvCxnSpPr>
        <p:spPr>
          <a:xfrm>
            <a:off x="10076400" y="3117960"/>
            <a:ext cx="120240" cy="1080"/>
          </a:xfrm>
          <a:prstGeom prst="straightConnector1">
            <a:avLst/>
          </a:prstGeom>
          <a:ln w="20320">
            <a:solidFill>
              <a:srgbClr val="cdd5eb"/>
            </a:solidFill>
            <a:round/>
          </a:ln>
        </p:spPr>
      </p:cxnSp>
      <p:sp>
        <p:nvSpPr>
          <p:cNvPr id="1195" name="Rounded Rectangle 31"/>
          <p:cNvSpPr/>
          <p:nvPr/>
        </p:nvSpPr>
        <p:spPr>
          <a:xfrm>
            <a:off x="594000" y="2743200"/>
            <a:ext cx="1480320" cy="74880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dc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KPIs proyectos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calidad/seguridad/operación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6" name="Rounded Rectangle 33"/>
          <p:cNvSpPr/>
          <p:nvPr/>
        </p:nvSpPr>
        <p:spPr>
          <a:xfrm>
            <a:off x="2194200" y="2743200"/>
            <a:ext cx="1480320" cy="74880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dc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Data mart / BI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normaliza datos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7" name="Rounded Rectangle 34"/>
          <p:cNvSpPr/>
          <p:nvPr/>
        </p:nvSpPr>
        <p:spPr>
          <a:xfrm>
            <a:off x="3794400" y="2743200"/>
            <a:ext cx="1480320" cy="74880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dc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Dashboard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semáforos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8" name="Rounded Rectangle 36"/>
          <p:cNvSpPr/>
          <p:nvPr/>
        </p:nvSpPr>
        <p:spPr>
          <a:xfrm>
            <a:off x="5394600" y="2743200"/>
            <a:ext cx="1480320" cy="74880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dc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Reglas + anomalías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detecta desvíos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9" name="Rounded Rectangle 37"/>
          <p:cNvSpPr/>
          <p:nvPr/>
        </p:nvSpPr>
        <p:spPr>
          <a:xfrm>
            <a:off x="6994800" y="2743200"/>
            <a:ext cx="1480320" cy="74880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dc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Retriever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casos similares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0" name="Rounded Rectangle 39"/>
          <p:cNvSpPr/>
          <p:nvPr/>
        </p:nvSpPr>
        <p:spPr>
          <a:xfrm>
            <a:off x="8595000" y="2743200"/>
            <a:ext cx="1480320" cy="74880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dc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LLM analista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causa + acción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1" name="Rounded Rectangle 40"/>
          <p:cNvSpPr/>
          <p:nvPr/>
        </p:nvSpPr>
        <p:spPr>
          <a:xfrm>
            <a:off x="10195200" y="2743200"/>
            <a:ext cx="1480320" cy="74880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dc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Alerta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responsable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2" name="TextBox 33"/>
          <p:cNvSpPr/>
          <p:nvPr/>
        </p:nvSpPr>
        <p:spPr>
          <a:xfrm>
            <a:off x="822600" y="3977640"/>
            <a:ext cx="521100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080" spc="-1" strike="noStrike">
                <a:solidFill>
                  <a:srgbClr val="161c2d"/>
                </a:solidFill>
                <a:latin typeface="Aptos"/>
              </a:rPr>
              <a:t>La IA no reemplaza el dashboard: lo interpreta y prioriza.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080" spc="-1" strike="noStrike">
                <a:solidFill>
                  <a:srgbClr val="161c2d"/>
                </a:solidFill>
                <a:latin typeface="Aptos"/>
              </a:rPr>
              <a:t>Casos históricos/planes de acción alimentan recomendaciones, no “intuiciones” del modelo.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3" name="TextBox 36"/>
          <p:cNvSpPr/>
          <p:nvPr/>
        </p:nvSpPr>
        <p:spPr>
          <a:xfrm>
            <a:off x="6309000" y="3977640"/>
            <a:ext cx="4890960" cy="74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080" spc="-1" strike="noStrike">
                <a:solidFill>
                  <a:srgbClr val="161c2d"/>
                </a:solidFill>
                <a:latin typeface="Aptos"/>
              </a:rPr>
              <a:t>Agente solo para monitoreo acotado: revisar KPIs, detectar riesgo, explicar y avisar.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080" spc="-1" strike="noStrike">
                <a:solidFill>
                  <a:srgbClr val="161c2d"/>
                </a:solidFill>
                <a:latin typeface="Aptos"/>
              </a:rPr>
              <a:t>Control: umbrales, responsables, trazabilidad y aprobación para acciones correctivas.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4" name="Rounded Rectangle 41"/>
          <p:cNvSpPr/>
          <p:nvPr/>
        </p:nvSpPr>
        <p:spPr>
          <a:xfrm>
            <a:off x="868320" y="5650920"/>
            <a:ext cx="10331280" cy="364680"/>
          </a:xfrm>
          <a:prstGeom prst="roundRect">
            <a:avLst>
              <a:gd name="adj" fmla="val 16667"/>
            </a:avLst>
          </a:prstGeom>
          <a:solidFill>
            <a:srgbClr val="19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120" spc="-1" strike="noStrike">
                <a:solidFill>
                  <a:srgbClr val="ffffff"/>
                </a:solidFill>
                <a:latin typeface="Aptos"/>
              </a:rPr>
              <a:t>Decisión: IA útil cuando convierte muchos indicadores en diagnóstico, prioridad y recomendación basada en evidencia.</a:t>
            </a:r>
            <a:endParaRPr b="0" lang="es-ES" sz="112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05" name="Picture 6" descr="image.png"/>
          <p:cNvPicPr/>
          <p:nvPr/>
        </p:nvPicPr>
        <p:blipFill>
          <a:blip r:embed="rId2"/>
          <a:stretch/>
        </p:blipFill>
        <p:spPr>
          <a:xfrm>
            <a:off x="255600" y="164520"/>
            <a:ext cx="291600" cy="307440"/>
          </a:xfrm>
          <a:prstGeom prst="rect">
            <a:avLst/>
          </a:prstGeom>
          <a:ln w="0">
            <a:noFill/>
          </a:ln>
        </p:spPr>
      </p:pic>
      <p:sp>
        <p:nvSpPr>
          <p:cNvPr id="1206" name="TextBox 38"/>
          <p:cNvSpPr/>
          <p:nvPr/>
        </p:nvSpPr>
        <p:spPr>
          <a:xfrm>
            <a:off x="2509560" y="164520"/>
            <a:ext cx="4982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850" spc="-1" strike="noStrike">
                <a:solidFill>
                  <a:srgbClr val="5f6878"/>
                </a:solidFill>
                <a:latin typeface="Aptos"/>
              </a:rPr>
              <a:t>Diplomado Ejecutivo en Confianza Digital, IA y Automatización Empresarial · Módulo 1 · Clase 3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7" name="Rectangle 11"/>
          <p:cNvSpPr/>
          <p:nvPr/>
        </p:nvSpPr>
        <p:spPr>
          <a:xfrm>
            <a:off x="255600" y="567000"/>
            <a:ext cx="11657160" cy="9720"/>
          </a:xfrm>
          <a:prstGeom prst="rect">
            <a:avLst/>
          </a:prstGeom>
          <a:solidFill>
            <a:srgbClr val="cd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08" name="TextBox 39"/>
          <p:cNvSpPr/>
          <p:nvPr/>
        </p:nvSpPr>
        <p:spPr>
          <a:xfrm>
            <a:off x="11221560" y="6437520"/>
            <a:ext cx="323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s-ES" sz="1000" spc="-1" strike="noStrike">
                <a:solidFill>
                  <a:srgbClr val="5f6878"/>
                </a:solidFill>
                <a:latin typeface="Aptos"/>
              </a:rPr>
              <a:t>60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9" name="Picture 7" descr="image.png"/>
          <p:cNvPicPr/>
          <p:nvPr/>
        </p:nvPicPr>
        <p:blipFill>
          <a:blip r:embed="rId1"/>
          <a:stretch/>
        </p:blipFill>
        <p:spPr>
          <a:xfrm>
            <a:off x="255600" y="164520"/>
            <a:ext cx="291600" cy="307440"/>
          </a:xfrm>
          <a:prstGeom prst="rect">
            <a:avLst/>
          </a:prstGeom>
          <a:ln w="0">
            <a:noFill/>
          </a:ln>
        </p:spPr>
      </p:pic>
      <p:sp>
        <p:nvSpPr>
          <p:cNvPr id="1210" name="TextBox 42"/>
          <p:cNvSpPr/>
          <p:nvPr/>
        </p:nvSpPr>
        <p:spPr>
          <a:xfrm>
            <a:off x="2509560" y="164520"/>
            <a:ext cx="4982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850" spc="-1" strike="noStrike">
                <a:solidFill>
                  <a:srgbClr val="5f6878"/>
                </a:solidFill>
                <a:latin typeface="Aptos"/>
              </a:rPr>
              <a:t>Diplomado Ejecutivo en Confianza Digital, IA y Automatización Empresarial · Módulo 1 · Clase 3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1" name="Rectangle 13"/>
          <p:cNvSpPr/>
          <p:nvPr/>
        </p:nvSpPr>
        <p:spPr>
          <a:xfrm>
            <a:off x="255600" y="567000"/>
            <a:ext cx="11657160" cy="9720"/>
          </a:xfrm>
          <a:prstGeom prst="rect">
            <a:avLst/>
          </a:prstGeom>
          <a:solidFill>
            <a:srgbClr val="cd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12" name="TextBox 43"/>
          <p:cNvSpPr/>
          <p:nvPr/>
        </p:nvSpPr>
        <p:spPr>
          <a:xfrm>
            <a:off x="930600" y="868680"/>
            <a:ext cx="98427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ES" sz="2000" spc="-1" strike="noStrike">
                <a:solidFill>
                  <a:srgbClr val="192346"/>
                </a:solidFill>
                <a:latin typeface="Aptos"/>
              </a:rPr>
              <a:t>Caso 3 · Auditoría de ciberseguridad: hallazgos → párrafo + gráfico + informe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3" name="TextBox 44"/>
          <p:cNvSpPr/>
          <p:nvPr/>
        </p:nvSpPr>
        <p:spPr>
          <a:xfrm>
            <a:off x="2196360" y="1417320"/>
            <a:ext cx="743724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250" spc="-1" strike="noStrike">
                <a:solidFill>
                  <a:srgbClr val="5f6878"/>
                </a:solidFill>
                <a:latin typeface="Aptos"/>
              </a:rPr>
              <a:t>Mejor solución: pipeline de datos + generación controlada; el gráfico lo hace código/BI, no el LLM.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4" name="Rounded Rectangle 42"/>
          <p:cNvSpPr/>
          <p:nvPr/>
        </p:nvSpPr>
        <p:spPr>
          <a:xfrm>
            <a:off x="776880" y="1783080"/>
            <a:ext cx="2833560" cy="456120"/>
          </a:xfrm>
          <a:prstGeom prst="roundRect">
            <a:avLst>
              <a:gd name="adj" fmla="val 16667"/>
            </a:avLst>
          </a:prstGeom>
          <a:solidFill>
            <a:srgbClr val="594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200" spc="-1" strike="noStrike">
                <a:solidFill>
                  <a:srgbClr val="ffffff"/>
                </a:solidFill>
                <a:latin typeface="Aptos"/>
              </a:rPr>
              <a:t>Tipo recomendado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5" name="Rounded Rectangle 43"/>
          <p:cNvSpPr/>
          <p:nvPr/>
        </p:nvSpPr>
        <p:spPr>
          <a:xfrm>
            <a:off x="3794400" y="1783080"/>
            <a:ext cx="7496640" cy="45612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cdd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200" spc="-1" strike="noStrike">
                <a:solidFill>
                  <a:srgbClr val="192346"/>
                </a:solidFill>
                <a:latin typeface="Aptos"/>
              </a:rPr>
              <a:t>Chain simple para narrativa + agregación programática para gráfico + plantilla de informe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16" name="Connector 19"/>
          <p:cNvCxnSpPr/>
          <p:nvPr/>
        </p:nvCxnSpPr>
        <p:spPr>
          <a:xfrm>
            <a:off x="2075400" y="3117960"/>
            <a:ext cx="120240" cy="1080"/>
          </a:xfrm>
          <a:prstGeom prst="straightConnector1">
            <a:avLst/>
          </a:prstGeom>
          <a:ln w="20320">
            <a:solidFill>
              <a:srgbClr val="cdd5eb"/>
            </a:solidFill>
            <a:round/>
          </a:ln>
        </p:spPr>
      </p:cxnSp>
      <p:cxnSp>
        <p:nvCxnSpPr>
          <p:cNvPr id="1217" name="Connector 20"/>
          <p:cNvCxnSpPr/>
          <p:nvPr/>
        </p:nvCxnSpPr>
        <p:spPr>
          <a:xfrm>
            <a:off x="3675600" y="3117960"/>
            <a:ext cx="120240" cy="1080"/>
          </a:xfrm>
          <a:prstGeom prst="straightConnector1">
            <a:avLst/>
          </a:prstGeom>
          <a:ln w="20320">
            <a:solidFill>
              <a:srgbClr val="cdd5eb"/>
            </a:solidFill>
            <a:round/>
          </a:ln>
        </p:spPr>
      </p:cxnSp>
      <p:cxnSp>
        <p:nvCxnSpPr>
          <p:cNvPr id="1218" name="Connector 21"/>
          <p:cNvCxnSpPr/>
          <p:nvPr/>
        </p:nvCxnSpPr>
        <p:spPr>
          <a:xfrm>
            <a:off x="5275800" y="3117960"/>
            <a:ext cx="120240" cy="1080"/>
          </a:xfrm>
          <a:prstGeom prst="straightConnector1">
            <a:avLst/>
          </a:prstGeom>
          <a:ln w="20320">
            <a:solidFill>
              <a:srgbClr val="cdd5eb"/>
            </a:solidFill>
            <a:round/>
          </a:ln>
        </p:spPr>
      </p:cxnSp>
      <p:cxnSp>
        <p:nvCxnSpPr>
          <p:cNvPr id="1219" name="Connector 22"/>
          <p:cNvCxnSpPr/>
          <p:nvPr/>
        </p:nvCxnSpPr>
        <p:spPr>
          <a:xfrm>
            <a:off x="6876000" y="3117960"/>
            <a:ext cx="120240" cy="1080"/>
          </a:xfrm>
          <a:prstGeom prst="straightConnector1">
            <a:avLst/>
          </a:prstGeom>
          <a:ln w="20320">
            <a:solidFill>
              <a:srgbClr val="cdd5eb"/>
            </a:solidFill>
            <a:round/>
          </a:ln>
        </p:spPr>
      </p:cxnSp>
      <p:cxnSp>
        <p:nvCxnSpPr>
          <p:cNvPr id="1220" name="Connector 23"/>
          <p:cNvCxnSpPr/>
          <p:nvPr/>
        </p:nvCxnSpPr>
        <p:spPr>
          <a:xfrm>
            <a:off x="8476200" y="3117960"/>
            <a:ext cx="120240" cy="1080"/>
          </a:xfrm>
          <a:prstGeom prst="straightConnector1">
            <a:avLst/>
          </a:prstGeom>
          <a:ln w="20320">
            <a:solidFill>
              <a:srgbClr val="cdd5eb"/>
            </a:solidFill>
            <a:round/>
          </a:ln>
        </p:spPr>
      </p:cxnSp>
      <p:cxnSp>
        <p:nvCxnSpPr>
          <p:cNvPr id="1221" name="Connector 24"/>
          <p:cNvCxnSpPr/>
          <p:nvPr/>
        </p:nvCxnSpPr>
        <p:spPr>
          <a:xfrm>
            <a:off x="10076400" y="3117960"/>
            <a:ext cx="120240" cy="1080"/>
          </a:xfrm>
          <a:prstGeom prst="straightConnector1">
            <a:avLst/>
          </a:prstGeom>
          <a:ln w="20320">
            <a:solidFill>
              <a:srgbClr val="cdd5eb"/>
            </a:solidFill>
            <a:round/>
          </a:ln>
        </p:spPr>
      </p:cxnSp>
      <p:sp>
        <p:nvSpPr>
          <p:cNvPr id="1222" name="Rounded Rectangle 44"/>
          <p:cNvSpPr/>
          <p:nvPr/>
        </p:nvSpPr>
        <p:spPr>
          <a:xfrm>
            <a:off x="594000" y="2743200"/>
            <a:ext cx="1480320" cy="74880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dc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Brechas / eventos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CSV o planilla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3" name="Rounded Rectangle 45"/>
          <p:cNvSpPr/>
          <p:nvPr/>
        </p:nvSpPr>
        <p:spPr>
          <a:xfrm>
            <a:off x="2194200" y="2743200"/>
            <a:ext cx="1480320" cy="74880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dc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Limpieza + agregación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por severidad/hora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4" name="Rounded Rectangle 46"/>
          <p:cNvSpPr/>
          <p:nvPr/>
        </p:nvSpPr>
        <p:spPr>
          <a:xfrm>
            <a:off x="3794400" y="2743200"/>
            <a:ext cx="1480320" cy="74880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dc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Generador gráfico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Python/BI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5" name="Rounded Rectangle 47"/>
          <p:cNvSpPr/>
          <p:nvPr/>
        </p:nvSpPr>
        <p:spPr>
          <a:xfrm>
            <a:off x="5394600" y="2743200"/>
            <a:ext cx="1480320" cy="74880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dc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PromptTemplate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narrativa ejecutiva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6" name="Rounded Rectangle 48"/>
          <p:cNvSpPr/>
          <p:nvPr/>
        </p:nvSpPr>
        <p:spPr>
          <a:xfrm>
            <a:off x="6994800" y="2743200"/>
            <a:ext cx="1480320" cy="74880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dc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LLM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redacción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7" name="Rounded Rectangle 49"/>
          <p:cNvSpPr/>
          <p:nvPr/>
        </p:nvSpPr>
        <p:spPr>
          <a:xfrm>
            <a:off x="8595000" y="2743200"/>
            <a:ext cx="1480320" cy="74880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dc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Reporte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Word/PDF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8" name="Rounded Rectangle 50"/>
          <p:cNvSpPr/>
          <p:nvPr/>
        </p:nvSpPr>
        <p:spPr>
          <a:xfrm>
            <a:off x="10195200" y="2743200"/>
            <a:ext cx="1480320" cy="74880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dc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Revisión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auditor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9" name="TextBox 45"/>
          <p:cNvSpPr/>
          <p:nvPr/>
        </p:nvSpPr>
        <p:spPr>
          <a:xfrm>
            <a:off x="822600" y="3977640"/>
            <a:ext cx="52110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080" spc="-1" strike="noStrike">
                <a:solidFill>
                  <a:srgbClr val="161c2d"/>
                </a:solidFill>
                <a:latin typeface="Aptos"/>
              </a:rPr>
              <a:t>Si solo redacta el párrafo: basta llamada simple o chain.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080" spc="-1" strike="noStrike">
                <a:solidFill>
                  <a:srgbClr val="161c2d"/>
                </a:solidFill>
                <a:latin typeface="Aptos"/>
              </a:rPr>
              <a:t>Si incluye gráfico: separar cálculo/visualización de redacción.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0" name="TextBox 46"/>
          <p:cNvSpPr/>
          <p:nvPr/>
        </p:nvSpPr>
        <p:spPr>
          <a:xfrm>
            <a:off x="6309000" y="3977640"/>
            <a:ext cx="4890960" cy="74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080" spc="-1" strike="noStrike">
                <a:solidFill>
                  <a:srgbClr val="161c2d"/>
                </a:solidFill>
                <a:latin typeface="Aptos"/>
              </a:rPr>
              <a:t>RAG opcional si debe usar metodología, matriz de criticidad o controles normativos.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080" spc="-1" strike="noStrike">
                <a:solidFill>
                  <a:srgbClr val="161c2d"/>
                </a:solidFill>
                <a:latin typeface="Aptos"/>
              </a:rPr>
              <a:t>Control: la IA no inventa cifras; solo interpreta datos agregados ya calculados.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1" name="Rounded Rectangle 51"/>
          <p:cNvSpPr/>
          <p:nvPr/>
        </p:nvSpPr>
        <p:spPr>
          <a:xfrm>
            <a:off x="868320" y="5650920"/>
            <a:ext cx="10331280" cy="364680"/>
          </a:xfrm>
          <a:prstGeom prst="roundRect">
            <a:avLst>
              <a:gd name="adj" fmla="val 16667"/>
            </a:avLst>
          </a:prstGeom>
          <a:solidFill>
            <a:srgbClr val="19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120" spc="-1" strike="noStrike">
                <a:solidFill>
                  <a:srgbClr val="ffffff"/>
                </a:solidFill>
                <a:latin typeface="Aptos"/>
              </a:rPr>
              <a:t>Decisión: el LLM redacta y explica; los números y gráficos deben salir de datos procesados de forma verificable.</a:t>
            </a:r>
            <a:endParaRPr b="0" lang="es-ES" sz="112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32" name="Picture 8" descr="image.png"/>
          <p:cNvPicPr/>
          <p:nvPr/>
        </p:nvPicPr>
        <p:blipFill>
          <a:blip r:embed="rId2"/>
          <a:stretch/>
        </p:blipFill>
        <p:spPr>
          <a:xfrm>
            <a:off x="255600" y="164520"/>
            <a:ext cx="291600" cy="307440"/>
          </a:xfrm>
          <a:prstGeom prst="rect">
            <a:avLst/>
          </a:prstGeom>
          <a:ln w="0">
            <a:noFill/>
          </a:ln>
        </p:spPr>
      </p:pic>
      <p:sp>
        <p:nvSpPr>
          <p:cNvPr id="1233" name="TextBox 47"/>
          <p:cNvSpPr/>
          <p:nvPr/>
        </p:nvSpPr>
        <p:spPr>
          <a:xfrm>
            <a:off x="2509560" y="164520"/>
            <a:ext cx="4982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850" spc="-1" strike="noStrike">
                <a:solidFill>
                  <a:srgbClr val="5f6878"/>
                </a:solidFill>
                <a:latin typeface="Aptos"/>
              </a:rPr>
              <a:t>Diplomado Ejecutivo en Confianza Digital, IA y Automatización Empresarial · Módulo 1 · Clase 3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4" name="Rectangle 16"/>
          <p:cNvSpPr/>
          <p:nvPr/>
        </p:nvSpPr>
        <p:spPr>
          <a:xfrm>
            <a:off x="255600" y="567000"/>
            <a:ext cx="11657160" cy="9720"/>
          </a:xfrm>
          <a:prstGeom prst="rect">
            <a:avLst/>
          </a:prstGeom>
          <a:solidFill>
            <a:srgbClr val="cd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35" name="TextBox 48"/>
          <p:cNvSpPr/>
          <p:nvPr/>
        </p:nvSpPr>
        <p:spPr>
          <a:xfrm>
            <a:off x="11221560" y="6437520"/>
            <a:ext cx="323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s-ES" sz="1000" spc="-1" strike="noStrike">
                <a:solidFill>
                  <a:srgbClr val="5f6878"/>
                </a:solidFill>
                <a:latin typeface="Aptos"/>
              </a:rPr>
              <a:t>61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6" name="Picture 9" descr="image.png"/>
          <p:cNvPicPr/>
          <p:nvPr/>
        </p:nvPicPr>
        <p:blipFill>
          <a:blip r:embed="rId1"/>
          <a:stretch/>
        </p:blipFill>
        <p:spPr>
          <a:xfrm>
            <a:off x="255600" y="164520"/>
            <a:ext cx="291600" cy="307440"/>
          </a:xfrm>
          <a:prstGeom prst="rect">
            <a:avLst/>
          </a:prstGeom>
          <a:ln w="0">
            <a:noFill/>
          </a:ln>
        </p:spPr>
      </p:pic>
      <p:sp>
        <p:nvSpPr>
          <p:cNvPr id="1237" name="TextBox 49"/>
          <p:cNvSpPr/>
          <p:nvPr/>
        </p:nvSpPr>
        <p:spPr>
          <a:xfrm>
            <a:off x="2509560" y="164520"/>
            <a:ext cx="4982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850" spc="-1" strike="noStrike">
                <a:solidFill>
                  <a:srgbClr val="5f6878"/>
                </a:solidFill>
                <a:latin typeface="Aptos"/>
              </a:rPr>
              <a:t>Diplomado Ejecutivo en Confianza Digital, IA y Automatización Empresarial · Módulo 1 · Clase 3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8" name="Rectangle 17"/>
          <p:cNvSpPr/>
          <p:nvPr/>
        </p:nvSpPr>
        <p:spPr>
          <a:xfrm>
            <a:off x="255600" y="567000"/>
            <a:ext cx="11657160" cy="9720"/>
          </a:xfrm>
          <a:prstGeom prst="rect">
            <a:avLst/>
          </a:prstGeom>
          <a:solidFill>
            <a:srgbClr val="cd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39" name="TextBox 50"/>
          <p:cNvSpPr/>
          <p:nvPr/>
        </p:nvSpPr>
        <p:spPr>
          <a:xfrm>
            <a:off x="581760" y="868680"/>
            <a:ext cx="10539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ES" sz="2600" spc="-1" strike="noStrike">
                <a:solidFill>
                  <a:srgbClr val="192346"/>
                </a:solidFill>
                <a:latin typeface="Aptos"/>
              </a:rPr>
              <a:t>Caso 4 · Salud: asistente para elegir opciones de procedimiento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0" name="TextBox 51"/>
          <p:cNvSpPr/>
          <p:nvPr/>
        </p:nvSpPr>
        <p:spPr>
          <a:xfrm>
            <a:off x="1971720" y="1417320"/>
            <a:ext cx="78868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250" spc="-1" strike="noStrike">
                <a:solidFill>
                  <a:srgbClr val="5f6878"/>
                </a:solidFill>
                <a:latin typeface="Aptos"/>
              </a:rPr>
              <a:t>Mejor solución: asistente de decisión con tools sobre BD relacional, reglas y límites clínicos/comerciales.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1" name="Rounded Rectangle 52"/>
          <p:cNvSpPr/>
          <p:nvPr/>
        </p:nvSpPr>
        <p:spPr>
          <a:xfrm>
            <a:off x="776880" y="1783080"/>
            <a:ext cx="2833560" cy="456120"/>
          </a:xfrm>
          <a:prstGeom prst="roundRect">
            <a:avLst>
              <a:gd name="adj" fmla="val 16667"/>
            </a:avLst>
          </a:prstGeom>
          <a:solidFill>
            <a:srgbClr val="594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200" spc="-1" strike="noStrike">
                <a:solidFill>
                  <a:srgbClr val="ffffff"/>
                </a:solidFill>
                <a:latin typeface="Aptos"/>
              </a:rPr>
              <a:t>Tipo recomendado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2" name="Rounded Rectangle 53"/>
          <p:cNvSpPr/>
          <p:nvPr/>
        </p:nvSpPr>
        <p:spPr>
          <a:xfrm>
            <a:off x="3794400" y="1783080"/>
            <a:ext cx="7496640" cy="45612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cdd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200" spc="-1" strike="noStrike">
                <a:solidFill>
                  <a:srgbClr val="192346"/>
                </a:solidFill>
                <a:latin typeface="Aptos"/>
              </a:rPr>
              <a:t>Tool calling sobre bases relacionales + reglas de cobertura/precio + explicación personalizada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43" name="Connector 25"/>
          <p:cNvCxnSpPr/>
          <p:nvPr/>
        </p:nvCxnSpPr>
        <p:spPr>
          <a:xfrm>
            <a:off x="2075400" y="3117960"/>
            <a:ext cx="120240" cy="1080"/>
          </a:xfrm>
          <a:prstGeom prst="straightConnector1">
            <a:avLst/>
          </a:prstGeom>
          <a:ln w="20320">
            <a:solidFill>
              <a:srgbClr val="cdd5eb"/>
            </a:solidFill>
            <a:round/>
          </a:ln>
        </p:spPr>
      </p:cxnSp>
      <p:cxnSp>
        <p:nvCxnSpPr>
          <p:cNvPr id="1244" name="Connector 26"/>
          <p:cNvCxnSpPr/>
          <p:nvPr/>
        </p:nvCxnSpPr>
        <p:spPr>
          <a:xfrm>
            <a:off x="3675600" y="3117960"/>
            <a:ext cx="120240" cy="1080"/>
          </a:xfrm>
          <a:prstGeom prst="straightConnector1">
            <a:avLst/>
          </a:prstGeom>
          <a:ln w="20320">
            <a:solidFill>
              <a:srgbClr val="cdd5eb"/>
            </a:solidFill>
            <a:round/>
          </a:ln>
        </p:spPr>
      </p:cxnSp>
      <p:cxnSp>
        <p:nvCxnSpPr>
          <p:cNvPr id="1245" name="Connector 27"/>
          <p:cNvCxnSpPr/>
          <p:nvPr/>
        </p:nvCxnSpPr>
        <p:spPr>
          <a:xfrm>
            <a:off x="5275800" y="3117960"/>
            <a:ext cx="120240" cy="1080"/>
          </a:xfrm>
          <a:prstGeom prst="straightConnector1">
            <a:avLst/>
          </a:prstGeom>
          <a:ln w="20320">
            <a:solidFill>
              <a:srgbClr val="cdd5eb"/>
            </a:solidFill>
            <a:round/>
          </a:ln>
        </p:spPr>
      </p:cxnSp>
      <p:cxnSp>
        <p:nvCxnSpPr>
          <p:cNvPr id="1246" name="Connector 28"/>
          <p:cNvCxnSpPr/>
          <p:nvPr/>
        </p:nvCxnSpPr>
        <p:spPr>
          <a:xfrm>
            <a:off x="6876000" y="3117960"/>
            <a:ext cx="120240" cy="1080"/>
          </a:xfrm>
          <a:prstGeom prst="straightConnector1">
            <a:avLst/>
          </a:prstGeom>
          <a:ln w="20320">
            <a:solidFill>
              <a:srgbClr val="cdd5eb"/>
            </a:solidFill>
            <a:round/>
          </a:ln>
        </p:spPr>
      </p:cxnSp>
      <p:cxnSp>
        <p:nvCxnSpPr>
          <p:cNvPr id="1247" name="Connector 29"/>
          <p:cNvCxnSpPr/>
          <p:nvPr/>
        </p:nvCxnSpPr>
        <p:spPr>
          <a:xfrm>
            <a:off x="8476200" y="3117960"/>
            <a:ext cx="120240" cy="1080"/>
          </a:xfrm>
          <a:prstGeom prst="straightConnector1">
            <a:avLst/>
          </a:prstGeom>
          <a:ln w="20320">
            <a:solidFill>
              <a:srgbClr val="cdd5eb"/>
            </a:solidFill>
            <a:round/>
          </a:ln>
        </p:spPr>
      </p:cxnSp>
      <p:cxnSp>
        <p:nvCxnSpPr>
          <p:cNvPr id="1248" name="Connector 30"/>
          <p:cNvCxnSpPr/>
          <p:nvPr/>
        </p:nvCxnSpPr>
        <p:spPr>
          <a:xfrm>
            <a:off x="10076400" y="3117960"/>
            <a:ext cx="120240" cy="1080"/>
          </a:xfrm>
          <a:prstGeom prst="straightConnector1">
            <a:avLst/>
          </a:prstGeom>
          <a:ln w="20320">
            <a:solidFill>
              <a:srgbClr val="cdd5eb"/>
            </a:solidFill>
            <a:round/>
          </a:ln>
        </p:spPr>
      </p:cxnSp>
      <p:sp>
        <p:nvSpPr>
          <p:cNvPr id="1249" name="Rounded Rectangle 54"/>
          <p:cNvSpPr/>
          <p:nvPr/>
        </p:nvSpPr>
        <p:spPr>
          <a:xfrm>
            <a:off x="594000" y="2743200"/>
            <a:ext cx="1480320" cy="74880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dc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Paciente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preferencias + previsión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0" name="Rounded Rectangle 55"/>
          <p:cNvSpPr/>
          <p:nvPr/>
        </p:nvSpPr>
        <p:spPr>
          <a:xfrm>
            <a:off x="2194200" y="2743200"/>
            <a:ext cx="1480320" cy="74880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dc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Backend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auth/permisos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1" name="Rounded Rectangle 56"/>
          <p:cNvSpPr/>
          <p:nvPr/>
        </p:nvSpPr>
        <p:spPr>
          <a:xfrm>
            <a:off x="3794400" y="2743200"/>
            <a:ext cx="1480320" cy="74880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dc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Tools SQL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planes/precios/cupos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2" name="Rounded Rectangle 57"/>
          <p:cNvSpPr/>
          <p:nvPr/>
        </p:nvSpPr>
        <p:spPr>
          <a:xfrm>
            <a:off x="5394600" y="2743200"/>
            <a:ext cx="1480320" cy="74880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dc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Reglas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cobertura/restricciones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3" name="Rounded Rectangle 58"/>
          <p:cNvSpPr/>
          <p:nvPr/>
        </p:nvSpPr>
        <p:spPr>
          <a:xfrm>
            <a:off x="6994800" y="2743200"/>
            <a:ext cx="1480320" cy="74880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dc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LLM asesor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compara opciones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4" name="Rounded Rectangle 59"/>
          <p:cNvSpPr/>
          <p:nvPr/>
        </p:nvSpPr>
        <p:spPr>
          <a:xfrm>
            <a:off x="8595000" y="2743200"/>
            <a:ext cx="1480320" cy="74880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dc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Respuesta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trade-offs claros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5" name="Rounded Rectangle 60"/>
          <p:cNvSpPr/>
          <p:nvPr/>
        </p:nvSpPr>
        <p:spPr>
          <a:xfrm>
            <a:off x="10195200" y="2743200"/>
            <a:ext cx="1480320" cy="748800"/>
          </a:xfrm>
          <a:prstGeom prst="roundRect">
            <a:avLst>
              <a:gd name="adj" fmla="val 16667"/>
            </a:avLst>
          </a:prstGeom>
          <a:solidFill>
            <a:srgbClr val="f2f6ff"/>
          </a:solidFill>
          <a:ln w="12700">
            <a:solidFill>
              <a:srgbClr val="dc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Humano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850" spc="-1" strike="noStrike">
                <a:solidFill>
                  <a:srgbClr val="192346"/>
                </a:solidFill>
                <a:latin typeface="Aptos"/>
              </a:rPr>
              <a:t>confirmación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6" name="TextBox 52"/>
          <p:cNvSpPr/>
          <p:nvPr/>
        </p:nvSpPr>
        <p:spPr>
          <a:xfrm>
            <a:off x="822600" y="3977640"/>
            <a:ext cx="521100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080" spc="-1" strike="noStrike">
                <a:solidFill>
                  <a:srgbClr val="161c2d"/>
                </a:solidFill>
                <a:latin typeface="Aptos"/>
              </a:rPr>
              <a:t>No es principalmente RAG: los datos viven en bases relacionales y cambian.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080" spc="-1" strike="noStrike">
                <a:solidFill>
                  <a:srgbClr val="161c2d"/>
                </a:solidFill>
                <a:latin typeface="Aptos"/>
              </a:rPr>
              <a:t>El asistente consulta opciones: habitación privada/compartida, cobertura, copago, disponibilidad y preferencias.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7" name="TextBox 53"/>
          <p:cNvSpPr/>
          <p:nvPr/>
        </p:nvSpPr>
        <p:spPr>
          <a:xfrm>
            <a:off x="6309000" y="3977640"/>
            <a:ext cx="4890960" cy="74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080" spc="-1" strike="noStrike">
                <a:solidFill>
                  <a:srgbClr val="161c2d"/>
                </a:solidFill>
                <a:latin typeface="Aptos"/>
              </a:rPr>
              <a:t>Control: no dar consejo médico definitivo ni prometer precio/cupo sin validar.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080" spc="-1" strike="noStrike">
                <a:solidFill>
                  <a:srgbClr val="161c2d"/>
                </a:solidFill>
                <a:latin typeface="Aptos"/>
              </a:rPr>
              <a:t>Human-in-the-loop para decisiones sensibles, presupuesto final o indicaciones clínicas.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8" name="Rounded Rectangle 61"/>
          <p:cNvSpPr/>
          <p:nvPr/>
        </p:nvSpPr>
        <p:spPr>
          <a:xfrm>
            <a:off x="868320" y="5650920"/>
            <a:ext cx="10331280" cy="364680"/>
          </a:xfrm>
          <a:prstGeom prst="roundRect">
            <a:avLst>
              <a:gd name="adj" fmla="val 16667"/>
            </a:avLst>
          </a:prstGeom>
          <a:solidFill>
            <a:srgbClr val="19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73080" bIns="73080" anchor="ctr">
            <a:noAutofit/>
          </a:bodyPr>
          <a:p>
            <a:pPr algn="ctr">
              <a:lnSpc>
                <a:spcPct val="100000"/>
              </a:lnSpc>
            </a:pPr>
            <a:r>
              <a:rPr b="1" lang="es-ES" sz="1120" spc="-1" strike="noStrike">
                <a:solidFill>
                  <a:srgbClr val="ffffff"/>
                </a:solidFill>
                <a:latin typeface="Aptos"/>
              </a:rPr>
              <a:t>Decisión: el modelo explica alternativas; las tools traen datos vivos y las reglas protegen decisiones sensibles.</a:t>
            </a:r>
            <a:endParaRPr b="0" lang="es-ES" sz="112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59" name="Picture 10" descr="image.png"/>
          <p:cNvPicPr/>
          <p:nvPr/>
        </p:nvPicPr>
        <p:blipFill>
          <a:blip r:embed="rId2"/>
          <a:stretch/>
        </p:blipFill>
        <p:spPr>
          <a:xfrm>
            <a:off x="255600" y="164520"/>
            <a:ext cx="291600" cy="307440"/>
          </a:xfrm>
          <a:prstGeom prst="rect">
            <a:avLst/>
          </a:prstGeom>
          <a:ln w="0">
            <a:noFill/>
          </a:ln>
        </p:spPr>
      </p:pic>
      <p:sp>
        <p:nvSpPr>
          <p:cNvPr id="1260" name="TextBox 54"/>
          <p:cNvSpPr/>
          <p:nvPr/>
        </p:nvSpPr>
        <p:spPr>
          <a:xfrm>
            <a:off x="2509560" y="164520"/>
            <a:ext cx="4982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850" spc="-1" strike="noStrike">
                <a:solidFill>
                  <a:srgbClr val="5f6878"/>
                </a:solidFill>
                <a:latin typeface="Aptos"/>
              </a:rPr>
              <a:t>Diplomado Ejecutivo en Confianza Digital, IA y Automatización Empresarial · Módulo 1 · Clase 3</a:t>
            </a:r>
            <a:endParaRPr b="0" lang="es-E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1" name="Rectangle 19"/>
          <p:cNvSpPr/>
          <p:nvPr/>
        </p:nvSpPr>
        <p:spPr>
          <a:xfrm>
            <a:off x="255600" y="567000"/>
            <a:ext cx="11657160" cy="9720"/>
          </a:xfrm>
          <a:prstGeom prst="rect">
            <a:avLst/>
          </a:prstGeom>
          <a:solidFill>
            <a:srgbClr val="cdd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62" name="TextBox 55"/>
          <p:cNvSpPr/>
          <p:nvPr/>
        </p:nvSpPr>
        <p:spPr>
          <a:xfrm>
            <a:off x="11221560" y="6437520"/>
            <a:ext cx="323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s-ES" sz="1000" spc="-1" strike="noStrike">
                <a:solidFill>
                  <a:srgbClr val="5f6878"/>
                </a:solidFill>
                <a:latin typeface="Aptos"/>
              </a:rPr>
              <a:t>62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d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TextBox 1"/>
          <p:cNvSpPr/>
          <p:nvPr/>
        </p:nvSpPr>
        <p:spPr>
          <a:xfrm>
            <a:off x="3599640" y="2057400"/>
            <a:ext cx="34984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3000" spc="-1" strike="noStrike">
                <a:solidFill>
                  <a:srgbClr val="ffffff"/>
                </a:solidFill>
                <a:latin typeface="Aptos Display"/>
              </a:rPr>
              <a:t>08 · Demo en vivo</a:t>
            </a:r>
            <a:endParaRPr b="0" lang="es-E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4" name="TextBox 2"/>
          <p:cNvSpPr/>
          <p:nvPr/>
        </p:nvSpPr>
        <p:spPr>
          <a:xfrm>
            <a:off x="1308960" y="2651760"/>
            <a:ext cx="82623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600" spc="-1" strike="noStrike">
                <a:solidFill>
                  <a:srgbClr val="d4dee8"/>
                </a:solidFill>
                <a:latin typeface="Aptos"/>
              </a:rPr>
              <a:t>App desplegada: RAG sobre PPTs + memoria + contexto fijo + búsqueda web + router.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5" name="Rectangle 3"/>
          <p:cNvSpPr/>
          <p:nvPr/>
        </p:nvSpPr>
        <p:spPr>
          <a:xfrm>
            <a:off x="868680" y="3291840"/>
            <a:ext cx="1553760" cy="723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66" name="TextBox 4"/>
          <p:cNvSpPr/>
          <p:nvPr/>
        </p:nvSpPr>
        <p:spPr>
          <a:xfrm>
            <a:off x="2336040" y="3703320"/>
            <a:ext cx="7218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ffffff"/>
                </a:solidFill>
                <a:latin typeface="Aptos"/>
              </a:rPr>
              <a:t>DEMO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TextBox 1"/>
          <p:cNvSpPr/>
          <p:nvPr/>
        </p:nvSpPr>
        <p:spPr>
          <a:xfrm>
            <a:off x="2969280" y="246960"/>
            <a:ext cx="5252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900" spc="-1" strike="noStrike">
                <a:solidFill>
                  <a:srgbClr val="506070"/>
                </a:solidFill>
                <a:latin typeface="Aptos"/>
              </a:rPr>
              <a:t>Diplomado Ejecutivo en Confianza Digital, IA y Automatización Empresarial · Módulo 1 · Clase 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8" name="Rectangle 2"/>
          <p:cNvSpPr/>
          <p:nvPr/>
        </p:nvSpPr>
        <p:spPr>
          <a:xfrm>
            <a:off x="658440" y="631080"/>
            <a:ext cx="10697760" cy="1008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69" name="TextBox 3"/>
          <p:cNvSpPr/>
          <p:nvPr/>
        </p:nvSpPr>
        <p:spPr>
          <a:xfrm>
            <a:off x="1402560" y="1051560"/>
            <a:ext cx="94467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800" spc="-1" strike="noStrike">
                <a:solidFill>
                  <a:srgbClr val="071d37"/>
                </a:solidFill>
                <a:latin typeface="Aptos Display"/>
              </a:rPr>
              <a:t>Demo: asistente del Módulo 1 desplegado en Render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0" name="TextBox 4"/>
          <p:cNvSpPr/>
          <p:nvPr/>
        </p:nvSpPr>
        <p:spPr>
          <a:xfrm>
            <a:off x="2401560" y="1440000"/>
            <a:ext cx="71928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500" spc="-1" strike="noStrike">
                <a:solidFill>
                  <a:srgbClr val="506070"/>
                </a:solidFill>
                <a:latin typeface="Aptos"/>
              </a:rPr>
              <a:t>La demo muestra cómo una idea de clase se convierte en una app web usable.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1" name="Rounded Rectangle 5"/>
          <p:cNvSpPr/>
          <p:nvPr/>
        </p:nvSpPr>
        <p:spPr>
          <a:xfrm>
            <a:off x="868680" y="1783080"/>
            <a:ext cx="3016800" cy="1645200"/>
          </a:xfrm>
          <a:prstGeom prst="roundRect">
            <a:avLst>
              <a:gd name="adj" fmla="val 16667"/>
            </a:avLst>
          </a:prstGeom>
          <a:solidFill>
            <a:srgbClr val="ecf4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72" name="Rectangle 6"/>
          <p:cNvSpPr/>
          <p:nvPr/>
        </p:nvSpPr>
        <p:spPr>
          <a:xfrm>
            <a:off x="868680" y="1783080"/>
            <a:ext cx="54000" cy="164520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73" name="TextBox 7"/>
          <p:cNvSpPr/>
          <p:nvPr/>
        </p:nvSpPr>
        <p:spPr>
          <a:xfrm>
            <a:off x="1069920" y="1920240"/>
            <a:ext cx="2651040" cy="9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Qué entra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200" spc="-1" strike="noStrike">
                <a:solidFill>
                  <a:srgbClr val="2d3846"/>
                </a:solidFill>
                <a:latin typeface="Aptos"/>
              </a:rPr>
              <a:t>Preguntas de estudiantes sobre el módulo, dudas técnicas o casos de arquitectura.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4" name="Rounded Rectangle 8"/>
          <p:cNvSpPr/>
          <p:nvPr/>
        </p:nvSpPr>
        <p:spPr>
          <a:xfrm>
            <a:off x="4343400" y="1783080"/>
            <a:ext cx="3016800" cy="1645200"/>
          </a:xfrm>
          <a:prstGeom prst="roundRect">
            <a:avLst>
              <a:gd name="adj" fmla="val 16667"/>
            </a:avLst>
          </a:prstGeom>
          <a:solidFill>
            <a:srgbClr val="ecf4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75" name="Rectangle 9"/>
          <p:cNvSpPr/>
          <p:nvPr/>
        </p:nvSpPr>
        <p:spPr>
          <a:xfrm>
            <a:off x="4343400" y="1783080"/>
            <a:ext cx="54000" cy="164520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76" name="TextBox 10"/>
          <p:cNvSpPr/>
          <p:nvPr/>
        </p:nvSpPr>
        <p:spPr>
          <a:xfrm>
            <a:off x="4544640" y="1920240"/>
            <a:ext cx="2651040" cy="73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Qué hace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200" spc="-1" strike="noStrike">
                <a:solidFill>
                  <a:srgbClr val="2d3846"/>
                </a:solidFill>
                <a:latin typeface="Aptos"/>
              </a:rPr>
              <a:t>Router decide: módulo, web, decisión de arquitectura o mezcla.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7" name="Rounded Rectangle 11"/>
          <p:cNvSpPr/>
          <p:nvPr/>
        </p:nvSpPr>
        <p:spPr>
          <a:xfrm>
            <a:off x="7818120" y="1783080"/>
            <a:ext cx="3016800" cy="1645200"/>
          </a:xfrm>
          <a:prstGeom prst="roundRect">
            <a:avLst>
              <a:gd name="adj" fmla="val 16667"/>
            </a:avLst>
          </a:prstGeom>
          <a:solidFill>
            <a:srgbClr val="ecf4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78" name="Rectangle 12"/>
          <p:cNvSpPr/>
          <p:nvPr/>
        </p:nvSpPr>
        <p:spPr>
          <a:xfrm>
            <a:off x="7818120" y="1783080"/>
            <a:ext cx="54000" cy="164520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79" name="TextBox 13"/>
          <p:cNvSpPr/>
          <p:nvPr/>
        </p:nvSpPr>
        <p:spPr>
          <a:xfrm>
            <a:off x="8019360" y="1920240"/>
            <a:ext cx="2651040" cy="73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Qué sale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200" spc="-1" strike="noStrike">
                <a:solidFill>
                  <a:srgbClr val="2d3846"/>
                </a:solidFill>
                <a:latin typeface="Aptos"/>
              </a:rPr>
              <a:t>Respuesta breve con modo, fuentes y criterio de diseño.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0" name="Rounded Rectangle 14"/>
          <p:cNvSpPr/>
          <p:nvPr/>
        </p:nvSpPr>
        <p:spPr>
          <a:xfrm>
            <a:off x="1097280" y="4206240"/>
            <a:ext cx="9783360" cy="776520"/>
          </a:xfrm>
          <a:prstGeom prst="roundRect">
            <a:avLst>
              <a:gd name="adj" fmla="val 16667"/>
            </a:avLst>
          </a:prstGeom>
          <a:solidFill>
            <a:srgbClr val="ebf6f4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81" name="Rectangle 15"/>
          <p:cNvSpPr/>
          <p:nvPr/>
        </p:nvSpPr>
        <p:spPr>
          <a:xfrm>
            <a:off x="1097280" y="4206240"/>
            <a:ext cx="54000" cy="776520"/>
          </a:xfrm>
          <a:prstGeom prst="rect">
            <a:avLst/>
          </a:prstGeom>
          <a:solidFill>
            <a:srgbClr val="2f8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82" name="TextBox 16"/>
          <p:cNvSpPr/>
          <p:nvPr/>
        </p:nvSpPr>
        <p:spPr>
          <a:xfrm>
            <a:off x="1298520" y="4343400"/>
            <a:ext cx="9417600" cy="5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Stack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400" spc="-1" strike="noStrike">
                <a:solidFill>
                  <a:srgbClr val="2d3846"/>
                </a:solidFill>
                <a:latin typeface="Aptos"/>
              </a:rPr>
              <a:t>FastAPI + LangChain + Chroma + OpenAI + memoria de sesión + contexto fijo + Render.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3" name="TextBox 17"/>
          <p:cNvSpPr/>
          <p:nvPr/>
        </p:nvSpPr>
        <p:spPr>
          <a:xfrm>
            <a:off x="1769400" y="6446520"/>
            <a:ext cx="4178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800" spc="-1" strike="noStrike">
                <a:solidFill>
                  <a:srgbClr val="506070"/>
                </a:solidFill>
                <a:latin typeface="Aptos"/>
              </a:rPr>
              <a:t>Diplomado Ejecutivo en Confianza Digital, IA y Automatización Empresarial · Clase 3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TextBox 1"/>
          <p:cNvSpPr/>
          <p:nvPr/>
        </p:nvSpPr>
        <p:spPr>
          <a:xfrm>
            <a:off x="2969280" y="246960"/>
            <a:ext cx="5252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900" spc="-1" strike="noStrike">
                <a:solidFill>
                  <a:srgbClr val="506070"/>
                </a:solidFill>
                <a:latin typeface="Aptos"/>
              </a:rPr>
              <a:t>Diplomado Ejecutivo en Confianza Digital, IA y Automatización Empresarial · Módulo 1 · Clase 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5" name="Rectangle 2"/>
          <p:cNvSpPr/>
          <p:nvPr/>
        </p:nvSpPr>
        <p:spPr>
          <a:xfrm>
            <a:off x="658440" y="631080"/>
            <a:ext cx="10697760" cy="1008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86" name="TextBox 3"/>
          <p:cNvSpPr/>
          <p:nvPr/>
        </p:nvSpPr>
        <p:spPr>
          <a:xfrm>
            <a:off x="3882960" y="1051560"/>
            <a:ext cx="44859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800" spc="-1" strike="noStrike">
                <a:solidFill>
                  <a:srgbClr val="071d37"/>
                </a:solidFill>
                <a:latin typeface="Aptos Display"/>
              </a:rPr>
              <a:t>Arquitectura de la demo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7" name="TextBox 4"/>
          <p:cNvSpPr/>
          <p:nvPr/>
        </p:nvSpPr>
        <p:spPr>
          <a:xfrm>
            <a:off x="3168720" y="1440000"/>
            <a:ext cx="5658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500" spc="-1" strike="noStrike">
                <a:solidFill>
                  <a:srgbClr val="506070"/>
                </a:solidFill>
                <a:latin typeface="Aptos"/>
              </a:rPr>
              <a:t>No es solo “llamar al modelo”: hay capas y responsabilidades.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8" name="Rounded Rectangle 5"/>
          <p:cNvSpPr/>
          <p:nvPr/>
        </p:nvSpPr>
        <p:spPr>
          <a:xfrm>
            <a:off x="594360" y="2743200"/>
            <a:ext cx="1416600" cy="822240"/>
          </a:xfrm>
          <a:prstGeom prst="roundRect">
            <a:avLst>
              <a:gd name="adj" fmla="val 16667"/>
            </a:avLst>
          </a:prstGeom>
          <a:solidFill>
            <a:srgbClr val="ecf4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89" name="Rectangle 6"/>
          <p:cNvSpPr/>
          <p:nvPr/>
        </p:nvSpPr>
        <p:spPr>
          <a:xfrm>
            <a:off x="594360" y="2743200"/>
            <a:ext cx="54000" cy="8222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90" name="TextBox 7"/>
          <p:cNvSpPr/>
          <p:nvPr/>
        </p:nvSpPr>
        <p:spPr>
          <a:xfrm>
            <a:off x="795600" y="2880360"/>
            <a:ext cx="10508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Usuario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1" name="Right Arrow 8"/>
          <p:cNvSpPr/>
          <p:nvPr/>
        </p:nvSpPr>
        <p:spPr>
          <a:xfrm>
            <a:off x="2057400" y="2971800"/>
            <a:ext cx="319320" cy="182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92" name="Rounded Rectangle 9"/>
          <p:cNvSpPr/>
          <p:nvPr/>
        </p:nvSpPr>
        <p:spPr>
          <a:xfrm>
            <a:off x="2221920" y="2743200"/>
            <a:ext cx="1416600" cy="822240"/>
          </a:xfrm>
          <a:prstGeom prst="roundRect">
            <a:avLst>
              <a:gd name="adj" fmla="val 16667"/>
            </a:avLst>
          </a:prstGeom>
          <a:solidFill>
            <a:srgbClr val="ecf4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93" name="Rectangle 10"/>
          <p:cNvSpPr/>
          <p:nvPr/>
        </p:nvSpPr>
        <p:spPr>
          <a:xfrm>
            <a:off x="2221920" y="2743200"/>
            <a:ext cx="54000" cy="8222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94" name="TextBox 11"/>
          <p:cNvSpPr/>
          <p:nvPr/>
        </p:nvSpPr>
        <p:spPr>
          <a:xfrm>
            <a:off x="2423160" y="2880360"/>
            <a:ext cx="10508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UI web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5" name="Right Arrow 12"/>
          <p:cNvSpPr/>
          <p:nvPr/>
        </p:nvSpPr>
        <p:spPr>
          <a:xfrm>
            <a:off x="3684960" y="2971800"/>
            <a:ext cx="319320" cy="182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96" name="Rounded Rectangle 13"/>
          <p:cNvSpPr/>
          <p:nvPr/>
        </p:nvSpPr>
        <p:spPr>
          <a:xfrm>
            <a:off x="3849480" y="2743200"/>
            <a:ext cx="1416600" cy="822240"/>
          </a:xfrm>
          <a:prstGeom prst="roundRect">
            <a:avLst>
              <a:gd name="adj" fmla="val 16667"/>
            </a:avLst>
          </a:prstGeom>
          <a:solidFill>
            <a:srgbClr val="ecf4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97" name="Rectangle 14"/>
          <p:cNvSpPr/>
          <p:nvPr/>
        </p:nvSpPr>
        <p:spPr>
          <a:xfrm>
            <a:off x="3849480" y="2743200"/>
            <a:ext cx="54000" cy="8222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298" name="TextBox 15"/>
          <p:cNvSpPr/>
          <p:nvPr/>
        </p:nvSpPr>
        <p:spPr>
          <a:xfrm>
            <a:off x="4050720" y="2880360"/>
            <a:ext cx="10508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FastAPI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9" name="Right Arrow 16"/>
          <p:cNvSpPr/>
          <p:nvPr/>
        </p:nvSpPr>
        <p:spPr>
          <a:xfrm>
            <a:off x="5312520" y="2971800"/>
            <a:ext cx="319320" cy="182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00" name="Rounded Rectangle 17"/>
          <p:cNvSpPr/>
          <p:nvPr/>
        </p:nvSpPr>
        <p:spPr>
          <a:xfrm>
            <a:off x="5477400" y="2743200"/>
            <a:ext cx="1416600" cy="822240"/>
          </a:xfrm>
          <a:prstGeom prst="roundRect">
            <a:avLst>
              <a:gd name="adj" fmla="val 16667"/>
            </a:avLst>
          </a:prstGeom>
          <a:solidFill>
            <a:srgbClr val="ecf4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01" name="Rectangle 18"/>
          <p:cNvSpPr/>
          <p:nvPr/>
        </p:nvSpPr>
        <p:spPr>
          <a:xfrm>
            <a:off x="5477400" y="2743200"/>
            <a:ext cx="54000" cy="8222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02" name="TextBox 19"/>
          <p:cNvSpPr/>
          <p:nvPr/>
        </p:nvSpPr>
        <p:spPr>
          <a:xfrm>
            <a:off x="5678280" y="2880360"/>
            <a:ext cx="10508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Router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3" name="Right Arrow 20"/>
          <p:cNvSpPr/>
          <p:nvPr/>
        </p:nvSpPr>
        <p:spPr>
          <a:xfrm>
            <a:off x="6940440" y="2971800"/>
            <a:ext cx="319320" cy="182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04" name="Rounded Rectangle 21"/>
          <p:cNvSpPr/>
          <p:nvPr/>
        </p:nvSpPr>
        <p:spPr>
          <a:xfrm>
            <a:off x="7104960" y="2743200"/>
            <a:ext cx="1416600" cy="822240"/>
          </a:xfrm>
          <a:prstGeom prst="roundRect">
            <a:avLst>
              <a:gd name="adj" fmla="val 16667"/>
            </a:avLst>
          </a:prstGeom>
          <a:solidFill>
            <a:srgbClr val="ecf4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05" name="Rectangle 22"/>
          <p:cNvSpPr/>
          <p:nvPr/>
        </p:nvSpPr>
        <p:spPr>
          <a:xfrm>
            <a:off x="7104960" y="2743200"/>
            <a:ext cx="54000" cy="8222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06" name="TextBox 23"/>
          <p:cNvSpPr/>
          <p:nvPr/>
        </p:nvSpPr>
        <p:spPr>
          <a:xfrm>
            <a:off x="7306200" y="2880360"/>
            <a:ext cx="1050840" cy="70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RAG/Chroma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7" name="Right Arrow 24"/>
          <p:cNvSpPr/>
          <p:nvPr/>
        </p:nvSpPr>
        <p:spPr>
          <a:xfrm>
            <a:off x="8568000" y="2971800"/>
            <a:ext cx="319320" cy="182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08" name="Rounded Rectangle 25"/>
          <p:cNvSpPr/>
          <p:nvPr/>
        </p:nvSpPr>
        <p:spPr>
          <a:xfrm>
            <a:off x="8732520" y="2743200"/>
            <a:ext cx="1416600" cy="822240"/>
          </a:xfrm>
          <a:prstGeom prst="roundRect">
            <a:avLst>
              <a:gd name="adj" fmla="val 16667"/>
            </a:avLst>
          </a:prstGeom>
          <a:solidFill>
            <a:srgbClr val="ecf4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09" name="Rectangle 26"/>
          <p:cNvSpPr/>
          <p:nvPr/>
        </p:nvSpPr>
        <p:spPr>
          <a:xfrm>
            <a:off x="8732520" y="2743200"/>
            <a:ext cx="54000" cy="8222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10" name="TextBox 27"/>
          <p:cNvSpPr/>
          <p:nvPr/>
        </p:nvSpPr>
        <p:spPr>
          <a:xfrm>
            <a:off x="8933760" y="2880360"/>
            <a:ext cx="105084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OpenAI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1" name="Right Arrow 28"/>
          <p:cNvSpPr/>
          <p:nvPr/>
        </p:nvSpPr>
        <p:spPr>
          <a:xfrm>
            <a:off x="10195560" y="2971800"/>
            <a:ext cx="319320" cy="182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12" name="Rounded Rectangle 29"/>
          <p:cNvSpPr/>
          <p:nvPr/>
        </p:nvSpPr>
        <p:spPr>
          <a:xfrm>
            <a:off x="10360080" y="2743200"/>
            <a:ext cx="1416600" cy="822240"/>
          </a:xfrm>
          <a:prstGeom prst="roundRect">
            <a:avLst>
              <a:gd name="adj" fmla="val 16667"/>
            </a:avLst>
          </a:prstGeom>
          <a:solidFill>
            <a:srgbClr val="ecf4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13" name="Rectangle 30"/>
          <p:cNvSpPr/>
          <p:nvPr/>
        </p:nvSpPr>
        <p:spPr>
          <a:xfrm>
            <a:off x="10360080" y="2743200"/>
            <a:ext cx="54000" cy="8222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14" name="TextBox 31"/>
          <p:cNvSpPr/>
          <p:nvPr/>
        </p:nvSpPr>
        <p:spPr>
          <a:xfrm>
            <a:off x="10561320" y="2880360"/>
            <a:ext cx="113832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Respuesta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5" name="Rounded Rectangle 32"/>
          <p:cNvSpPr/>
          <p:nvPr/>
        </p:nvSpPr>
        <p:spPr>
          <a:xfrm>
            <a:off x="868680" y="1737360"/>
            <a:ext cx="4754160" cy="776520"/>
          </a:xfrm>
          <a:prstGeom prst="roundRect">
            <a:avLst>
              <a:gd name="adj" fmla="val 16667"/>
            </a:avLst>
          </a:prstGeom>
          <a:solidFill>
            <a:srgbClr val="ebf6f4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16" name="Rectangle 33"/>
          <p:cNvSpPr/>
          <p:nvPr/>
        </p:nvSpPr>
        <p:spPr>
          <a:xfrm>
            <a:off x="868680" y="1737360"/>
            <a:ext cx="54000" cy="776520"/>
          </a:xfrm>
          <a:prstGeom prst="rect">
            <a:avLst/>
          </a:prstGeom>
          <a:solidFill>
            <a:srgbClr val="2f8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17" name="TextBox 34"/>
          <p:cNvSpPr/>
          <p:nvPr/>
        </p:nvSpPr>
        <p:spPr>
          <a:xfrm>
            <a:off x="1069920" y="1874520"/>
            <a:ext cx="4388400" cy="54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Contexto fijo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200" spc="-1" strike="noStrike">
                <a:solidFill>
                  <a:srgbClr val="2d3846"/>
                </a:solidFill>
                <a:latin typeface="Aptos"/>
              </a:rPr>
              <a:t>Profesor, módulo, institución y reglas estables.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8" name="Rounded Rectangle 35"/>
          <p:cNvSpPr/>
          <p:nvPr/>
        </p:nvSpPr>
        <p:spPr>
          <a:xfrm>
            <a:off x="5989320" y="1737360"/>
            <a:ext cx="4754160" cy="776520"/>
          </a:xfrm>
          <a:prstGeom prst="roundRect">
            <a:avLst>
              <a:gd name="adj" fmla="val 16667"/>
            </a:avLst>
          </a:prstGeom>
          <a:solidFill>
            <a:srgbClr val="ebf6f4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19" name="Rectangle 36"/>
          <p:cNvSpPr/>
          <p:nvPr/>
        </p:nvSpPr>
        <p:spPr>
          <a:xfrm>
            <a:off x="5989320" y="1737360"/>
            <a:ext cx="54000" cy="776520"/>
          </a:xfrm>
          <a:prstGeom prst="rect">
            <a:avLst/>
          </a:prstGeom>
          <a:solidFill>
            <a:srgbClr val="2f8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20" name="TextBox 37"/>
          <p:cNvSpPr/>
          <p:nvPr/>
        </p:nvSpPr>
        <p:spPr>
          <a:xfrm>
            <a:off x="6190560" y="1874520"/>
            <a:ext cx="4388400" cy="54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Memoria de sesión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200" spc="-1" strike="noStrike">
                <a:solidFill>
                  <a:srgbClr val="2d3846"/>
                </a:solidFill>
                <a:latin typeface="Aptos"/>
              </a:rPr>
              <a:t>Últimos turnos para entender “ese caso” o “lo anterior”.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1" name="Rounded Rectangle 38"/>
          <p:cNvSpPr/>
          <p:nvPr/>
        </p:nvSpPr>
        <p:spPr>
          <a:xfrm>
            <a:off x="1325880" y="4663440"/>
            <a:ext cx="9051840" cy="593640"/>
          </a:xfrm>
          <a:prstGeom prst="roundRect">
            <a:avLst>
              <a:gd name="adj" fmla="val 16667"/>
            </a:avLst>
          </a:prstGeom>
          <a:solidFill>
            <a:srgbClr val="fff8e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22" name="Rectangle 39"/>
          <p:cNvSpPr/>
          <p:nvPr/>
        </p:nvSpPr>
        <p:spPr>
          <a:xfrm>
            <a:off x="1325880" y="4663440"/>
            <a:ext cx="54000" cy="593640"/>
          </a:xfrm>
          <a:prstGeom prst="rect">
            <a:avLst/>
          </a:prstGeom>
          <a:solidFill>
            <a:srgbClr val="f59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23" name="TextBox 40"/>
          <p:cNvSpPr/>
          <p:nvPr/>
        </p:nvSpPr>
        <p:spPr>
          <a:xfrm>
            <a:off x="1527120" y="4800600"/>
            <a:ext cx="86860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Criterio </a:t>
            </a:r>
            <a:r>
              <a:rPr b="0" lang="es-ES" sz="1300" spc="-1" strike="noStrike">
                <a:solidFill>
                  <a:srgbClr val="2d3846"/>
                </a:solidFill>
                <a:latin typeface="Aptos"/>
              </a:rPr>
              <a:t>RAG recupera evidencia; memoria da continuidad; web search cubre información externa.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4" name="TextBox 41"/>
          <p:cNvSpPr/>
          <p:nvPr/>
        </p:nvSpPr>
        <p:spPr>
          <a:xfrm>
            <a:off x="1769400" y="6446520"/>
            <a:ext cx="4178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800" spc="-1" strike="noStrike">
                <a:solidFill>
                  <a:srgbClr val="506070"/>
                </a:solidFill>
                <a:latin typeface="Aptos"/>
              </a:rPr>
              <a:t>Diplomado Ejecutivo en Confianza Digital, IA y Automatización Empresarial · Clase 3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TextBox 1"/>
          <p:cNvSpPr/>
          <p:nvPr/>
        </p:nvSpPr>
        <p:spPr>
          <a:xfrm>
            <a:off x="2969280" y="246960"/>
            <a:ext cx="5252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900" spc="-1" strike="noStrike">
                <a:solidFill>
                  <a:srgbClr val="506070"/>
                </a:solidFill>
                <a:latin typeface="Aptos"/>
              </a:rPr>
              <a:t>Diplomado Ejecutivo en Confianza Digital, IA y Automatización Empresarial · Módulo 1 · Clase 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6" name="Rectangle 2"/>
          <p:cNvSpPr/>
          <p:nvPr/>
        </p:nvSpPr>
        <p:spPr>
          <a:xfrm>
            <a:off x="658440" y="631080"/>
            <a:ext cx="10697760" cy="1008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27" name="TextBox 3"/>
          <p:cNvSpPr/>
          <p:nvPr/>
        </p:nvSpPr>
        <p:spPr>
          <a:xfrm>
            <a:off x="3886200" y="1051560"/>
            <a:ext cx="44798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8" name="TextBox 4"/>
          <p:cNvSpPr/>
          <p:nvPr/>
        </p:nvSpPr>
        <p:spPr>
          <a:xfrm>
            <a:off x="3268800" y="1236240"/>
            <a:ext cx="54583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500" spc="-1" strike="noStrike">
                <a:solidFill>
                  <a:srgbClr val="506070"/>
                </a:solidFill>
                <a:latin typeface="Aptos"/>
              </a:rPr>
              <a:t>Cuatro consultas para mostrar las capas sin perder tiempo.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29" name="Table 5"/>
          <p:cNvGraphicFramePr/>
          <p:nvPr/>
        </p:nvGraphicFramePr>
        <p:xfrm>
          <a:off x="868680" y="1828800"/>
          <a:ext cx="10240920" cy="3290400"/>
        </p:xfrm>
        <a:graphic>
          <a:graphicData uri="http://schemas.openxmlformats.org/drawingml/2006/table">
            <a:tbl>
              <a:tblPr/>
              <a:tblGrid>
                <a:gridCol w="685800"/>
                <a:gridCol w="6217920"/>
                <a:gridCol w="3337560"/>
              </a:tblGrid>
              <a:tr h="6580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Paso</a:t>
                      </a:r>
                      <a:endParaRPr b="0" lang="es-E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71d3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Consulta</a:t>
                      </a:r>
                      <a:endParaRPr b="0" lang="es-E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71d3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Qué demuestra</a:t>
                      </a:r>
                      <a:endParaRPr b="0" lang="es-ES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71d37"/>
                    </a:solidFill>
                  </a:tcPr>
                </a:tc>
              </a:tr>
              <a:tr h="6580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1</a:t>
                      </a:r>
                      <a:endParaRPr b="0" lang="es-E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¿Quién es el profesor del módulo?</a:t>
                      </a:r>
                      <a:endParaRPr b="0" lang="es-E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Contexto fijo</a:t>
                      </a:r>
                      <a:endParaRPr b="0" lang="es-E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0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2</a:t>
                      </a:r>
                      <a:endParaRPr b="0" lang="es-E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¿Qué es Node?</a:t>
                      </a:r>
                      <a:endParaRPr b="0" lang="es-E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Búsqueda web / conocimiento técnico</a:t>
                      </a:r>
                      <a:endParaRPr b="0" lang="es-E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</a:tr>
              <a:tr h="6580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3</a:t>
                      </a:r>
                      <a:endParaRPr b="0" lang="es-E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Tengo PDFs de importación marítima... ¿qué patrón conviene?</a:t>
                      </a:r>
                      <a:endParaRPr b="0" lang="es-E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Decisión de arquitectura</a:t>
                      </a:r>
                      <a:endParaRPr b="0" lang="es-E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0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4</a:t>
                      </a:r>
                      <a:endParaRPr b="0" lang="es-E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¿Y por qué no usarías RAG en ese caso?</a:t>
                      </a:r>
                      <a:endParaRPr b="0" lang="es-E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50" spc="-1" strike="noStrike">
                          <a:solidFill>
                            <a:srgbClr val="071d37"/>
                          </a:solidFill>
                          <a:latin typeface="Aptos"/>
                        </a:rPr>
                        <a:t>Memoria de sesión</a:t>
                      </a:r>
                      <a:endParaRPr b="0" lang="es-ES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1330" name="Rounded Rectangle 6"/>
          <p:cNvSpPr/>
          <p:nvPr/>
        </p:nvSpPr>
        <p:spPr>
          <a:xfrm>
            <a:off x="1097280" y="5577840"/>
            <a:ext cx="9783360" cy="593640"/>
          </a:xfrm>
          <a:prstGeom prst="roundRect">
            <a:avLst>
              <a:gd name="adj" fmla="val 16667"/>
            </a:avLst>
          </a:prstGeom>
          <a:solidFill>
            <a:srgbClr val="ebf6f4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31" name="Rectangle 7"/>
          <p:cNvSpPr/>
          <p:nvPr/>
        </p:nvSpPr>
        <p:spPr>
          <a:xfrm>
            <a:off x="1097280" y="5577840"/>
            <a:ext cx="54000" cy="593640"/>
          </a:xfrm>
          <a:prstGeom prst="rect">
            <a:avLst/>
          </a:prstGeom>
          <a:solidFill>
            <a:srgbClr val="2f8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32" name="TextBox 8"/>
          <p:cNvSpPr/>
          <p:nvPr/>
        </p:nvSpPr>
        <p:spPr>
          <a:xfrm>
            <a:off x="1298520" y="5715000"/>
            <a:ext cx="94176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300" spc="-1" strike="noStrike">
                <a:solidFill>
                  <a:srgbClr val="2d3846"/>
                </a:solidFill>
                <a:latin typeface="Aptos"/>
              </a:rPr>
              <a:t>La demo conecta APIs, LangChain, RAG, memoria, tools conceptuales y despliegue real.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3" name="TextBox 9"/>
          <p:cNvSpPr/>
          <p:nvPr/>
        </p:nvSpPr>
        <p:spPr>
          <a:xfrm>
            <a:off x="1769400" y="6446520"/>
            <a:ext cx="4178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800" spc="-1" strike="noStrike">
                <a:solidFill>
                  <a:srgbClr val="506070"/>
                </a:solidFill>
                <a:latin typeface="Aptos"/>
              </a:rPr>
              <a:t>Diplomado Ejecutivo en Confianza Digital, IA y Automatización Empresarial · Clase 3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d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TextBox 1"/>
          <p:cNvSpPr/>
          <p:nvPr/>
        </p:nvSpPr>
        <p:spPr>
          <a:xfrm>
            <a:off x="3175200" y="2057400"/>
            <a:ext cx="43473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3000" spc="-1" strike="noStrike">
                <a:solidFill>
                  <a:srgbClr val="ffffff"/>
                </a:solidFill>
                <a:latin typeface="Aptos Display"/>
              </a:rPr>
              <a:t>09 · Actividad práctica</a:t>
            </a:r>
            <a:endParaRPr b="0" lang="es-E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5" name="TextBox 2"/>
          <p:cNvSpPr/>
          <p:nvPr/>
        </p:nvSpPr>
        <p:spPr>
          <a:xfrm>
            <a:off x="2554920" y="2651760"/>
            <a:ext cx="57708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600" spc="-1" strike="noStrike">
                <a:solidFill>
                  <a:srgbClr val="d4dee8"/>
                </a:solidFill>
                <a:latin typeface="Aptos"/>
              </a:rPr>
              <a:t>Diseñar flujo principal: 5 a 7 cajas desde input hasta salida.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6" name="Rectangle 3"/>
          <p:cNvSpPr/>
          <p:nvPr/>
        </p:nvSpPr>
        <p:spPr>
          <a:xfrm>
            <a:off x="868680" y="3291840"/>
            <a:ext cx="1553760" cy="723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37" name="TextBox 4"/>
          <p:cNvSpPr/>
          <p:nvPr/>
        </p:nvSpPr>
        <p:spPr>
          <a:xfrm>
            <a:off x="2119680" y="3703320"/>
            <a:ext cx="1154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ffffff"/>
                </a:solidFill>
                <a:latin typeface="Aptos"/>
              </a:rPr>
              <a:t>ACTIVIDAD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TextBox 1"/>
          <p:cNvSpPr/>
          <p:nvPr/>
        </p:nvSpPr>
        <p:spPr>
          <a:xfrm>
            <a:off x="2969280" y="246960"/>
            <a:ext cx="5252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900" spc="-1" strike="noStrike">
                <a:solidFill>
                  <a:srgbClr val="506070"/>
                </a:solidFill>
                <a:latin typeface="Aptos"/>
              </a:rPr>
              <a:t>Diplomado Ejecutivo en Confianza Digital, IA y Automatización Empresarial · Módulo 1 · Clase 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9" name="Rectangle 2"/>
          <p:cNvSpPr/>
          <p:nvPr/>
        </p:nvSpPr>
        <p:spPr>
          <a:xfrm>
            <a:off x="658440" y="631080"/>
            <a:ext cx="10697760" cy="1008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40" name="TextBox 3"/>
          <p:cNvSpPr/>
          <p:nvPr/>
        </p:nvSpPr>
        <p:spPr>
          <a:xfrm>
            <a:off x="2958840" y="1051560"/>
            <a:ext cx="63345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800" spc="-1" strike="noStrike">
                <a:solidFill>
                  <a:srgbClr val="071d37"/>
                </a:solidFill>
                <a:latin typeface="Aptos Display"/>
              </a:rPr>
              <a:t>Actividad: diseñar el flujo principal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1" name="TextBox 4"/>
          <p:cNvSpPr/>
          <p:nvPr/>
        </p:nvSpPr>
        <p:spPr>
          <a:xfrm>
            <a:off x="3479040" y="1554480"/>
            <a:ext cx="48798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500" spc="-1" strike="noStrike">
                <a:solidFill>
                  <a:srgbClr val="506070"/>
                </a:solidFill>
                <a:latin typeface="Aptos"/>
              </a:rPr>
              <a:t>Tiempo sugerido: 20 minutos · modalidad individual.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2" name="Rounded Rectangle 5"/>
          <p:cNvSpPr/>
          <p:nvPr/>
        </p:nvSpPr>
        <p:spPr>
          <a:xfrm>
            <a:off x="868680" y="1828800"/>
            <a:ext cx="10057680" cy="1050840"/>
          </a:xfrm>
          <a:prstGeom prst="roundRect">
            <a:avLst>
              <a:gd name="adj" fmla="val 16667"/>
            </a:avLst>
          </a:prstGeom>
          <a:solidFill>
            <a:srgbClr val="ecf4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43" name="Rectangle 6"/>
          <p:cNvSpPr/>
          <p:nvPr/>
        </p:nvSpPr>
        <p:spPr>
          <a:xfrm>
            <a:off x="868680" y="1828800"/>
            <a:ext cx="54000" cy="10508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44" name="TextBox 7"/>
          <p:cNvSpPr/>
          <p:nvPr/>
        </p:nvSpPr>
        <p:spPr>
          <a:xfrm>
            <a:off x="1069920" y="1965960"/>
            <a:ext cx="969192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Instrucción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400" spc="-1" strike="noStrike">
                <a:solidFill>
                  <a:srgbClr val="2d3846"/>
                </a:solidFill>
                <a:latin typeface="Aptos"/>
              </a:rPr>
              <a:t>Tome el caso trabajado en clases anteriores y dibuje únicamente el flujo principal de la solución. No vuelva a explicar todo el problema ni repita la actividad 1 o 2.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5" name="Rounded Rectangle 8"/>
          <p:cNvSpPr/>
          <p:nvPr/>
        </p:nvSpPr>
        <p:spPr>
          <a:xfrm>
            <a:off x="868680" y="3246120"/>
            <a:ext cx="4754160" cy="1325160"/>
          </a:xfrm>
          <a:prstGeom prst="roundRect">
            <a:avLst>
              <a:gd name="adj" fmla="val 16667"/>
            </a:avLst>
          </a:prstGeom>
          <a:solidFill>
            <a:srgbClr val="ebf6f4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46" name="Rectangle 9"/>
          <p:cNvSpPr/>
          <p:nvPr/>
        </p:nvSpPr>
        <p:spPr>
          <a:xfrm>
            <a:off x="868680" y="3246120"/>
            <a:ext cx="54000" cy="1325160"/>
          </a:xfrm>
          <a:prstGeom prst="rect">
            <a:avLst/>
          </a:prstGeom>
          <a:solidFill>
            <a:srgbClr val="2f8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47" name="TextBox 10"/>
          <p:cNvSpPr/>
          <p:nvPr/>
        </p:nvSpPr>
        <p:spPr>
          <a:xfrm>
            <a:off x="1069920" y="3383280"/>
            <a:ext cx="4388400" cy="7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Entregable único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400" spc="-1" strike="noStrike">
                <a:solidFill>
                  <a:srgbClr val="2d3846"/>
                </a:solidFill>
                <a:latin typeface="Aptos"/>
              </a:rPr>
              <a:t>Un flujo de 5 a 7 cajas desde input hasta salida. Debe verse el camino de la información.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8" name="Rounded Rectangle 11"/>
          <p:cNvSpPr/>
          <p:nvPr/>
        </p:nvSpPr>
        <p:spPr>
          <a:xfrm>
            <a:off x="5989320" y="3246120"/>
            <a:ext cx="4754160" cy="1325160"/>
          </a:xfrm>
          <a:prstGeom prst="roundRect">
            <a:avLst>
              <a:gd name="adj" fmla="val 16667"/>
            </a:avLst>
          </a:prstGeom>
          <a:solidFill>
            <a:srgbClr val="ebf6f4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49" name="Rectangle 12"/>
          <p:cNvSpPr/>
          <p:nvPr/>
        </p:nvSpPr>
        <p:spPr>
          <a:xfrm>
            <a:off x="5989320" y="3246120"/>
            <a:ext cx="54000" cy="1325160"/>
          </a:xfrm>
          <a:prstGeom prst="rect">
            <a:avLst/>
          </a:prstGeom>
          <a:solidFill>
            <a:srgbClr val="2f8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50" name="TextBox 13"/>
          <p:cNvSpPr/>
          <p:nvPr/>
        </p:nvSpPr>
        <p:spPr>
          <a:xfrm>
            <a:off x="6190560" y="3383280"/>
            <a:ext cx="4388400" cy="10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Debe incluir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r>
              <a:rPr b="0" lang="es-ES" sz="1400" spc="-1" strike="noStrike">
                <a:solidFill>
                  <a:srgbClr val="2d3846"/>
                </a:solidFill>
                <a:latin typeface="Aptos"/>
              </a:rPr>
              <a:t>Entrada, componente principal, modelo/chain/retriever/tool si aplica, salida y punto de control.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1" name="TextBox 16"/>
          <p:cNvSpPr/>
          <p:nvPr/>
        </p:nvSpPr>
        <p:spPr>
          <a:xfrm>
            <a:off x="1527120" y="5394960"/>
            <a:ext cx="859464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2" name="TextBox 17"/>
          <p:cNvSpPr/>
          <p:nvPr/>
        </p:nvSpPr>
        <p:spPr>
          <a:xfrm>
            <a:off x="1769400" y="6446520"/>
            <a:ext cx="4178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800" spc="-1" strike="noStrike">
                <a:solidFill>
                  <a:srgbClr val="506070"/>
                </a:solidFill>
                <a:latin typeface="Aptos"/>
              </a:rPr>
              <a:t>Diplomado Ejecutivo en Confianza Digital, IA y Automatización Empresarial · Clase 3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TextBox 1"/>
          <p:cNvSpPr/>
          <p:nvPr/>
        </p:nvSpPr>
        <p:spPr>
          <a:xfrm>
            <a:off x="2969280" y="246960"/>
            <a:ext cx="5252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900" spc="-1" strike="noStrike">
                <a:solidFill>
                  <a:srgbClr val="506070"/>
                </a:solidFill>
                <a:latin typeface="Aptos"/>
              </a:rPr>
              <a:t>Diplomado Ejecutivo en Confianza Digital, IA y Automatización Empresarial · Módulo 1 · Clase 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4" name="Rectangle 2"/>
          <p:cNvSpPr/>
          <p:nvPr/>
        </p:nvSpPr>
        <p:spPr>
          <a:xfrm>
            <a:off x="658440" y="631080"/>
            <a:ext cx="10697760" cy="10080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55" name="TextBox 3"/>
          <p:cNvSpPr/>
          <p:nvPr/>
        </p:nvSpPr>
        <p:spPr>
          <a:xfrm>
            <a:off x="3859560" y="1051560"/>
            <a:ext cx="45331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800" spc="-1" strike="noStrike">
                <a:solidFill>
                  <a:srgbClr val="071d37"/>
                </a:solidFill>
                <a:latin typeface="Aptos Display"/>
              </a:rPr>
              <a:t>Plantilla mínima de flujo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6" name="TextBox 4"/>
          <p:cNvSpPr/>
          <p:nvPr/>
        </p:nvSpPr>
        <p:spPr>
          <a:xfrm>
            <a:off x="4056480" y="1554480"/>
            <a:ext cx="38826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500" spc="-1" strike="noStrike">
                <a:solidFill>
                  <a:srgbClr val="506070"/>
                </a:solidFill>
                <a:latin typeface="Aptos"/>
              </a:rPr>
              <a:t>Completar una sola línea de arquitectura.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7" name="Rounded Rectangle 5"/>
          <p:cNvSpPr/>
          <p:nvPr/>
        </p:nvSpPr>
        <p:spPr>
          <a:xfrm>
            <a:off x="685800" y="2560320"/>
            <a:ext cx="1233720" cy="822240"/>
          </a:xfrm>
          <a:prstGeom prst="roundRect">
            <a:avLst>
              <a:gd name="adj" fmla="val 16667"/>
            </a:avLst>
          </a:prstGeom>
          <a:solidFill>
            <a:srgbClr val="ecf4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58" name="Rectangle 6"/>
          <p:cNvSpPr/>
          <p:nvPr/>
        </p:nvSpPr>
        <p:spPr>
          <a:xfrm>
            <a:off x="685800" y="2560320"/>
            <a:ext cx="54000" cy="8222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59" name="TextBox 7"/>
          <p:cNvSpPr/>
          <p:nvPr/>
        </p:nvSpPr>
        <p:spPr>
          <a:xfrm>
            <a:off x="887040" y="2697480"/>
            <a:ext cx="86796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Input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0" name="Right Arrow 8"/>
          <p:cNvSpPr/>
          <p:nvPr/>
        </p:nvSpPr>
        <p:spPr>
          <a:xfrm>
            <a:off x="1965960" y="2788920"/>
            <a:ext cx="291960" cy="16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080" bIns="370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61" name="Rounded Rectangle 9"/>
          <p:cNvSpPr/>
          <p:nvPr/>
        </p:nvSpPr>
        <p:spPr>
          <a:xfrm>
            <a:off x="2286000" y="2560320"/>
            <a:ext cx="1233720" cy="822240"/>
          </a:xfrm>
          <a:prstGeom prst="roundRect">
            <a:avLst>
              <a:gd name="adj" fmla="val 16667"/>
            </a:avLst>
          </a:prstGeom>
          <a:solidFill>
            <a:srgbClr val="ebf6f4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62" name="Rectangle 10"/>
          <p:cNvSpPr/>
          <p:nvPr/>
        </p:nvSpPr>
        <p:spPr>
          <a:xfrm>
            <a:off x="2286000" y="2560320"/>
            <a:ext cx="54000" cy="822240"/>
          </a:xfrm>
          <a:prstGeom prst="rect">
            <a:avLst/>
          </a:prstGeom>
          <a:solidFill>
            <a:srgbClr val="2f8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63" name="TextBox 11"/>
          <p:cNvSpPr/>
          <p:nvPr/>
        </p:nvSpPr>
        <p:spPr>
          <a:xfrm>
            <a:off x="2258280" y="2751120"/>
            <a:ext cx="147240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Preparación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4" name="Right Arrow 12"/>
          <p:cNvSpPr/>
          <p:nvPr/>
        </p:nvSpPr>
        <p:spPr>
          <a:xfrm>
            <a:off x="3566160" y="2788920"/>
            <a:ext cx="291960" cy="16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080" bIns="370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65" name="Rounded Rectangle 13"/>
          <p:cNvSpPr/>
          <p:nvPr/>
        </p:nvSpPr>
        <p:spPr>
          <a:xfrm>
            <a:off x="3886200" y="2560320"/>
            <a:ext cx="1233720" cy="822240"/>
          </a:xfrm>
          <a:prstGeom prst="roundRect">
            <a:avLst>
              <a:gd name="adj" fmla="val 16667"/>
            </a:avLst>
          </a:prstGeom>
          <a:solidFill>
            <a:srgbClr val="ecf4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66" name="Rectangle 14"/>
          <p:cNvSpPr/>
          <p:nvPr/>
        </p:nvSpPr>
        <p:spPr>
          <a:xfrm>
            <a:off x="3886200" y="2560320"/>
            <a:ext cx="54000" cy="8222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67" name="TextBox 15"/>
          <p:cNvSpPr/>
          <p:nvPr/>
        </p:nvSpPr>
        <p:spPr>
          <a:xfrm>
            <a:off x="4087440" y="2560320"/>
            <a:ext cx="867960" cy="9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Chain/RAG/Tool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8" name="Right Arrow 16"/>
          <p:cNvSpPr/>
          <p:nvPr/>
        </p:nvSpPr>
        <p:spPr>
          <a:xfrm>
            <a:off x="5166360" y="2788920"/>
            <a:ext cx="291960" cy="16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080" bIns="370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69" name="Rounded Rectangle 17"/>
          <p:cNvSpPr/>
          <p:nvPr/>
        </p:nvSpPr>
        <p:spPr>
          <a:xfrm>
            <a:off x="5486400" y="2560320"/>
            <a:ext cx="1233720" cy="822240"/>
          </a:xfrm>
          <a:prstGeom prst="roundRect">
            <a:avLst>
              <a:gd name="adj" fmla="val 16667"/>
            </a:avLst>
          </a:prstGeom>
          <a:solidFill>
            <a:srgbClr val="ebf6f4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70" name="Rectangle 18"/>
          <p:cNvSpPr/>
          <p:nvPr/>
        </p:nvSpPr>
        <p:spPr>
          <a:xfrm>
            <a:off x="5486400" y="2560320"/>
            <a:ext cx="54000" cy="822240"/>
          </a:xfrm>
          <a:prstGeom prst="rect">
            <a:avLst/>
          </a:prstGeom>
          <a:solidFill>
            <a:srgbClr val="2f8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71" name="TextBox 19"/>
          <p:cNvSpPr/>
          <p:nvPr/>
        </p:nvSpPr>
        <p:spPr>
          <a:xfrm>
            <a:off x="5687640" y="2697480"/>
            <a:ext cx="86796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Modelo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2" name="Right Arrow 20"/>
          <p:cNvSpPr/>
          <p:nvPr/>
        </p:nvSpPr>
        <p:spPr>
          <a:xfrm>
            <a:off x="6766560" y="2788920"/>
            <a:ext cx="291960" cy="16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080" bIns="370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73" name="Rounded Rectangle 21"/>
          <p:cNvSpPr/>
          <p:nvPr/>
        </p:nvSpPr>
        <p:spPr>
          <a:xfrm>
            <a:off x="7086600" y="2560320"/>
            <a:ext cx="1233720" cy="822240"/>
          </a:xfrm>
          <a:prstGeom prst="roundRect">
            <a:avLst>
              <a:gd name="adj" fmla="val 16667"/>
            </a:avLst>
          </a:prstGeom>
          <a:solidFill>
            <a:srgbClr val="ecf4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74" name="Rectangle 22"/>
          <p:cNvSpPr/>
          <p:nvPr/>
        </p:nvSpPr>
        <p:spPr>
          <a:xfrm>
            <a:off x="7086600" y="2560320"/>
            <a:ext cx="54000" cy="8222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75" name="TextBox 23"/>
          <p:cNvSpPr/>
          <p:nvPr/>
        </p:nvSpPr>
        <p:spPr>
          <a:xfrm>
            <a:off x="7140960" y="2680560"/>
            <a:ext cx="1171800" cy="70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Parser/Validación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6" name="Right Arrow 24"/>
          <p:cNvSpPr/>
          <p:nvPr/>
        </p:nvSpPr>
        <p:spPr>
          <a:xfrm>
            <a:off x="8366760" y="2788920"/>
            <a:ext cx="291960" cy="16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080" bIns="370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77" name="Rounded Rectangle 25"/>
          <p:cNvSpPr/>
          <p:nvPr/>
        </p:nvSpPr>
        <p:spPr>
          <a:xfrm>
            <a:off x="8686800" y="2560320"/>
            <a:ext cx="1233720" cy="822240"/>
          </a:xfrm>
          <a:prstGeom prst="roundRect">
            <a:avLst>
              <a:gd name="adj" fmla="val 16667"/>
            </a:avLst>
          </a:prstGeom>
          <a:solidFill>
            <a:srgbClr val="ebf6f4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78" name="Rectangle 26"/>
          <p:cNvSpPr/>
          <p:nvPr/>
        </p:nvSpPr>
        <p:spPr>
          <a:xfrm>
            <a:off x="8686800" y="2560320"/>
            <a:ext cx="54000" cy="822240"/>
          </a:xfrm>
          <a:prstGeom prst="rect">
            <a:avLst/>
          </a:prstGeom>
          <a:solidFill>
            <a:srgbClr val="2f8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79" name="TextBox 27"/>
          <p:cNvSpPr/>
          <p:nvPr/>
        </p:nvSpPr>
        <p:spPr>
          <a:xfrm>
            <a:off x="8888040" y="2697480"/>
            <a:ext cx="86796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Salida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0" name="Right Arrow 28"/>
          <p:cNvSpPr/>
          <p:nvPr/>
        </p:nvSpPr>
        <p:spPr>
          <a:xfrm>
            <a:off x="9966960" y="2788920"/>
            <a:ext cx="291960" cy="16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080" bIns="370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81" name="Rounded Rectangle 29"/>
          <p:cNvSpPr/>
          <p:nvPr/>
        </p:nvSpPr>
        <p:spPr>
          <a:xfrm>
            <a:off x="10287000" y="2560320"/>
            <a:ext cx="1233720" cy="822240"/>
          </a:xfrm>
          <a:prstGeom prst="roundRect">
            <a:avLst>
              <a:gd name="adj" fmla="val 16667"/>
            </a:avLst>
          </a:prstGeom>
          <a:solidFill>
            <a:srgbClr val="ecf4fc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82" name="Rectangle 30"/>
          <p:cNvSpPr/>
          <p:nvPr/>
        </p:nvSpPr>
        <p:spPr>
          <a:xfrm>
            <a:off x="10287000" y="2560320"/>
            <a:ext cx="54000" cy="822240"/>
          </a:xfrm>
          <a:prstGeom prst="rect">
            <a:avLst/>
          </a:prstGeom>
          <a:solidFill>
            <a:srgbClr val="0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83" name="TextBox 31"/>
          <p:cNvSpPr/>
          <p:nvPr/>
        </p:nvSpPr>
        <p:spPr>
          <a:xfrm>
            <a:off x="10488240" y="2697480"/>
            <a:ext cx="86796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Control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</a:pP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4" name="Rounded Rectangle 32"/>
          <p:cNvSpPr/>
          <p:nvPr/>
        </p:nvSpPr>
        <p:spPr>
          <a:xfrm>
            <a:off x="914400" y="4206240"/>
            <a:ext cx="10149120" cy="653400"/>
          </a:xfrm>
          <a:prstGeom prst="roundRect">
            <a:avLst>
              <a:gd name="adj" fmla="val 16667"/>
            </a:avLst>
          </a:prstGeom>
          <a:solidFill>
            <a:srgbClr val="ebf6f4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85" name="Rectangle 33"/>
          <p:cNvSpPr/>
          <p:nvPr/>
        </p:nvSpPr>
        <p:spPr>
          <a:xfrm flipH="1">
            <a:off x="913320" y="4140000"/>
            <a:ext cx="360" cy="733680"/>
          </a:xfrm>
          <a:prstGeom prst="rect">
            <a:avLst/>
          </a:prstGeom>
          <a:solidFill>
            <a:srgbClr val="2f8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386" name="TextBox 34"/>
          <p:cNvSpPr/>
          <p:nvPr/>
        </p:nvSpPr>
        <p:spPr>
          <a:xfrm>
            <a:off x="1115640" y="4343400"/>
            <a:ext cx="97833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400" spc="-1" strike="noStrike">
                <a:solidFill>
                  <a:srgbClr val="071d37"/>
                </a:solidFill>
                <a:latin typeface="Aptos"/>
              </a:rPr>
              <a:t>Ejemplo :</a:t>
            </a:r>
            <a:r>
              <a:rPr b="0" lang="es-ES" sz="1500" spc="-1" strike="noStrike">
                <a:solidFill>
                  <a:srgbClr val="2d3846"/>
                </a:solidFill>
                <a:latin typeface="Aptos"/>
              </a:rPr>
              <a:t>PDF → extracción de texto → chain de extracción → modelo estructurado → validación → Excel.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7" name="TextBox 35"/>
          <p:cNvSpPr/>
          <p:nvPr/>
        </p:nvSpPr>
        <p:spPr>
          <a:xfrm>
            <a:off x="1769400" y="6446520"/>
            <a:ext cx="41781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800" spc="-1" strike="noStrike">
                <a:solidFill>
                  <a:srgbClr val="506070"/>
                </a:solidFill>
                <a:latin typeface="Aptos"/>
              </a:rPr>
              <a:t>Diplomado Ejecutivo en Confianza Digital, IA y Automatización Empresarial · Clase 3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9" name="Shap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0" name="Text 2"/>
          <p:cNvSpPr/>
          <p:nvPr/>
        </p:nvSpPr>
        <p:spPr>
          <a:xfrm>
            <a:off x="685800" y="91440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32238"/>
                </a:solidFill>
                <a:latin typeface="Aptos"/>
              </a:rPr>
              <a:t>SÍNTESIS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1" name="Text 3"/>
          <p:cNvSpPr/>
          <p:nvPr/>
        </p:nvSpPr>
        <p:spPr>
          <a:xfrm>
            <a:off x="685800" y="1920240"/>
            <a:ext cx="10697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10 · Cierre</a:t>
            </a:r>
            <a:endParaRPr b="0" lang="es-E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2" name="Text 4"/>
          <p:cNvSpPr/>
          <p:nvPr/>
        </p:nvSpPr>
        <p:spPr>
          <a:xfrm>
            <a:off x="704160" y="2788920"/>
            <a:ext cx="9966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4155"/>
                </a:solidFill>
                <a:latin typeface="Aptos"/>
              </a:rPr>
              <a:t>LangChain aporta valor cuando ayuda a construir flujos claros, medibles y mantenibles.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93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378440" y="6080760"/>
            <a:ext cx="959400" cy="438120"/>
          </a:xfrm>
          <a:prstGeom prst="rect">
            <a:avLst/>
          </a:prstGeom>
          <a:ln w="0">
            <a:noFill/>
          </a:ln>
        </p:spPr>
      </p:pic>
      <p:sp>
        <p:nvSpPr>
          <p:cNvPr id="1394" name="Text 5"/>
          <p:cNvSpPr/>
          <p:nvPr/>
        </p:nvSpPr>
        <p:spPr>
          <a:xfrm>
            <a:off x="1170432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67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6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Cierre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7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98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1399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68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0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Aprendizajes esenciales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1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Señales de comprensión real al cierre de la clase.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2" name="Text 6"/>
          <p:cNvSpPr/>
          <p:nvPr/>
        </p:nvSpPr>
        <p:spPr>
          <a:xfrm>
            <a:off x="868680" y="1600200"/>
            <a:ext cx="1051488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</a:pPr>
            <a:r>
              <a:rPr b="0" lang="en-US" sz="1550" spc="-1" strike="noStrike">
                <a:solidFill>
                  <a:srgbClr val="334155"/>
                </a:solidFill>
                <a:latin typeface="Aptos"/>
              </a:rPr>
              <a:t>• </a:t>
            </a:r>
            <a:r>
              <a:rPr b="0" lang="en-US" sz="1550" spc="-1" strike="noStrike">
                <a:solidFill>
                  <a:srgbClr val="334155"/>
                </a:solidFill>
                <a:latin typeface="Aptos"/>
              </a:rPr>
              <a:t>LangChain es parte de un ecosistema: LangChain, LangGraph y LangSmith.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50" spc="-1" strike="noStrike">
                <a:solidFill>
                  <a:srgbClr val="334155"/>
                </a:solidFill>
                <a:latin typeface="Aptos"/>
              </a:rPr>
              <a:t>• </a:t>
            </a:r>
            <a:r>
              <a:rPr b="0" lang="en-US" sz="1550" spc="-1" strike="noStrike">
                <a:solidFill>
                  <a:srgbClr val="334155"/>
                </a:solidFill>
                <a:latin typeface="Aptos"/>
              </a:rPr>
              <a:t>No todo necesita IA; no todo necesita LangChain; no todo necesita agente.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50" spc="-1" strike="noStrike">
                <a:solidFill>
                  <a:srgbClr val="334155"/>
                </a:solidFill>
                <a:latin typeface="Aptos"/>
              </a:rPr>
              <a:t>• </a:t>
            </a:r>
            <a:r>
              <a:rPr b="0" lang="en-US" sz="1550" spc="-1" strike="noStrike">
                <a:solidFill>
                  <a:srgbClr val="334155"/>
                </a:solidFill>
                <a:latin typeface="Aptos"/>
              </a:rPr>
              <a:t>Una chain simple ya mejora orden: prompt, modelo, parser y salida.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50" spc="-1" strike="noStrike">
                <a:solidFill>
                  <a:srgbClr val="334155"/>
                </a:solidFill>
                <a:latin typeface="Aptos"/>
              </a:rPr>
              <a:t>• </a:t>
            </a:r>
            <a:r>
              <a:rPr b="0" lang="en-US" sz="1550" spc="-1" strike="noStrike">
                <a:solidFill>
                  <a:srgbClr val="334155"/>
                </a:solidFill>
                <a:latin typeface="Aptos"/>
              </a:rPr>
              <a:t>Memoria, sesión, retriever y RAG resuelven problemas distintos.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50" spc="-1" strike="noStrike">
                <a:solidFill>
                  <a:srgbClr val="334155"/>
                </a:solidFill>
                <a:latin typeface="Aptos"/>
              </a:rPr>
              <a:t>• </a:t>
            </a:r>
            <a:r>
              <a:rPr b="0" lang="en-US" sz="1550" spc="-1" strike="noStrike">
                <a:solidFill>
                  <a:srgbClr val="334155"/>
                </a:solidFill>
                <a:latin typeface="Aptos"/>
              </a:rPr>
              <a:t>El patrón se elige por el dato: texto, documento, sistema externo o ruta dinámica.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50" spc="-1" strike="noStrike">
                <a:solidFill>
                  <a:srgbClr val="334155"/>
                </a:solidFill>
                <a:latin typeface="Aptos"/>
              </a:rPr>
              <a:t>• </a:t>
            </a:r>
            <a:r>
              <a:rPr b="0" lang="en-US" sz="1550" spc="-1" strike="noStrike">
                <a:solidFill>
                  <a:srgbClr val="334155"/>
                </a:solidFill>
                <a:latin typeface="Aptos"/>
              </a:rPr>
              <a:t>Los casos reales se pueden transformar en flujos defendibles antes de programar.</a:t>
            </a: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5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4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Cierre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5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06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1407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69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8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Puente hacia Clase 4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9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Ahora que el flujo existe, falta convertirlo en aplicación defendible.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0" name="Shape 6"/>
          <p:cNvSpPr/>
          <p:nvPr/>
        </p:nvSpPr>
        <p:spPr>
          <a:xfrm>
            <a:off x="2392560" y="253728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1" name="Shape 7"/>
          <p:cNvSpPr/>
          <p:nvPr/>
        </p:nvSpPr>
        <p:spPr>
          <a:xfrm>
            <a:off x="4218120" y="253728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2" name="Shape 8"/>
          <p:cNvSpPr/>
          <p:nvPr/>
        </p:nvSpPr>
        <p:spPr>
          <a:xfrm>
            <a:off x="6044040" y="253728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3" name="Shape 9"/>
          <p:cNvSpPr/>
          <p:nvPr/>
        </p:nvSpPr>
        <p:spPr>
          <a:xfrm>
            <a:off x="7869600" y="253728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4" name="Shape 10"/>
          <p:cNvSpPr/>
          <p:nvPr/>
        </p:nvSpPr>
        <p:spPr>
          <a:xfrm>
            <a:off x="9695520" y="2537280"/>
            <a:ext cx="64080" cy="360"/>
          </a:xfrm>
          <a:prstGeom prst="line">
            <a:avLst/>
          </a:prstGeom>
          <a:ln w="1778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5" name="Shape 11"/>
          <p:cNvSpPr/>
          <p:nvPr/>
        </p:nvSpPr>
        <p:spPr>
          <a:xfrm>
            <a:off x="685800" y="2194560"/>
            <a:ext cx="1660320" cy="6850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1430">
            <a:solidFill>
              <a:srgbClr val="1322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6" name="Text 12"/>
          <p:cNvSpPr/>
          <p:nvPr/>
        </p:nvSpPr>
        <p:spPr>
          <a:xfrm>
            <a:off x="749880" y="2286000"/>
            <a:ext cx="153252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32238"/>
                </a:solidFill>
                <a:latin typeface="Aptos"/>
              </a:rPr>
              <a:t>Flujo Clase 3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7" name="Shape 13"/>
          <p:cNvSpPr/>
          <p:nvPr/>
        </p:nvSpPr>
        <p:spPr>
          <a:xfrm>
            <a:off x="2511720" y="2194560"/>
            <a:ext cx="1660320" cy="685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1322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8" name="Text 14"/>
          <p:cNvSpPr/>
          <p:nvPr/>
        </p:nvSpPr>
        <p:spPr>
          <a:xfrm>
            <a:off x="2575440" y="2286000"/>
            <a:ext cx="153252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32238"/>
                </a:solidFill>
                <a:latin typeface="Aptos"/>
              </a:rPr>
              <a:t>Datos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9" name="Shape 15"/>
          <p:cNvSpPr/>
          <p:nvPr/>
        </p:nvSpPr>
        <p:spPr>
          <a:xfrm>
            <a:off x="4337280" y="2194560"/>
            <a:ext cx="1660320" cy="685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1322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0" name="Text 16"/>
          <p:cNvSpPr/>
          <p:nvPr/>
        </p:nvSpPr>
        <p:spPr>
          <a:xfrm>
            <a:off x="4401360" y="2286000"/>
            <a:ext cx="153252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32238"/>
                </a:solidFill>
                <a:latin typeface="Aptos"/>
              </a:rPr>
              <a:t>RAG práctico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1" name="Shape 17"/>
          <p:cNvSpPr/>
          <p:nvPr/>
        </p:nvSpPr>
        <p:spPr>
          <a:xfrm>
            <a:off x="6163200" y="2194560"/>
            <a:ext cx="1660320" cy="685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1322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2" name="Text 18"/>
          <p:cNvSpPr/>
          <p:nvPr/>
        </p:nvSpPr>
        <p:spPr>
          <a:xfrm>
            <a:off x="6226920" y="2286000"/>
            <a:ext cx="153252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32238"/>
                </a:solidFill>
                <a:latin typeface="Aptos"/>
              </a:rPr>
              <a:t>Tools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3" name="Shape 19"/>
          <p:cNvSpPr/>
          <p:nvPr/>
        </p:nvSpPr>
        <p:spPr>
          <a:xfrm>
            <a:off x="7988760" y="2194560"/>
            <a:ext cx="1660320" cy="685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1322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4" name="Text 20"/>
          <p:cNvSpPr/>
          <p:nvPr/>
        </p:nvSpPr>
        <p:spPr>
          <a:xfrm>
            <a:off x="8052840" y="2286000"/>
            <a:ext cx="153252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32238"/>
                </a:solidFill>
                <a:latin typeface="Aptos"/>
              </a:rPr>
              <a:t>Evaluación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5" name="Shape 21"/>
          <p:cNvSpPr/>
          <p:nvPr/>
        </p:nvSpPr>
        <p:spPr>
          <a:xfrm>
            <a:off x="9814680" y="2194560"/>
            <a:ext cx="1660320" cy="685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1322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6" name="Text 22"/>
          <p:cNvSpPr/>
          <p:nvPr/>
        </p:nvSpPr>
        <p:spPr>
          <a:xfrm>
            <a:off x="9878400" y="2286000"/>
            <a:ext cx="153252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32238"/>
                </a:solidFill>
                <a:latin typeface="Aptos"/>
              </a:rPr>
              <a:t>Operación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7" name="Shape 23"/>
          <p:cNvSpPr/>
          <p:nvPr/>
        </p:nvSpPr>
        <p:spPr>
          <a:xfrm>
            <a:off x="822960" y="3429000"/>
            <a:ext cx="5028480" cy="114228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8" name="Shape 24"/>
          <p:cNvSpPr/>
          <p:nvPr/>
        </p:nvSpPr>
        <p:spPr>
          <a:xfrm>
            <a:off x="822960" y="3429000"/>
            <a:ext cx="72360" cy="1142280"/>
          </a:xfrm>
          <a:prstGeom prst="rect">
            <a:avLst/>
          </a:prstGeom>
          <a:solidFill>
            <a:srgbClr val="245c94"/>
          </a:solidFill>
          <a:ln w="12700">
            <a:solidFill>
              <a:srgbClr val="245c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9" name="Text 25"/>
          <p:cNvSpPr/>
          <p:nvPr/>
        </p:nvSpPr>
        <p:spPr>
          <a:xfrm>
            <a:off x="987480" y="3547800"/>
            <a:ext cx="4754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32238"/>
                </a:solidFill>
                <a:latin typeface="Aptos"/>
              </a:rPr>
              <a:t>Clase 3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0" name="Text 26"/>
          <p:cNvSpPr/>
          <p:nvPr/>
        </p:nvSpPr>
        <p:spPr>
          <a:xfrm>
            <a:off x="987480" y="3904560"/>
            <a:ext cx="472680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34155"/>
                </a:solidFill>
                <a:latin typeface="Aptos"/>
              </a:rPr>
              <a:t>Elegimos patrón, componentes, flujo y punto de control.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1" name="Shape 27"/>
          <p:cNvSpPr/>
          <p:nvPr/>
        </p:nvSpPr>
        <p:spPr>
          <a:xfrm>
            <a:off x="6263640" y="3429000"/>
            <a:ext cx="5028480" cy="114228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143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2" name="Shape 28"/>
          <p:cNvSpPr/>
          <p:nvPr/>
        </p:nvSpPr>
        <p:spPr>
          <a:xfrm>
            <a:off x="6263640" y="3429000"/>
            <a:ext cx="72360" cy="1142280"/>
          </a:xfrm>
          <a:prstGeom prst="rect">
            <a:avLst/>
          </a:prstGeom>
          <a:solidFill>
            <a:srgbClr val="2d8a55"/>
          </a:solidFill>
          <a:ln w="12700">
            <a:solidFill>
              <a:srgbClr val="2d8a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3" name="Text 29"/>
          <p:cNvSpPr/>
          <p:nvPr/>
        </p:nvSpPr>
        <p:spPr>
          <a:xfrm>
            <a:off x="6428160" y="3547800"/>
            <a:ext cx="4754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32238"/>
                </a:solidFill>
                <a:latin typeface="Aptos"/>
              </a:rPr>
              <a:t>Clase 4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4" name="Text 30"/>
          <p:cNvSpPr/>
          <p:nvPr/>
        </p:nvSpPr>
        <p:spPr>
          <a:xfrm>
            <a:off x="6428160" y="3904560"/>
            <a:ext cx="472680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334155"/>
                </a:solidFill>
                <a:latin typeface="Aptos"/>
              </a:rPr>
              <a:t>Agregaremos datos, evidencia, evaluación y operación mínima.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5" name="Shape 31"/>
          <p:cNvSpPr/>
          <p:nvPr/>
        </p:nvSpPr>
        <p:spPr>
          <a:xfrm>
            <a:off x="822960" y="5440680"/>
            <a:ext cx="10469160" cy="54792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016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6" name="Text 32"/>
          <p:cNvSpPr/>
          <p:nvPr/>
        </p:nvSpPr>
        <p:spPr>
          <a:xfrm>
            <a:off x="987480" y="5568840"/>
            <a:ext cx="10140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238"/>
                </a:solidFill>
                <a:latin typeface="Aptos"/>
              </a:rPr>
              <a:t>Clase 4 no parte de cero: parte del flujo que diseñaron hoy.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Text 0"/>
          <p:cNvSpPr/>
          <p:nvPr/>
        </p:nvSpPr>
        <p:spPr>
          <a:xfrm>
            <a:off x="502920" y="182880"/>
            <a:ext cx="804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Aptos"/>
                <a:ea typeface="Aptos"/>
              </a:rPr>
              <a:t>Diplomado Ejecutivo en Confianza Digital, IA y Automatización Empresarial · Módulo 1</a:t>
            </a:r>
            <a:endParaRPr b="0" lang="es-E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8" name="Text 1"/>
          <p:cNvSpPr/>
          <p:nvPr/>
        </p:nvSpPr>
        <p:spPr>
          <a:xfrm>
            <a:off x="502920" y="411480"/>
            <a:ext cx="6857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245c94"/>
                </a:solidFill>
                <a:latin typeface="Aptos"/>
                <a:ea typeface="Aptos"/>
              </a:rPr>
              <a:t>Cierre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9" name="Shape 2"/>
          <p:cNvSpPr/>
          <p:nvPr/>
        </p:nvSpPr>
        <p:spPr>
          <a:xfrm>
            <a:off x="502920" y="685800"/>
            <a:ext cx="11155680" cy="360"/>
          </a:xfrm>
          <a:prstGeom prst="line">
            <a:avLst/>
          </a:prstGeom>
          <a:ln w="889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40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789920" y="164520"/>
            <a:ext cx="867960" cy="392400"/>
          </a:xfrm>
          <a:prstGeom prst="rect">
            <a:avLst/>
          </a:prstGeom>
          <a:ln w="0">
            <a:noFill/>
          </a:ln>
        </p:spPr>
      </p:pic>
      <p:sp>
        <p:nvSpPr>
          <p:cNvPr id="1441" name="Text 3"/>
          <p:cNvSpPr/>
          <p:nvPr/>
        </p:nvSpPr>
        <p:spPr>
          <a:xfrm>
            <a:off x="11759040" y="6382440"/>
            <a:ext cx="273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Aptos"/>
              </a:rPr>
              <a:t>70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2" name="Text 4"/>
          <p:cNvSpPr/>
          <p:nvPr/>
        </p:nvSpPr>
        <p:spPr>
          <a:xfrm>
            <a:off x="685800" y="868680"/>
            <a:ext cx="10880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Fuentes y documentación recomendada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3" name="Text 5"/>
          <p:cNvSpPr/>
          <p:nvPr/>
        </p:nvSpPr>
        <p:spPr>
          <a:xfrm>
            <a:off x="685800" y="1252800"/>
            <a:ext cx="10697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334155"/>
                </a:solidFill>
                <a:latin typeface="Aptos"/>
              </a:rPr>
              <a:t>Para profundizar y mantener ejemplos actualizados.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4" name="Shape 6"/>
          <p:cNvSpPr/>
          <p:nvPr/>
        </p:nvSpPr>
        <p:spPr>
          <a:xfrm>
            <a:off x="777240" y="1600200"/>
            <a:ext cx="2376720" cy="555480"/>
          </a:xfrm>
          <a:prstGeom prst="rect">
            <a:avLst/>
          </a:prstGeom>
          <a:solidFill>
            <a:srgbClr val="132238"/>
          </a:solidFill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5" name="Text 7"/>
          <p:cNvSpPr/>
          <p:nvPr/>
        </p:nvSpPr>
        <p:spPr>
          <a:xfrm>
            <a:off x="822960" y="1673280"/>
            <a:ext cx="2285280" cy="4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Aptos"/>
              </a:rPr>
              <a:t>Tema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6" name="Shape 8"/>
          <p:cNvSpPr/>
          <p:nvPr/>
        </p:nvSpPr>
        <p:spPr>
          <a:xfrm>
            <a:off x="3154680" y="1600200"/>
            <a:ext cx="8228880" cy="555480"/>
          </a:xfrm>
          <a:prstGeom prst="rect">
            <a:avLst/>
          </a:prstGeom>
          <a:solidFill>
            <a:srgbClr val="132238"/>
          </a:solidFill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7" name="Text 9"/>
          <p:cNvSpPr/>
          <p:nvPr/>
        </p:nvSpPr>
        <p:spPr>
          <a:xfrm>
            <a:off x="3200400" y="1673280"/>
            <a:ext cx="8137440" cy="4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Aptos"/>
              </a:rPr>
              <a:t>Fuente recomendada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8" name="Shape 10"/>
          <p:cNvSpPr/>
          <p:nvPr/>
        </p:nvSpPr>
        <p:spPr>
          <a:xfrm>
            <a:off x="777240" y="2156400"/>
            <a:ext cx="2376720" cy="5554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9" name="Text 11"/>
          <p:cNvSpPr/>
          <p:nvPr/>
        </p:nvSpPr>
        <p:spPr>
          <a:xfrm>
            <a:off x="822960" y="2202120"/>
            <a:ext cx="22852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60" spc="-1" strike="noStrike">
                <a:solidFill>
                  <a:srgbClr val="334155"/>
                </a:solidFill>
                <a:latin typeface="Aptos"/>
              </a:rPr>
              <a:t>LangChain</a:t>
            </a:r>
            <a:endParaRPr b="0" lang="es-ES" sz="11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0" name="Shape 12"/>
          <p:cNvSpPr/>
          <p:nvPr/>
        </p:nvSpPr>
        <p:spPr>
          <a:xfrm>
            <a:off x="3154680" y="2156400"/>
            <a:ext cx="8228880" cy="5554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1" name="Text 13"/>
          <p:cNvSpPr/>
          <p:nvPr/>
        </p:nvSpPr>
        <p:spPr>
          <a:xfrm>
            <a:off x="3200400" y="2202120"/>
            <a:ext cx="813744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60" spc="-1" strike="noStrike">
                <a:solidFill>
                  <a:srgbClr val="334155"/>
                </a:solidFill>
                <a:latin typeface="Aptos"/>
              </a:rPr>
              <a:t>Docs oficiales: overview, quickstart, prompts, models, tools, agents.</a:t>
            </a:r>
            <a:endParaRPr b="0" lang="es-ES" sz="11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2" name="Shape 14"/>
          <p:cNvSpPr/>
          <p:nvPr/>
        </p:nvSpPr>
        <p:spPr>
          <a:xfrm>
            <a:off x="777240" y="2712600"/>
            <a:ext cx="2376720" cy="5554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3" name="Text 15"/>
          <p:cNvSpPr/>
          <p:nvPr/>
        </p:nvSpPr>
        <p:spPr>
          <a:xfrm>
            <a:off x="822960" y="2758320"/>
            <a:ext cx="22852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60" spc="-1" strike="noStrike">
                <a:solidFill>
                  <a:srgbClr val="334155"/>
                </a:solidFill>
                <a:latin typeface="Aptos"/>
              </a:rPr>
              <a:t>LangGraph</a:t>
            </a:r>
            <a:endParaRPr b="0" lang="es-ES" sz="11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4" name="Shape 16"/>
          <p:cNvSpPr/>
          <p:nvPr/>
        </p:nvSpPr>
        <p:spPr>
          <a:xfrm>
            <a:off x="3154680" y="2712600"/>
            <a:ext cx="8228880" cy="5554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5" name="Text 17"/>
          <p:cNvSpPr/>
          <p:nvPr/>
        </p:nvSpPr>
        <p:spPr>
          <a:xfrm>
            <a:off x="3200400" y="2758320"/>
            <a:ext cx="813744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60" spc="-1" strike="noStrike">
                <a:solidFill>
                  <a:srgbClr val="334155"/>
                </a:solidFill>
                <a:latin typeface="Aptos"/>
              </a:rPr>
              <a:t>Docs oficiales: workflows, estado, agentes, persistencia y runtime.</a:t>
            </a:r>
            <a:endParaRPr b="0" lang="es-ES" sz="11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6" name="Shape 18"/>
          <p:cNvSpPr/>
          <p:nvPr/>
        </p:nvSpPr>
        <p:spPr>
          <a:xfrm>
            <a:off x="777240" y="3269160"/>
            <a:ext cx="2376720" cy="5554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7" name="Text 19"/>
          <p:cNvSpPr/>
          <p:nvPr/>
        </p:nvSpPr>
        <p:spPr>
          <a:xfrm>
            <a:off x="822960" y="3314880"/>
            <a:ext cx="22852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60" spc="-1" strike="noStrike">
                <a:solidFill>
                  <a:srgbClr val="334155"/>
                </a:solidFill>
                <a:latin typeface="Aptos"/>
              </a:rPr>
              <a:t>LangSmith</a:t>
            </a:r>
            <a:endParaRPr b="0" lang="es-ES" sz="11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8" name="Shape 20"/>
          <p:cNvSpPr/>
          <p:nvPr/>
        </p:nvSpPr>
        <p:spPr>
          <a:xfrm>
            <a:off x="3154680" y="3269160"/>
            <a:ext cx="8228880" cy="5554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9" name="Text 21"/>
          <p:cNvSpPr/>
          <p:nvPr/>
        </p:nvSpPr>
        <p:spPr>
          <a:xfrm>
            <a:off x="3200400" y="3314880"/>
            <a:ext cx="813744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60" spc="-1" strike="noStrike">
                <a:solidFill>
                  <a:srgbClr val="334155"/>
                </a:solidFill>
                <a:latin typeface="Aptos"/>
              </a:rPr>
              <a:t>Docs oficiales: tracing, evaluación, prompts, monitoreo y deployment.</a:t>
            </a:r>
            <a:endParaRPr b="0" lang="es-ES" sz="11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0" name="Shape 22"/>
          <p:cNvSpPr/>
          <p:nvPr/>
        </p:nvSpPr>
        <p:spPr>
          <a:xfrm>
            <a:off x="777240" y="3825360"/>
            <a:ext cx="2376720" cy="5554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1" name="Text 23"/>
          <p:cNvSpPr/>
          <p:nvPr/>
        </p:nvSpPr>
        <p:spPr>
          <a:xfrm>
            <a:off x="822960" y="3871080"/>
            <a:ext cx="22852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60" spc="-1" strike="noStrike">
                <a:solidFill>
                  <a:srgbClr val="334155"/>
                </a:solidFill>
                <a:latin typeface="Aptos"/>
              </a:rPr>
              <a:t>Deployment</a:t>
            </a:r>
            <a:endParaRPr b="0" lang="es-ES" sz="11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2" name="Shape 24"/>
          <p:cNvSpPr/>
          <p:nvPr/>
        </p:nvSpPr>
        <p:spPr>
          <a:xfrm>
            <a:off x="3154680" y="3825360"/>
            <a:ext cx="8228880" cy="5554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3" name="Text 25"/>
          <p:cNvSpPr/>
          <p:nvPr/>
        </p:nvSpPr>
        <p:spPr>
          <a:xfrm>
            <a:off x="3200400" y="3871080"/>
            <a:ext cx="813744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60" spc="-1" strike="noStrike">
                <a:solidFill>
                  <a:srgbClr val="334155"/>
                </a:solidFill>
                <a:latin typeface="Aptos"/>
              </a:rPr>
              <a:t>Docs oficiales: LangSmith Deployment, cloud, standalone server y configuración.</a:t>
            </a:r>
            <a:endParaRPr b="0" lang="es-ES" sz="11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4" name="Shape 26"/>
          <p:cNvSpPr/>
          <p:nvPr/>
        </p:nvSpPr>
        <p:spPr>
          <a:xfrm>
            <a:off x="777240" y="4381560"/>
            <a:ext cx="2376720" cy="5554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5" name="Text 27"/>
          <p:cNvSpPr/>
          <p:nvPr/>
        </p:nvSpPr>
        <p:spPr>
          <a:xfrm>
            <a:off x="822960" y="4427280"/>
            <a:ext cx="22852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60" spc="-1" strike="noStrike">
                <a:solidFill>
                  <a:srgbClr val="334155"/>
                </a:solidFill>
                <a:latin typeface="Aptos"/>
              </a:rPr>
              <a:t>Buenas prácticas</a:t>
            </a:r>
            <a:endParaRPr b="0" lang="es-ES" sz="11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6" name="Shape 28"/>
          <p:cNvSpPr/>
          <p:nvPr/>
        </p:nvSpPr>
        <p:spPr>
          <a:xfrm>
            <a:off x="3154680" y="4381560"/>
            <a:ext cx="8228880" cy="5554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7" name="Text 29"/>
          <p:cNvSpPr/>
          <p:nvPr/>
        </p:nvSpPr>
        <p:spPr>
          <a:xfrm>
            <a:off x="3200400" y="4427280"/>
            <a:ext cx="813744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60" spc="-1" strike="noStrike">
                <a:solidFill>
                  <a:srgbClr val="334155"/>
                </a:solidFill>
                <a:latin typeface="Aptos"/>
              </a:rPr>
              <a:t>Manejo de claves, datos mínimos, validación de salida y pruebas.</a:t>
            </a:r>
            <a:endParaRPr b="0" lang="es-ES" sz="11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8" name="Shape 30"/>
          <p:cNvSpPr/>
          <p:nvPr/>
        </p:nvSpPr>
        <p:spPr>
          <a:xfrm>
            <a:off x="777240" y="5577840"/>
            <a:ext cx="10606320" cy="50220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0160">
            <a:solidFill>
              <a:srgbClr val="d9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9" name="Text 31"/>
          <p:cNvSpPr/>
          <p:nvPr/>
        </p:nvSpPr>
        <p:spPr>
          <a:xfrm>
            <a:off x="941760" y="5706000"/>
            <a:ext cx="10277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32238"/>
                </a:solidFill>
                <a:latin typeface="Aptos"/>
              </a:rPr>
              <a:t>Buscar documentación por patrón: chain, RAG, tool, agent, memory, tracing y deployment.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1" name="Shap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b6202a"/>
          </a:solidFill>
          <a:ln w="12700">
            <a:solidFill>
              <a:srgbClr val="b620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2" name="Text 2"/>
          <p:cNvSpPr/>
          <p:nvPr/>
        </p:nvSpPr>
        <p:spPr>
          <a:xfrm>
            <a:off x="685800" y="960120"/>
            <a:ext cx="2742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b6202a"/>
                </a:solidFill>
                <a:latin typeface="Aptos"/>
              </a:rPr>
              <a:t>Cierre Clase 3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3" name="Text 3"/>
          <p:cNvSpPr/>
          <p:nvPr/>
        </p:nvSpPr>
        <p:spPr>
          <a:xfrm>
            <a:off x="685800" y="1600200"/>
            <a:ext cx="80460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666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De API directa</a:t>
            </a:r>
            <a:endParaRPr b="0" lang="es-ES" sz="4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132238"/>
                </a:solidFill>
                <a:latin typeface="Aptos Display"/>
                <a:ea typeface="Aptos Display"/>
              </a:rPr>
              <a:t>a flujo diseñado</a:t>
            </a:r>
            <a:endParaRPr b="0" lang="es-E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4" name="Text 4"/>
          <p:cNvSpPr/>
          <p:nvPr/>
        </p:nvSpPr>
        <p:spPr>
          <a:xfrm>
            <a:off x="713160" y="3063240"/>
            <a:ext cx="91432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334155"/>
                </a:solidFill>
                <a:latin typeface="Aptos"/>
              </a:rPr>
              <a:t>LangChain aporta cuando transforma una idea en componentes claros, reutilizables, medibles y seguros.</a:t>
            </a:r>
            <a:endParaRPr b="0" lang="es-E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5" name="Text 5"/>
          <p:cNvSpPr/>
          <p:nvPr/>
        </p:nvSpPr>
        <p:spPr>
          <a:xfrm>
            <a:off x="713160" y="4754880"/>
            <a:ext cx="8594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245c94"/>
                </a:solidFill>
                <a:latin typeface="Aptos"/>
              </a:rPr>
              <a:t>Próxima clase: datos, RAG práctico, tools, evaluación y operación.</a:t>
            </a:r>
            <a:endParaRPr b="0" lang="es-E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6" name="Text 6"/>
          <p:cNvSpPr/>
          <p:nvPr/>
        </p:nvSpPr>
        <p:spPr>
          <a:xfrm>
            <a:off x="713160" y="516636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64748b"/>
                </a:solidFill>
                <a:latin typeface="Aptos"/>
              </a:rPr>
              <a:t>Gracias · Preguntas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77" name="Image 0" descr="/mnt/data/usach_logo_tmp.png"/>
          <p:cNvPicPr/>
          <p:nvPr/>
        </p:nvPicPr>
        <p:blipFill>
          <a:blip r:embed="rId1"/>
          <a:stretch/>
        </p:blipFill>
        <p:spPr>
          <a:xfrm>
            <a:off x="10058400" y="5715000"/>
            <a:ext cx="1233720" cy="566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Application>LibreOffice/24.2.7.2$Linux_X86_64 LibreOffice_project/420$Build-2</Application>
  <AppVersion>15.0000</AppVersion>
  <Words>0</Words>
  <Paragraphs>0</Paragraphs>
  <Company>USACH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2026-05-23T02:14:28Z</dcterms:created>
  <dc:creator>Bastián Campusano</dc:creator>
  <dc:description/>
  <dc:language>es-ES</dc:language>
  <cp:lastModifiedBy/>
  <dcterms:modified xsi:type="dcterms:W3CDTF">2026-05-23T14:28:39Z</dcterms:modified>
  <cp:revision>20</cp:revision>
  <dc:subject>Módulo 1 · Clase 3 · Introducción a LangChain</dc:subject>
  <dc:title>Clase 3 · Introducción a LangChain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71</vt:i4>
  </property>
  <property fmtid="{D5CDD505-2E9C-101B-9397-08002B2CF9AE}" pid="3" name="PresentationFormat">
    <vt:lpwstr>On-screen Show (16:9)</vt:lpwstr>
  </property>
  <property fmtid="{D5CDD505-2E9C-101B-9397-08002B2CF9AE}" pid="4" name="Slides">
    <vt:i4>71</vt:i4>
  </property>
</Properties>
</file>