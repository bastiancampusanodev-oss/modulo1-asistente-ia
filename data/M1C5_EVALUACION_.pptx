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Arial"/>
              </a:rPr>
              <a:t>Click to move the </a:t>
            </a:r>
            <a:r>
              <a:rPr b="0" lang="es-ES" sz="1800" spc="-1" strike="noStrike">
                <a:solidFill>
                  <a:schemeClr val="dk1"/>
                </a:solidFill>
                <a:latin typeface="Arial"/>
              </a:rPr>
              <a:t>slide</a:t>
            </a: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dit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ot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es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F58F47D-8878-4895-B719-EA3F7155F373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6115A2-0AA0-4164-A3CC-0AE4631911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5DA23-D7B0-4729-B014-EDD1132C3B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BFEEE7-A480-4F30-A1E8-A51012BC67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8F4F94-ED3F-43DE-8375-FDB7460997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61CACC-5D31-45B0-838A-393BA2E207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DE7E87-19B6-4462-910F-336B01D0A9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B2EC30-932E-4E7E-AAAB-3552AD502A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D33E44-12A6-4D69-B6B1-4C81F7AE6D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36EE7B-6ED7-40FB-A3D4-DC6205C169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6AE09F-B555-41D2-9DAD-822D2422C7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 0"/>
          <p:cNvSpPr/>
          <p:nvPr/>
        </p:nvSpPr>
        <p:spPr>
          <a:xfrm>
            <a:off x="502920" y="6473880"/>
            <a:ext cx="8869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rial"/>
                <a:ea typeface="Arial"/>
              </a:rPr>
              <a:t>Diplomado Ejecutivo en Confianza Digital, IA y Automatización Empresarial · USACH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10744200" y="6419160"/>
            <a:ext cx="868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Arial"/>
                <a:ea typeface="Arial"/>
              </a:rPr>
              <a:t>USACH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Arial"/>
              </a:rPr>
              <a:t>Click to edit the title text </a:t>
            </a:r>
            <a:r>
              <a:rPr b="0" lang="es-E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s-E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s-ES" sz="2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s-ES" sz="20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85800" y="6217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</a:rPr>
              <a:t>Clase 5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85800" y="1051560"/>
            <a:ext cx="57603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Arial"/>
              </a:rPr>
              <a:t>Evaluación</a:t>
            </a:r>
            <a:endParaRPr b="0" lang="es-ES" sz="4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Arial"/>
              </a:rPr>
              <a:t>integradora</a:t>
            </a:r>
            <a:endParaRPr b="0" lang="es-E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2697480"/>
            <a:ext cx="6674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cbd5e1"/>
                </a:solidFill>
                <a:latin typeface="Arial"/>
              </a:rPr>
              <a:t>Diseño de una solución IA aplicada a un caso nuevo.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3794760"/>
            <a:ext cx="6446160" cy="566640"/>
          </a:xfrm>
          <a:prstGeom prst="rect">
            <a:avLst/>
          </a:prstGeom>
          <a:solidFill>
            <a:srgbClr val="172554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Actividad individual · Entrega en PDF · Caso nuevo · Criterio aplicado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85800" y="5577840"/>
            <a:ext cx="5943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8f0"/>
                </a:solidFill>
                <a:latin typeface="Arial"/>
              </a:rPr>
              <a:t>Módulo 1: APIs de IA, LangChain y RAG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0149840" y="567000"/>
            <a:ext cx="1234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USACH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635240" y="1234440"/>
            <a:ext cx="1005480" cy="310680"/>
          </a:xfrm>
          <a:prstGeom prst="rect">
            <a:avLst/>
          </a:prstGeom>
          <a:solidFill>
            <a:srgbClr val="ea580c"/>
          </a:solidFill>
          <a:ln w="0">
            <a:solidFill>
              <a:srgbClr val="ea580c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Simple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796600" y="2057400"/>
            <a:ext cx="1051200" cy="31068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Seguro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372600" y="3035880"/>
            <a:ext cx="1142640" cy="31068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Medible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8275320" y="4133160"/>
            <a:ext cx="1416960" cy="31068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Defendible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Objetivo de la evaluación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Integrar lo aprendido en las clases 1 a 4 en una solución aplicada y defendible.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822960" y="1417320"/>
            <a:ext cx="1056096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  <a:ea typeface="Arial"/>
              </a:rPr>
              <a:t>Diseñar una solución IA para un proceso real, explicando problema, arquitectura, datos, controles, evaluación y operación mínima.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68680" y="27889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Arial"/>
              </a:rPr>
              <a:t>NO SE EXIGE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3063240"/>
            <a:ext cx="5074560" cy="1462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Construir backend completo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Pagar créditos de APIs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Programar una app productiva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Usar la arquitectura más compleja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309360" y="27889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6a34a"/>
                </a:solidFill>
                <a:latin typeface="Arial"/>
              </a:rPr>
              <a:t>SÍ SE EXIGE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6263640" y="3063240"/>
            <a:ext cx="5074560" cy="1462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Criterio técnico y de negocio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Coherencia entre problema y patrón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Controles claros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Evaluación mínima defendible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1097280" y="5486400"/>
            <a:ext cx="9966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La mejor solución no es la más compleja: es la más simple, segura, medible y útil para el caso.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03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Condiciones de entrega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Instrucciones operativas para enviar la evaluación.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960120" y="1417320"/>
            <a:ext cx="2285640" cy="475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Modalidad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3337560" y="1417320"/>
            <a:ext cx="7772040" cy="475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Individual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960120" y="1984320"/>
            <a:ext cx="228564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Caso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3337560" y="1984320"/>
            <a:ext cx="777204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Nuevo y elegido por el/la estudiante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960120" y="2551320"/>
            <a:ext cx="2285640" cy="475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Formato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3337560" y="2551320"/>
            <a:ext cx="7772040" cy="475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PDF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960120" y="3117960"/>
            <a:ext cx="228564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Entrega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3337560" y="3117960"/>
            <a:ext cx="777204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Enviar a bastiancampusanodev@gmail.com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960120" y="3684960"/>
            <a:ext cx="2285640" cy="475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Asunto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3337560" y="3684960"/>
            <a:ext cx="7772040" cy="475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NombreApellido_EvaluacionM1.pdf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960120" y="4251960"/>
            <a:ext cx="228564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Archivo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3337560" y="4251960"/>
            <a:ext cx="777204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NombreApellido_EvaluacionM1.pdf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960120" y="5074920"/>
            <a:ext cx="10149480" cy="658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Importante: no reciclar exactamente el mismo caso usado durante actividades previas. Se puede reutilizar el método, no el caso.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04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Qué debe incluir el PDF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Cuatro bloques para ordenar la respuesta final.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731520" y="141732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417320" y="1435680"/>
            <a:ext cx="4343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Oportunidad y proceso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731520" y="2011680"/>
            <a:ext cx="507456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75569"/>
                </a:solidFill>
                <a:latin typeface="Arial"/>
                <a:ea typeface="Arial"/>
              </a:rPr>
              <a:t>Problema, usuario, proceso, dolor actual, input/output y riesgo principal.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6263640" y="141732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949440" y="1435680"/>
            <a:ext cx="4343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Diseño con API/modelo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263640" y="2011680"/>
            <a:ext cx="507456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75569"/>
                </a:solidFill>
                <a:latin typeface="Arial"/>
                <a:ea typeface="Arial"/>
              </a:rPr>
              <a:t>Modelo o proveedor sugerido, prompt base, parámetros y control operativo.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731520" y="370332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1417320" y="3721680"/>
            <a:ext cx="4343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Patrón y flujo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731520" y="4297680"/>
            <a:ext cx="507456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75569"/>
                </a:solidFill>
                <a:latin typeface="Arial"/>
                <a:ea typeface="Arial"/>
              </a:rPr>
              <a:t>API simple, chain, RAG, tool o agente; componentes y diagrama de flujo.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6263640" y="370332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6949440" y="3721680"/>
            <a:ext cx="4343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</a:rPr>
              <a:t>Datos, evaluación y operación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6263640" y="4297680"/>
            <a:ext cx="507456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475569"/>
                </a:solidFill>
                <a:latin typeface="Arial"/>
                <a:ea typeface="Arial"/>
              </a:rPr>
              <a:t>Fuentes, calidad, permisos, tools/autonomía, pruebas, métricas, fallback y revisión humana.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05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Caso nuevo: qué sirve y qué no sirve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El caso debe ser pequeño, realista y evaluable.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822960" y="14173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6a34a"/>
                </a:solidFill>
                <a:latin typeface="Arial"/>
              </a:rPr>
              <a:t>BUEN CASO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777240" y="1737360"/>
            <a:ext cx="5166000" cy="2697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Tiene usuario claro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Se explica en 1 minuto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Usa información concreta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Tiene output verificable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Permite medir éxito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Riesgos manejables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309360" y="141732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Arial"/>
              </a:rPr>
              <a:t>MAL CASO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6263640" y="1737360"/>
            <a:ext cx="5166000" cy="2697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“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Automatizar toda la empresa”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No define usuario real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Depende de datos inexistentes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No tiene input/output claro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No considera permisos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Usa IA por moda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960120" y="5074920"/>
            <a:ext cx="101037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  <a:ea typeface="Arial"/>
              </a:rPr>
              <a:t>Frase recomendada: “Diseñaré un asistente que ayuda a [usuario] a resolver [tarea/problema] usando [datos/patrón] y entregando [output verificable].”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06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Patrones permitidos y cuándo usarlos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La arquitectura debe justificarse por necesidad, no por moda.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960120" y="1417320"/>
            <a:ext cx="5166000" cy="411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Necesidad del caso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309360" y="1417320"/>
            <a:ext cx="4525920" cy="411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Patrón recomendado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960120" y="1920240"/>
            <a:ext cx="516600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Transformar, resumir o redactar texto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6309360" y="1920240"/>
            <a:ext cx="45259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  <a:ea typeface="Arial"/>
              </a:rPr>
              <a:t>API simple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960120" y="2450520"/>
            <a:ext cx="5166000" cy="456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Extraer o clasificar campos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6309360" y="2450520"/>
            <a:ext cx="4525920" cy="456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  <a:ea typeface="Arial"/>
              </a:rPr>
              <a:t>API + salida estructurada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960120" y="2980800"/>
            <a:ext cx="516600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Responder con documentos internos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6309360" y="2980800"/>
            <a:ext cx="45259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  <a:ea typeface="Arial"/>
              </a:rPr>
              <a:t>RAG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960120" y="3511440"/>
            <a:ext cx="5166000" cy="456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Consultar un sistema o calcular algo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6309360" y="3511440"/>
            <a:ext cx="4525920" cy="456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  <a:ea typeface="Arial"/>
              </a:rPr>
              <a:t>Tool controlada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960120" y="4041720"/>
            <a:ext cx="516600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Elegir entre pasos o varias tools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6309360" y="4041720"/>
            <a:ext cx="45259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  <a:ea typeface="Arial"/>
              </a:rPr>
              <a:t>Agente controlado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960120" y="4572000"/>
            <a:ext cx="5166000" cy="456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f172a"/>
                </a:solidFill>
                <a:latin typeface="Arial"/>
                <a:ea typeface="Arial"/>
              </a:rPr>
              <a:t>Acción sensible o irreversible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6309360" y="4572000"/>
            <a:ext cx="4525920" cy="456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a580c"/>
                </a:solidFill>
                <a:latin typeface="Arial"/>
                <a:ea typeface="Arial"/>
              </a:rPr>
              <a:t>Human-in-the-loop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1005840" y="562356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Regla: si una chain o una regla resuelve el flujo, no usar agente.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07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Evaluación mínima obligatoria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La solución debe probar éxito, duda y límite.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77240" y="146304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6a34a"/>
                </a:solidFill>
                <a:latin typeface="Arial"/>
              </a:rPr>
              <a:t>CASO NORMAL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77240" y="1783080"/>
            <a:ext cx="3062880" cy="1462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  <a:ea typeface="Arial"/>
              </a:rPr>
              <a:t>La información existe y la solicitud es clara.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  <a:ea typeface="Arial"/>
              </a:rPr>
              <a:t>Debe responder o ejecutar la ruta esperada.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4316040" y="146304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a580c"/>
                </a:solidFill>
                <a:latin typeface="Arial"/>
              </a:rPr>
              <a:t>CASO AMBIGUO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4316040" y="1783080"/>
            <a:ext cx="3062880" cy="1462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  <a:ea typeface="Arial"/>
              </a:rPr>
              <a:t>Falta contexto o la solicitud es imprecisa.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  <a:ea typeface="Arial"/>
              </a:rPr>
              <a:t>Debe pedir aclaración antes de asumir.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7854840" y="1463040"/>
            <a:ext cx="2651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dc2626"/>
                </a:solidFill>
                <a:latin typeface="Arial"/>
              </a:rPr>
              <a:t>FUERA DE ALCANCE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7854840" y="1783080"/>
            <a:ext cx="3062880" cy="1462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  <a:ea typeface="Arial"/>
              </a:rPr>
              <a:t>La respuesta no está permitida o no hay evidencia.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f172a"/>
                </a:solidFill>
                <a:latin typeface="Arial"/>
                <a:ea typeface="Arial"/>
              </a:rPr>
              <a:t>Debe bloquear, derivar o declarar límite.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960120" y="3886200"/>
            <a:ext cx="10195200" cy="73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Arial"/>
              </a:rPr>
              <a:t>Para cada caso incluir: input de prueba · resultado esperado · criterio de éxito · qué debería pasar si falla.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1280160" y="4983480"/>
            <a:ext cx="95094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No basta decir “parece bueno”.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Se evalúa la ruta, el uso de datos/tools, los límites y la respuesta final.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0f172a"/>
                </a:solidFill>
                <a:latin typeface="Arial"/>
              </a:rPr>
              <a:t>La evaluación debe permitir mejorar prompt, datos, retriever o controles.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08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Rúbrica de evaluación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Criterios para revisar el PDF final.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77240" y="1371600"/>
            <a:ext cx="3108600" cy="52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172a"/>
                </a:solidFill>
                <a:latin typeface="Arial"/>
                <a:ea typeface="Arial"/>
              </a:rPr>
              <a:t>1. Problema y usuario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4023360" y="1371600"/>
            <a:ext cx="7269120" cy="52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75569"/>
                </a:solidFill>
                <a:latin typeface="Arial"/>
                <a:ea typeface="Arial"/>
              </a:rPr>
              <a:t>Caso claro, realista, acotado y con usuario definido.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777240" y="1956960"/>
            <a:ext cx="3108600" cy="520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172a"/>
                </a:solidFill>
                <a:latin typeface="Arial"/>
                <a:ea typeface="Arial"/>
              </a:rPr>
              <a:t>2. Input/output/proceso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023360" y="1956960"/>
            <a:ext cx="7269120" cy="520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75569"/>
                </a:solidFill>
                <a:latin typeface="Arial"/>
                <a:ea typeface="Arial"/>
              </a:rPr>
              <a:t>Contrato entendible entre proceso, entrada, salida y valor esperado.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777240" y="2541960"/>
            <a:ext cx="3108600" cy="52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172a"/>
                </a:solidFill>
                <a:latin typeface="Arial"/>
                <a:ea typeface="Arial"/>
              </a:rPr>
              <a:t>3. Modelo, prompt y API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023360" y="2541960"/>
            <a:ext cx="7269120" cy="52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75569"/>
                </a:solidFill>
                <a:latin typeface="Arial"/>
                <a:ea typeface="Arial"/>
              </a:rPr>
              <a:t>Decisiones coherentes de modelo, prompt, parámetros y control operativo.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777240" y="3127320"/>
            <a:ext cx="3108600" cy="520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172a"/>
                </a:solidFill>
                <a:latin typeface="Arial"/>
                <a:ea typeface="Arial"/>
              </a:rPr>
              <a:t>4. Patrón y arquitectura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4023360" y="3127320"/>
            <a:ext cx="7269120" cy="520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75569"/>
                </a:solidFill>
                <a:latin typeface="Arial"/>
                <a:ea typeface="Arial"/>
              </a:rPr>
              <a:t>Elección justificada entre API simple, chain, RAG, tool o agente.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777240" y="3712320"/>
            <a:ext cx="3108600" cy="52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172a"/>
                </a:solidFill>
                <a:latin typeface="Arial"/>
                <a:ea typeface="Arial"/>
              </a:rPr>
              <a:t>5. Datos y controles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4023360" y="3712320"/>
            <a:ext cx="7269120" cy="52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75569"/>
                </a:solidFill>
                <a:latin typeface="Arial"/>
                <a:ea typeface="Arial"/>
              </a:rPr>
              <a:t>Fuentes, calidad, permisos, riesgos, seguridad y revisión humana.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777240" y="4297680"/>
            <a:ext cx="3108600" cy="520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f172a"/>
                </a:solidFill>
                <a:latin typeface="Arial"/>
                <a:ea typeface="Arial"/>
              </a:rPr>
              <a:t>6. Evaluación y operación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4023360" y="4297680"/>
            <a:ext cx="7269120" cy="520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75569"/>
                </a:solidFill>
                <a:latin typeface="Arial"/>
                <a:ea typeface="Arial"/>
              </a:rPr>
              <a:t>Casos de prueba, métricas, fallback, trazabilidad y condición de escalamiento.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960120" y="5577840"/>
            <a:ext cx="10149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a580c"/>
                </a:solidFill>
                <a:latin typeface="Arial"/>
              </a:rPr>
              <a:t>Alto desempeño = coherencia completa entre problema, arquitectura, datos, controles y medición.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09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Ejemplo mínimo esperado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Modelo de respuesta breve para orientar el nivel de detalle.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777240" y="1371600"/>
            <a:ext cx="3840120" cy="502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Caso: agente interno de mesa de ayuda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77240" y="2057400"/>
            <a:ext cx="187416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Usuario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2788920" y="2057400"/>
            <a:ext cx="44802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Trabajador interno que reporta incidentes.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777240" y="2532960"/>
            <a:ext cx="1874160" cy="42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Input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2788920" y="2532960"/>
            <a:ext cx="4480200" cy="42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Descripción del problema o ticket.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777240" y="3008520"/>
            <a:ext cx="187416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Output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2788920" y="3008520"/>
            <a:ext cx="44802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Categoría, prioridad, plan sugerido y límite.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777240" y="3483720"/>
            <a:ext cx="1874160" cy="42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Patrón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2788920" y="3483720"/>
            <a:ext cx="4480200" cy="42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Agente controlado con tools simuladas.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777240" y="3959280"/>
            <a:ext cx="187416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Datos/tools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2788920" y="3959280"/>
            <a:ext cx="44802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Política de soporte, cálculo de prioridad, plan de acción.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777240" y="4434840"/>
            <a:ext cx="1874160" cy="42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Control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2788920" y="4434840"/>
            <a:ext cx="4480200" cy="42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Humano aprueba desbloqueos o acciones críticas.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777240" y="4910400"/>
            <a:ext cx="187416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Evaluación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2788920" y="4910400"/>
            <a:ext cx="4480200" cy="4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Normal, ambiguo y fuera de alcance.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7635240" y="1828800"/>
            <a:ext cx="3382920" cy="233136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f172a"/>
                </a:solidFill>
                <a:latin typeface="Arial"/>
                <a:ea typeface="Arial"/>
              </a:rPr>
              <a:t>Lo importante no es prometer automatización total, sino demostrar criterio: qué hace, qué no hace, con qué datos, con qué controles y cómo se evalúa.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7635240" y="4663440"/>
            <a:ext cx="3382920" cy="639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0f172a"/>
                </a:solidFill>
                <a:latin typeface="Arial"/>
                <a:ea typeface="Arial"/>
              </a:rPr>
              <a:t>Formato esperado: breve, claro, verificable y defendible.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02920" y="347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a580c"/>
                </a:solidFill>
                <a:latin typeface="Arial"/>
              </a:rPr>
              <a:t>10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1024200" y="25596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0f172a"/>
                </a:solidFill>
                <a:latin typeface="Arial"/>
              </a:rPr>
              <a:t>Cierre e instrucciones finales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1024200" y="71316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Usen el método aprendido, no una solución sobredimensionada.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502920" y="1143000"/>
            <a:ext cx="11155680" cy="360"/>
          </a:xfrm>
          <a:prstGeom prst="line">
            <a:avLst/>
          </a:prstGeom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731520" y="150876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731520" y="2148840"/>
            <a:ext cx="205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Elige un caso nuevo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640080" y="2743200"/>
            <a:ext cx="25142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Pequeño, realista y con usuario claro.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3611880" y="150876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3611880" y="2148840"/>
            <a:ext cx="205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Diseña la solución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3520440" y="2743200"/>
            <a:ext cx="25142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Problema, API/modelo, patrón, datos y controles.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6492240" y="150876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6492240" y="2148840"/>
            <a:ext cx="205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Evalúa el piloto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6400800" y="2743200"/>
            <a:ext cx="25142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Normal, ambiguo, fuera de alcance, métricas y fallback.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9372600" y="1508760"/>
            <a:ext cx="502560" cy="475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9372600" y="2148840"/>
            <a:ext cx="2057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Arial"/>
              </a:rPr>
              <a:t>Entrega en PDF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5"/>
          <p:cNvSpPr/>
          <p:nvPr/>
        </p:nvSpPr>
        <p:spPr>
          <a:xfrm>
            <a:off x="9281160" y="2743200"/>
            <a:ext cx="277884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0f172a"/>
                </a:solidFill>
                <a:latin typeface="Arial"/>
                <a:ea typeface="Arial"/>
              </a:rPr>
              <a:t>Enviar a bastiancampusanodev@gmail.com con el asunto indicado.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6"/>
          <p:cNvSpPr/>
          <p:nvPr/>
        </p:nvSpPr>
        <p:spPr>
          <a:xfrm>
            <a:off x="1005840" y="4800600"/>
            <a:ext cx="10149480" cy="868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rIns="1800" tIns="1800" bIns="180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Recordatorio final: una propuesta defendible conecta problema, datos, arquitectura, riesgos, evaluación y operación. Si no se puede explicar simple, todavía está demasiado grande.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  <Company>USACH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2026-05-24T23:06:40Z</dcterms:created>
  <dc:creator>Bastián Campusano</dc:creator>
  <dc:description/>
  <dc:language>es-ES</dc:language>
  <cp:lastModifiedBy/>
  <dcterms:modified xsi:type="dcterms:W3CDTF">2026-05-24T19:27:41Z</dcterms:modified>
  <cp:revision>2</cp:revision>
  <dc:subject>Clase 5 - Evaluación integradora Módulo 1</dc:subject>
  <dc:title>M1C5 Evaluación integradora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